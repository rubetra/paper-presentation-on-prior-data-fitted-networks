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376" r:id="rId2"/>
    <p:sldId id="295" r:id="rId3"/>
    <p:sldId id="333" r:id="rId4"/>
    <p:sldId id="384" r:id="rId5"/>
    <p:sldId id="342" r:id="rId6"/>
    <p:sldId id="356" r:id="rId7"/>
    <p:sldId id="336" r:id="rId8"/>
    <p:sldId id="397" r:id="rId9"/>
    <p:sldId id="341" r:id="rId10"/>
    <p:sldId id="303" r:id="rId11"/>
    <p:sldId id="385" r:id="rId12"/>
    <p:sldId id="386" r:id="rId13"/>
    <p:sldId id="392" r:id="rId14"/>
    <p:sldId id="387" r:id="rId15"/>
    <p:sldId id="395" r:id="rId16"/>
    <p:sldId id="287" r:id="rId17"/>
    <p:sldId id="263" r:id="rId18"/>
    <p:sldId id="374" r:id="rId19"/>
    <p:sldId id="315" r:id="rId20"/>
    <p:sldId id="346" r:id="rId21"/>
    <p:sldId id="363" r:id="rId22"/>
    <p:sldId id="348" r:id="rId23"/>
    <p:sldId id="318" r:id="rId24"/>
    <p:sldId id="352" r:id="rId25"/>
    <p:sldId id="322" r:id="rId26"/>
    <p:sldId id="355" r:id="rId27"/>
    <p:sldId id="308" r:id="rId28"/>
    <p:sldId id="373" r:id="rId29"/>
    <p:sldId id="377" r:id="rId30"/>
    <p:sldId id="319" r:id="rId31"/>
    <p:sldId id="309" r:id="rId32"/>
    <p:sldId id="372" r:id="rId33"/>
    <p:sldId id="378" r:id="rId34"/>
    <p:sldId id="380" r:id="rId35"/>
    <p:sldId id="339" r:id="rId36"/>
    <p:sldId id="323" r:id="rId37"/>
    <p:sldId id="394" r:id="rId38"/>
    <p:sldId id="349" r:id="rId39"/>
    <p:sldId id="359" r:id="rId40"/>
    <p:sldId id="364" r:id="rId41"/>
    <p:sldId id="365" r:id="rId42"/>
    <p:sldId id="275" r:id="rId4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EA7E"/>
    <a:srgbClr val="EBE1FD"/>
    <a:srgbClr val="D8B9FB"/>
    <a:srgbClr val="9C7FB8"/>
    <a:srgbClr val="FB9D00"/>
    <a:srgbClr val="26D6FF"/>
    <a:srgbClr val="FC6B65"/>
    <a:srgbClr val="FFFFFF"/>
    <a:srgbClr val="5787C0"/>
    <a:srgbClr val="F2C50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492" autoAdjust="0"/>
    <p:restoredTop sz="84468"/>
  </p:normalViewPr>
  <p:slideViewPr>
    <p:cSldViewPr snapToGrid="0" showGuides="1">
      <p:cViewPr varScale="1">
        <p:scale>
          <a:sx n="99" d="100"/>
          <a:sy n="99" d="100"/>
        </p:scale>
        <p:origin x="200" y="248"/>
      </p:cViewPr>
      <p:guideLst>
        <p:guide orient="horz" pos="2160"/>
        <p:guide pos="3840"/>
      </p:guideLst>
    </p:cSldViewPr>
  </p:slideViewPr>
  <p:notesTextViewPr>
    <p:cViewPr>
      <p:scale>
        <a:sx n="1" d="1"/>
        <a:sy n="1" d="1"/>
      </p:scale>
      <p:origin x="0" y="0"/>
    </p:cViewPr>
  </p:notesTextViewPr>
  <p:notesViewPr>
    <p:cSldViewPr snapToGrid="0" showGuides="1">
      <p:cViewPr varScale="1">
        <p:scale>
          <a:sx n="80" d="100"/>
          <a:sy n="80" d="100"/>
        </p:scale>
        <p:origin x="4176" y="45"/>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8AF70A90-CA7E-49EB-AB17-C37FEDD075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a:extLst>
              <a:ext uri="{FF2B5EF4-FFF2-40B4-BE49-F238E27FC236}">
                <a16:creationId xmlns:a16="http://schemas.microsoft.com/office/drawing/2014/main" id="{5A7711EA-1FBE-4E98-9D43-C2D65C45D0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8ABEA4-9216-4FDF-AAE1-D8632908A8EC}" type="datetimeFigureOut">
              <a:rPr lang="de-CH" smtClean="0"/>
              <a:t>25.04.26</a:t>
            </a:fld>
            <a:endParaRPr lang="de-CH"/>
          </a:p>
        </p:txBody>
      </p:sp>
      <p:sp>
        <p:nvSpPr>
          <p:cNvPr id="4" name="Fußzeilenplatzhalter 3">
            <a:extLst>
              <a:ext uri="{FF2B5EF4-FFF2-40B4-BE49-F238E27FC236}">
                <a16:creationId xmlns:a16="http://schemas.microsoft.com/office/drawing/2014/main" id="{82CCD3C8-8930-4E0E-A891-B770724F2B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a:extLst>
              <a:ext uri="{FF2B5EF4-FFF2-40B4-BE49-F238E27FC236}">
                <a16:creationId xmlns:a16="http://schemas.microsoft.com/office/drawing/2014/main" id="{A7798FB5-86BC-42DA-9D05-F96D484814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685DCD-866D-47AE-A236-118539F53379}" type="slidenum">
              <a:rPr lang="de-CH" smtClean="0"/>
              <a:t>‹#›</a:t>
            </a:fld>
            <a:endParaRPr lang="de-CH"/>
          </a:p>
        </p:txBody>
      </p:sp>
    </p:spTree>
    <p:extLst>
      <p:ext uri="{BB962C8B-B14F-4D97-AF65-F5344CB8AC3E}">
        <p14:creationId xmlns:p14="http://schemas.microsoft.com/office/powerpoint/2010/main" val="1423227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A90D-FE7E-41AF-B03D-808D82937CB9}" type="datetimeFigureOut">
              <a:rPr lang="de-CH" smtClean="0"/>
              <a:t>25.04.26</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15DDFD-030C-4D5A-B33E-3A7E7538D2BE}" type="slidenum">
              <a:rPr lang="de-CH" smtClean="0"/>
              <a:t>‹#›</a:t>
            </a:fld>
            <a:endParaRPr lang="de-CH"/>
          </a:p>
        </p:txBody>
      </p:sp>
    </p:spTree>
    <p:extLst>
      <p:ext uri="{BB962C8B-B14F-4D97-AF65-F5344CB8AC3E}">
        <p14:creationId xmlns:p14="http://schemas.microsoft.com/office/powerpoint/2010/main" val="44149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2C75A-DF4A-BB1E-EF80-E4DEFFD3F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67CD13-6398-95B8-36A6-FE33865E11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6579D9-6FE6-D156-8D2D-AD95F644A0C1}"/>
              </a:ext>
            </a:extLst>
          </p:cNvPr>
          <p:cNvSpPr>
            <a:spLocks noGrp="1"/>
          </p:cNvSpPr>
          <p:nvPr>
            <p:ph type="body" idx="1"/>
          </p:nvPr>
        </p:nvSpPr>
        <p:spPr/>
        <p:txBody>
          <a:bodyPr/>
          <a:lstStyle/>
          <a:p>
            <a:endParaRPr lang="en-CH"/>
          </a:p>
        </p:txBody>
      </p:sp>
      <p:sp>
        <p:nvSpPr>
          <p:cNvPr id="4" name="Slide Number Placeholder 3">
            <a:extLst>
              <a:ext uri="{FF2B5EF4-FFF2-40B4-BE49-F238E27FC236}">
                <a16:creationId xmlns:a16="http://schemas.microsoft.com/office/drawing/2014/main" id="{AEE87A83-F67D-0E0C-CEEC-51F0858083FF}"/>
              </a:ext>
            </a:extLst>
          </p:cNvPr>
          <p:cNvSpPr>
            <a:spLocks noGrp="1"/>
          </p:cNvSpPr>
          <p:nvPr>
            <p:ph type="sldNum" sz="quarter" idx="5"/>
          </p:nvPr>
        </p:nvSpPr>
        <p:spPr/>
        <p:txBody>
          <a:bodyPr/>
          <a:lstStyle/>
          <a:p>
            <a:fld id="{F615DDFD-030C-4D5A-B33E-3A7E7538D2BE}" type="slidenum">
              <a:rPr lang="de-CH" smtClean="0"/>
              <a:t>1</a:t>
            </a:fld>
            <a:endParaRPr lang="de-CH"/>
          </a:p>
        </p:txBody>
      </p:sp>
    </p:spTree>
    <p:extLst>
      <p:ext uri="{BB962C8B-B14F-4D97-AF65-F5344CB8AC3E}">
        <p14:creationId xmlns:p14="http://schemas.microsoft.com/office/powerpoint/2010/main" val="914436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F615DDFD-030C-4D5A-B33E-3A7E7538D2BE}" type="slidenum">
              <a:rPr lang="de-CH" smtClean="0"/>
              <a:t>2</a:t>
            </a:fld>
            <a:endParaRPr lang="de-CH"/>
          </a:p>
        </p:txBody>
      </p:sp>
    </p:spTree>
    <p:extLst>
      <p:ext uri="{BB962C8B-B14F-4D97-AF65-F5344CB8AC3E}">
        <p14:creationId xmlns:p14="http://schemas.microsoft.com/office/powerpoint/2010/main" val="614161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F615DDFD-030C-4D5A-B33E-3A7E7538D2BE}" type="slidenum">
              <a:rPr lang="de-CH" smtClean="0"/>
              <a:t>3</a:t>
            </a:fld>
            <a:endParaRPr lang="de-CH"/>
          </a:p>
        </p:txBody>
      </p:sp>
    </p:spTree>
    <p:extLst>
      <p:ext uri="{BB962C8B-B14F-4D97-AF65-F5344CB8AC3E}">
        <p14:creationId xmlns:p14="http://schemas.microsoft.com/office/powerpoint/2010/main" val="3570495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34C17-A870-770A-1AD7-683924A67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A12C31-EAFE-3C36-119C-B8DFF0AE6A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C5EDF7-9905-745C-3B13-A3ED39A101DF}"/>
              </a:ext>
            </a:extLst>
          </p:cNvPr>
          <p:cNvSpPr>
            <a:spLocks noGrp="1"/>
          </p:cNvSpPr>
          <p:nvPr>
            <p:ph type="body" idx="1"/>
          </p:nvPr>
        </p:nvSpPr>
        <p:spPr/>
        <p:txBody>
          <a:bodyPr/>
          <a:lstStyle/>
          <a:p>
            <a:pPr algn="l">
              <a:lnSpc>
                <a:spcPct val="150000"/>
              </a:lnSpc>
            </a:pPr>
            <a:r>
              <a:rPr lang="en-GB" sz="1200"/>
              <a:t>By learning </a:t>
            </a:r>
            <a:r>
              <a:rPr lang="en-GB" sz="1200" b="0"/>
              <a:t>how to play many </a:t>
            </a:r>
            <a:r>
              <a:rPr lang="en-GB" sz="1200"/>
              <a:t>instruments</a:t>
            </a:r>
          </a:p>
          <a:p>
            <a:pPr algn="l">
              <a:lnSpc>
                <a:spcPct val="150000"/>
              </a:lnSpc>
            </a:pPr>
            <a:r>
              <a:rPr lang="en-GB" sz="1200"/>
              <a:t>You learn how to learn any instrument</a:t>
            </a:r>
          </a:p>
          <a:p>
            <a:r>
              <a:rPr lang="en-GB"/>
              <a:t>.</a:t>
            </a:r>
          </a:p>
          <a:p>
            <a:endParaRPr lang="de-CH"/>
          </a:p>
          <a:p>
            <a:endParaRPr lang="de-CH"/>
          </a:p>
        </p:txBody>
      </p:sp>
      <p:sp>
        <p:nvSpPr>
          <p:cNvPr id="4" name="Slide Number Placeholder 3">
            <a:extLst>
              <a:ext uri="{FF2B5EF4-FFF2-40B4-BE49-F238E27FC236}">
                <a16:creationId xmlns:a16="http://schemas.microsoft.com/office/drawing/2014/main" id="{63B5ABE5-E3A6-A492-4E21-A48B83E5E6D4}"/>
              </a:ext>
            </a:extLst>
          </p:cNvPr>
          <p:cNvSpPr>
            <a:spLocks noGrp="1"/>
          </p:cNvSpPr>
          <p:nvPr>
            <p:ph type="sldNum" sz="quarter" idx="5"/>
          </p:nvPr>
        </p:nvSpPr>
        <p:spPr/>
        <p:txBody>
          <a:bodyPr/>
          <a:lstStyle/>
          <a:p>
            <a:fld id="{F615DDFD-030C-4D5A-B33E-3A7E7538D2BE}" type="slidenum">
              <a:rPr lang="de-CH" smtClean="0"/>
              <a:t>4</a:t>
            </a:fld>
            <a:endParaRPr lang="de-CH"/>
          </a:p>
        </p:txBody>
      </p:sp>
    </p:spTree>
    <p:extLst>
      <p:ext uri="{BB962C8B-B14F-4D97-AF65-F5344CB8AC3E}">
        <p14:creationId xmlns:p14="http://schemas.microsoft.com/office/powerpoint/2010/main" val="1892443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615DDFD-030C-4D5A-B33E-3A7E7538D2BE}" type="slidenum">
              <a:rPr lang="de-CH" smtClean="0"/>
              <a:t>5</a:t>
            </a:fld>
            <a:endParaRPr lang="de-CH"/>
          </a:p>
        </p:txBody>
      </p:sp>
    </p:spTree>
    <p:extLst>
      <p:ext uri="{BB962C8B-B14F-4D97-AF65-F5344CB8AC3E}">
        <p14:creationId xmlns:p14="http://schemas.microsoft.com/office/powerpoint/2010/main" val="2486678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a:sym typeface="Wingdings" pitchFamily="2" charset="2"/>
            </a:endParaRPr>
          </a:p>
          <a:p>
            <a:pPr marL="0" indent="0">
              <a:buFont typeface="Arial" panose="020B0604020202020204" pitchFamily="34" charset="0"/>
              <a:buNone/>
            </a:pPr>
            <a:r>
              <a:rPr lang="en-GB">
                <a:sym typeface="Wingdings" pitchFamily="2" charset="2"/>
              </a:rPr>
              <a:t>Bayesian methods have this uncertainty estimation naturally baked in</a:t>
            </a:r>
          </a:p>
          <a:p>
            <a:pPr marL="0" indent="0">
              <a:buFont typeface="Arial" panose="020B0604020202020204" pitchFamily="34" charset="0"/>
              <a:buNone/>
            </a:pPr>
            <a:endParaRPr lang="en-GB">
              <a:sym typeface="Wingdings" pitchFamily="2" charset="2"/>
            </a:endParaRPr>
          </a:p>
          <a:p>
            <a:pPr marL="0" indent="0">
              <a:buFont typeface="Arial" panose="020B0604020202020204" pitchFamily="34" charset="0"/>
              <a:buNone/>
            </a:pPr>
            <a:r>
              <a:rPr lang="en-GB">
                <a:sym typeface="Wingdings" pitchFamily="2" charset="2"/>
              </a:rPr>
              <a:t>BNNs treat the network weights as random variables</a:t>
            </a:r>
          </a:p>
          <a:p>
            <a:pPr marL="0" indent="0">
              <a:buFont typeface="Arial" panose="020B0604020202020204" pitchFamily="34" charset="0"/>
              <a:buNone/>
            </a:pPr>
            <a:r>
              <a:rPr lang="en-GB">
                <a:sym typeface="Wingdings" pitchFamily="2" charset="2"/>
              </a:rPr>
              <a:t>And this uncertainty in the weights gets propagated to the predictions</a:t>
            </a:r>
          </a:p>
          <a:p>
            <a:pPr marL="0" indent="0">
              <a:buFont typeface="Arial" panose="020B0604020202020204" pitchFamily="34" charset="0"/>
              <a:buNone/>
            </a:pPr>
            <a:endParaRPr lang="en-GB"/>
          </a:p>
          <a:p>
            <a:pPr marL="0" indent="0">
              <a:buFont typeface="Arial" panose="020B0604020202020204" pitchFamily="34" charset="0"/>
              <a:buNone/>
            </a:pPr>
            <a:r>
              <a:rPr lang="en-GB">
                <a:sym typeface="Wingdings" pitchFamily="2" charset="2"/>
              </a:rPr>
              <a:t>But: getting the posterior can be tricky</a:t>
            </a:r>
          </a:p>
          <a:p>
            <a:pPr marL="0" indent="0">
              <a:buFont typeface="Arial" panose="020B0604020202020204" pitchFamily="34" charset="0"/>
              <a:buNone/>
            </a:pPr>
            <a:r>
              <a:rPr lang="en-GB">
                <a:sym typeface="Wingdings" pitchFamily="2" charset="2"/>
              </a:rPr>
              <a:t>In the case of BNNs the true posterior is intractable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sym typeface="Wingdings" pitchFamily="2" charset="2"/>
              </a:rPr>
              <a:t>And approximating it is slow and expensive</a:t>
            </a:r>
          </a:p>
          <a:p>
            <a:pPr marL="0" indent="0">
              <a:buFont typeface="Arial" panose="020B0604020202020204" pitchFamily="34" charset="0"/>
              <a:buNone/>
            </a:pPr>
            <a:endParaRPr lang="en-GB">
              <a:sym typeface="Wingdings" pitchFamily="2" charset="2"/>
            </a:endParaRPr>
          </a:p>
          <a:p>
            <a:pPr marL="0" indent="0">
              <a:buFont typeface="Arial" panose="020B0604020202020204" pitchFamily="34" charset="0"/>
              <a:buNone/>
            </a:pPr>
            <a:endParaRPr lang="en-GB">
              <a:sym typeface="Wingdings" pitchFamily="2" charset="2"/>
            </a:endParaRPr>
          </a:p>
        </p:txBody>
      </p:sp>
      <p:sp>
        <p:nvSpPr>
          <p:cNvPr id="4" name="Slide Number Placeholder 3"/>
          <p:cNvSpPr>
            <a:spLocks noGrp="1"/>
          </p:cNvSpPr>
          <p:nvPr>
            <p:ph type="sldNum" sz="quarter" idx="5"/>
          </p:nvPr>
        </p:nvSpPr>
        <p:spPr/>
        <p:txBody>
          <a:bodyPr/>
          <a:lstStyle/>
          <a:p>
            <a:fld id="{F615DDFD-030C-4D5A-B33E-3A7E7538D2BE}" type="slidenum">
              <a:rPr lang="de-CH" smtClean="0"/>
              <a:t>6</a:t>
            </a:fld>
            <a:endParaRPr lang="de-CH"/>
          </a:p>
        </p:txBody>
      </p:sp>
    </p:spTree>
    <p:extLst>
      <p:ext uri="{BB962C8B-B14F-4D97-AF65-F5344CB8AC3E}">
        <p14:creationId xmlns:p14="http://schemas.microsoft.com/office/powerpoint/2010/main" val="18465675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CH" sz="1200" b="0"/>
          </a:p>
        </p:txBody>
      </p:sp>
      <p:sp>
        <p:nvSpPr>
          <p:cNvPr id="4" name="Slide Number Placeholder 3"/>
          <p:cNvSpPr>
            <a:spLocks noGrp="1"/>
          </p:cNvSpPr>
          <p:nvPr>
            <p:ph type="sldNum" sz="quarter" idx="5"/>
          </p:nvPr>
        </p:nvSpPr>
        <p:spPr/>
        <p:txBody>
          <a:bodyPr/>
          <a:lstStyle/>
          <a:p>
            <a:fld id="{F615DDFD-030C-4D5A-B33E-3A7E7538D2BE}" type="slidenum">
              <a:rPr lang="de-CH" smtClean="0"/>
              <a:t>7</a:t>
            </a:fld>
            <a:endParaRPr lang="de-CH"/>
          </a:p>
        </p:txBody>
      </p:sp>
    </p:spTree>
    <p:extLst>
      <p:ext uri="{BB962C8B-B14F-4D97-AF65-F5344CB8AC3E}">
        <p14:creationId xmlns:p14="http://schemas.microsoft.com/office/powerpoint/2010/main" val="836802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A7DA3-62D9-DD17-DA79-2FA2E4643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35922A-6709-526A-6F85-718BC7363A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536672-ED9D-1113-67DF-D3E29287E90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PFNs train on synthetic datasets sampled from a prior over supervised tasks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It sees many supervised learning problems of a certain kind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And it becomes a master at making good probabilistic predictions for these test points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After training, when the transformer sees a new dataset it can quickly adapt,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It learns in context from the available training 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And output a close approximation of the true PPD in just one forward pass, without any additional finetuning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b="1"/>
              <a:t>PFNs learn to approximate the PPD directly without touching the posterior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b="1"/>
              <a:t>PFNs </a:t>
            </a:r>
            <a:r>
              <a:rPr lang="en-GB" sz="1200" b="1"/>
              <a:t>leverage synthetic data as prior knowledge,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a:t>this allows them to perform well on small real-world data because they have learned to learn in context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a:p>
          <a:p>
            <a:br>
              <a:rPr lang="de-CH" b="1"/>
            </a:br>
            <a:br>
              <a:rPr lang="de-CH" b="1"/>
            </a:b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First, we define a prior over supervised learning tasks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This can be a prior over squiggly lines like a gaussian process that take an x as input and output a 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Or it can be a prior over whole bayesian neural network architectures as we’ll see later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So from this prior you would sample a function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And generate a dataset with with training points and test points coming from this function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And you do this millions of times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Then during pretraining, a transformer trains on millions of these synthetic datasets and estimates a PPD for the test 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So it optimizes the network parameters to output a PPD that gives high likelihood to the test values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And then once the transformer is pretrained, you can give it a new small dataset and it will output the PPD in a single forward pass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And the PPD will be very close to the true PPD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br>
              <a:rPr lang="en-GB" b="1"/>
            </a:br>
            <a:endParaRPr lang="en-GB" b="1"/>
          </a:p>
        </p:txBody>
      </p:sp>
      <p:sp>
        <p:nvSpPr>
          <p:cNvPr id="4" name="Slide Number Placeholder 3">
            <a:extLst>
              <a:ext uri="{FF2B5EF4-FFF2-40B4-BE49-F238E27FC236}">
                <a16:creationId xmlns:a16="http://schemas.microsoft.com/office/drawing/2014/main" id="{999FF527-A2E7-06B7-D6E9-9CECB1333FF9}"/>
              </a:ext>
            </a:extLst>
          </p:cNvPr>
          <p:cNvSpPr>
            <a:spLocks noGrp="1"/>
          </p:cNvSpPr>
          <p:nvPr>
            <p:ph type="sldNum" sz="quarter" idx="5"/>
          </p:nvPr>
        </p:nvSpPr>
        <p:spPr/>
        <p:txBody>
          <a:bodyPr/>
          <a:lstStyle/>
          <a:p>
            <a:fld id="{F615DDFD-030C-4D5A-B33E-3A7E7538D2BE}" type="slidenum">
              <a:rPr lang="de-CH" smtClean="0"/>
              <a:t>8</a:t>
            </a:fld>
            <a:endParaRPr lang="de-CH"/>
          </a:p>
        </p:txBody>
      </p:sp>
    </p:spTree>
    <p:extLst>
      <p:ext uri="{BB962C8B-B14F-4D97-AF65-F5344CB8AC3E}">
        <p14:creationId xmlns:p14="http://schemas.microsoft.com/office/powerpoint/2010/main" val="1874320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There exist some related methods like</a:t>
            </a:r>
          </a:p>
          <a:p>
            <a:r>
              <a:rPr lang="en-GB"/>
              <a:t>Neural Posterior Estimation and ANP</a:t>
            </a:r>
          </a:p>
          <a:p>
            <a:endParaRPr lang="en-GB"/>
          </a:p>
          <a:p>
            <a:r>
              <a:rPr lang="en-GB"/>
              <a:t>But none of these learn to do Bayesian Inference by directly approximating the PPD, without latent variables or posteriors or ELBO objectives</a:t>
            </a:r>
          </a:p>
          <a:p>
            <a:endParaRPr lang="en-GB"/>
          </a:p>
          <a:p>
            <a:endParaRPr lang="en-GB"/>
          </a:p>
          <a:p>
            <a:endParaRPr lang="en-GB"/>
          </a:p>
          <a:p>
            <a:endParaRPr lang="en-GB"/>
          </a:p>
          <a:p>
            <a:r>
              <a:rPr lang="en-GB" sz="1200" b="0" i="0" kern="1200">
                <a:solidFill>
                  <a:schemeClr val="tx1"/>
                </a:solidFill>
                <a:effectLst/>
                <a:latin typeface="+mn-lt"/>
                <a:ea typeface="+mn-ea"/>
                <a:cs typeface="+mn-cs"/>
              </a:rPr>
              <a:t>Simulation-Based Inference (SBI) </a:t>
            </a:r>
          </a:p>
          <a:p>
            <a:r>
              <a:rPr lang="en-GB"/>
              <a:t>for estimating parameters of complex models, </a:t>
            </a:r>
          </a:p>
          <a:p>
            <a:r>
              <a:rPr lang="en-GB"/>
              <a:t>when the likelihood function is unknown or too difficult to compute, but generating data from the model (simulating) is possible</a:t>
            </a:r>
            <a:r>
              <a:rPr lang="en-GB" sz="1200" b="0" i="0" kern="1200">
                <a:solidFill>
                  <a:schemeClr val="tx1"/>
                </a:solidFill>
                <a:effectLst/>
                <a:latin typeface="+mn-lt"/>
                <a:ea typeface="+mn-ea"/>
                <a:cs typeface="+mn-cs"/>
              </a:rPr>
              <a:t>.</a:t>
            </a:r>
            <a:endParaRPr lang="en-GB"/>
          </a:p>
          <a:p>
            <a:endParaRPr lang="en-GB"/>
          </a:p>
          <a:p>
            <a:endParaRPr lang="en-GB"/>
          </a:p>
          <a:p>
            <a:endParaRPr lang="en-GB"/>
          </a:p>
          <a:p>
            <a:endParaRPr lang="en-GB"/>
          </a:p>
          <a:p>
            <a:endParaRPr lang="en-CH"/>
          </a:p>
        </p:txBody>
      </p:sp>
      <p:sp>
        <p:nvSpPr>
          <p:cNvPr id="4" name="Slide Number Placeholder 3"/>
          <p:cNvSpPr>
            <a:spLocks noGrp="1"/>
          </p:cNvSpPr>
          <p:nvPr>
            <p:ph type="sldNum" sz="quarter" idx="5"/>
          </p:nvPr>
        </p:nvSpPr>
        <p:spPr/>
        <p:txBody>
          <a:bodyPr/>
          <a:lstStyle/>
          <a:p>
            <a:fld id="{F615DDFD-030C-4D5A-B33E-3A7E7538D2BE}" type="slidenum">
              <a:rPr lang="de-CH" smtClean="0"/>
              <a:t>9</a:t>
            </a:fld>
            <a:endParaRPr lang="de-CH"/>
          </a:p>
        </p:txBody>
      </p:sp>
    </p:spTree>
    <p:extLst>
      <p:ext uri="{BB962C8B-B14F-4D97-AF65-F5344CB8AC3E}">
        <p14:creationId xmlns:p14="http://schemas.microsoft.com/office/powerpoint/2010/main" val="826633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3F8A8-9496-C401-D884-EB90615C7C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80A51-0224-F7D1-F4F8-C4442A041D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166AD1-EB97-E02B-FB1D-FC7B92F30F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b="1"/>
          </a:p>
        </p:txBody>
      </p:sp>
      <p:sp>
        <p:nvSpPr>
          <p:cNvPr id="4" name="Slide Number Placeholder 3">
            <a:extLst>
              <a:ext uri="{FF2B5EF4-FFF2-40B4-BE49-F238E27FC236}">
                <a16:creationId xmlns:a16="http://schemas.microsoft.com/office/drawing/2014/main" id="{52C76CCA-5457-EC33-6FA6-D20651E8AFA4}"/>
              </a:ext>
            </a:extLst>
          </p:cNvPr>
          <p:cNvSpPr>
            <a:spLocks noGrp="1"/>
          </p:cNvSpPr>
          <p:nvPr>
            <p:ph type="sldNum" sz="quarter" idx="5"/>
          </p:nvPr>
        </p:nvSpPr>
        <p:spPr/>
        <p:txBody>
          <a:bodyPr/>
          <a:lstStyle/>
          <a:p>
            <a:fld id="{F615DDFD-030C-4D5A-B33E-3A7E7538D2BE}" type="slidenum">
              <a:rPr lang="de-CH" smtClean="0"/>
              <a:t>11</a:t>
            </a:fld>
            <a:endParaRPr lang="de-CH"/>
          </a:p>
        </p:txBody>
      </p:sp>
    </p:spTree>
    <p:extLst>
      <p:ext uri="{BB962C8B-B14F-4D97-AF65-F5344CB8AC3E}">
        <p14:creationId xmlns:p14="http://schemas.microsoft.com/office/powerpoint/2010/main" val="3845828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09B3F-5CFA-3526-828F-57632B0126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47956F-6923-DDD4-036E-128153515A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6BCBB9-749A-209F-C24B-7611723CAE7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First, we define a prior over supervised learning tasks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This can a prior over any data-generating functions, so for example just a squiggly line like a gaussian process that takes an x as input and outputs a 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Or it can be a prior over whole bayesian neural network architectures, where you sample the number of layers and nodes, and the weights, and then you input an x and it outputs a 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So from this prior over data-generating function family you would sample a function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And then acquire a synthetic dataset from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And you do this millions of times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In each dataset you reserve some data points as a hold-out test set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Then during pretraining, a transformer trains on millions of these synthetic datasets and learns to approximate the PPD directly without touching the posterior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Once the transformer is pretrained, you can give it a new small dataset from the real world and it will output the PPD in a single forward pass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And the PPD will be very close to the ground truth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b="0"/>
              <a:t>The powerful thing about PFNs is that they </a:t>
            </a:r>
            <a:r>
              <a:rPr lang="en-GB" sz="1200" b="0"/>
              <a:t>leverage synthetic data as prior knowledge,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a:t>which allows them to perform well on small real-world data because they have learned to learn in context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a:p>
          <a:p>
            <a:r>
              <a:rPr lang="en-GB" sz="1200" b="0"/>
              <a:t>And no expensive training or tuning is necessary at the inference stage</a:t>
            </a:r>
            <a:br>
              <a:rPr lang="de-CH" b="0"/>
            </a:br>
            <a:br>
              <a:rPr lang="de-CH" b="0"/>
            </a:br>
            <a:br>
              <a:rPr lang="en-GB" b="1"/>
            </a:br>
            <a:endParaRPr lang="en-GB" b="1"/>
          </a:p>
        </p:txBody>
      </p:sp>
      <p:sp>
        <p:nvSpPr>
          <p:cNvPr id="4" name="Slide Number Placeholder 3">
            <a:extLst>
              <a:ext uri="{FF2B5EF4-FFF2-40B4-BE49-F238E27FC236}">
                <a16:creationId xmlns:a16="http://schemas.microsoft.com/office/drawing/2014/main" id="{467DA080-9312-65CE-0C57-12C38ECF1292}"/>
              </a:ext>
            </a:extLst>
          </p:cNvPr>
          <p:cNvSpPr>
            <a:spLocks noGrp="1"/>
          </p:cNvSpPr>
          <p:nvPr>
            <p:ph type="sldNum" sz="quarter" idx="5"/>
          </p:nvPr>
        </p:nvSpPr>
        <p:spPr/>
        <p:txBody>
          <a:bodyPr/>
          <a:lstStyle/>
          <a:p>
            <a:fld id="{F615DDFD-030C-4D5A-B33E-3A7E7538D2BE}" type="slidenum">
              <a:rPr lang="de-CH" smtClean="0"/>
              <a:t>12</a:t>
            </a:fld>
            <a:endParaRPr lang="de-CH"/>
          </a:p>
        </p:txBody>
      </p:sp>
    </p:spTree>
    <p:extLst>
      <p:ext uri="{BB962C8B-B14F-4D97-AF65-F5344CB8AC3E}">
        <p14:creationId xmlns:p14="http://schemas.microsoft.com/office/powerpoint/2010/main" val="777572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01050-0E0A-BD73-F1FF-74B94B5E7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F8CE7B-7AD2-8DBA-6BBB-4A89BACA6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DF3B24-6C5C-02CE-356A-EEC447F857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b="1"/>
          </a:p>
        </p:txBody>
      </p:sp>
      <p:sp>
        <p:nvSpPr>
          <p:cNvPr id="4" name="Slide Number Placeholder 3">
            <a:extLst>
              <a:ext uri="{FF2B5EF4-FFF2-40B4-BE49-F238E27FC236}">
                <a16:creationId xmlns:a16="http://schemas.microsoft.com/office/drawing/2014/main" id="{67F5256C-5BDF-3438-479A-31893840870C}"/>
              </a:ext>
            </a:extLst>
          </p:cNvPr>
          <p:cNvSpPr>
            <a:spLocks noGrp="1"/>
          </p:cNvSpPr>
          <p:nvPr>
            <p:ph type="sldNum" sz="quarter" idx="5"/>
          </p:nvPr>
        </p:nvSpPr>
        <p:spPr/>
        <p:txBody>
          <a:bodyPr/>
          <a:lstStyle/>
          <a:p>
            <a:fld id="{F615DDFD-030C-4D5A-B33E-3A7E7538D2BE}" type="slidenum">
              <a:rPr lang="de-CH" smtClean="0"/>
              <a:t>13</a:t>
            </a:fld>
            <a:endParaRPr lang="de-CH"/>
          </a:p>
        </p:txBody>
      </p:sp>
    </p:spTree>
    <p:extLst>
      <p:ext uri="{BB962C8B-B14F-4D97-AF65-F5344CB8AC3E}">
        <p14:creationId xmlns:p14="http://schemas.microsoft.com/office/powerpoint/2010/main" val="35354974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91B7A-16F9-8E88-B7F3-B9B3C4B945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A8E054-E6C9-246F-7697-AB50F229B8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4A9877-80A4-6EC9-59A3-C388A911D2F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b="1"/>
          </a:p>
        </p:txBody>
      </p:sp>
      <p:sp>
        <p:nvSpPr>
          <p:cNvPr id="4" name="Slide Number Placeholder 3">
            <a:extLst>
              <a:ext uri="{FF2B5EF4-FFF2-40B4-BE49-F238E27FC236}">
                <a16:creationId xmlns:a16="http://schemas.microsoft.com/office/drawing/2014/main" id="{9B1BCA36-A874-FB11-1729-26BC97CBC605}"/>
              </a:ext>
            </a:extLst>
          </p:cNvPr>
          <p:cNvSpPr>
            <a:spLocks noGrp="1"/>
          </p:cNvSpPr>
          <p:nvPr>
            <p:ph type="sldNum" sz="quarter" idx="5"/>
          </p:nvPr>
        </p:nvSpPr>
        <p:spPr/>
        <p:txBody>
          <a:bodyPr/>
          <a:lstStyle/>
          <a:p>
            <a:fld id="{F615DDFD-030C-4D5A-B33E-3A7E7538D2BE}" type="slidenum">
              <a:rPr lang="de-CH" smtClean="0"/>
              <a:t>14</a:t>
            </a:fld>
            <a:endParaRPr lang="de-CH"/>
          </a:p>
        </p:txBody>
      </p:sp>
    </p:spTree>
    <p:extLst>
      <p:ext uri="{BB962C8B-B14F-4D97-AF65-F5344CB8AC3E}">
        <p14:creationId xmlns:p14="http://schemas.microsoft.com/office/powerpoint/2010/main" val="3349772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DCB28-BC1F-D81D-68AD-39BD4DD7E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06F077-5D88-9EA2-1BD3-498CDB5D11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D5EC73-9D11-D77B-D5C1-527BEF17015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b="1"/>
          </a:p>
        </p:txBody>
      </p:sp>
      <p:sp>
        <p:nvSpPr>
          <p:cNvPr id="4" name="Slide Number Placeholder 3">
            <a:extLst>
              <a:ext uri="{FF2B5EF4-FFF2-40B4-BE49-F238E27FC236}">
                <a16:creationId xmlns:a16="http://schemas.microsoft.com/office/drawing/2014/main" id="{D83992E7-4691-B034-BDEB-1EBA7355B078}"/>
              </a:ext>
            </a:extLst>
          </p:cNvPr>
          <p:cNvSpPr>
            <a:spLocks noGrp="1"/>
          </p:cNvSpPr>
          <p:nvPr>
            <p:ph type="sldNum" sz="quarter" idx="5"/>
          </p:nvPr>
        </p:nvSpPr>
        <p:spPr/>
        <p:txBody>
          <a:bodyPr/>
          <a:lstStyle/>
          <a:p>
            <a:fld id="{F615DDFD-030C-4D5A-B33E-3A7E7538D2BE}" type="slidenum">
              <a:rPr lang="de-CH" smtClean="0"/>
              <a:t>15</a:t>
            </a:fld>
            <a:endParaRPr lang="de-CH"/>
          </a:p>
        </p:txBody>
      </p:sp>
    </p:spTree>
    <p:extLst>
      <p:ext uri="{BB962C8B-B14F-4D97-AF65-F5344CB8AC3E}">
        <p14:creationId xmlns:p14="http://schemas.microsoft.com/office/powerpoint/2010/main" val="20402089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F615DDFD-030C-4D5A-B33E-3A7E7538D2BE}" type="slidenum">
              <a:rPr lang="de-CH" smtClean="0"/>
              <a:t>16</a:t>
            </a:fld>
            <a:endParaRPr lang="de-CH"/>
          </a:p>
        </p:txBody>
      </p:sp>
    </p:spTree>
    <p:extLst>
      <p:ext uri="{BB962C8B-B14F-4D97-AF65-F5344CB8AC3E}">
        <p14:creationId xmlns:p14="http://schemas.microsoft.com/office/powerpoint/2010/main" val="2868311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The transformer needs a few modifications compared to a standard transformer</a:t>
            </a:r>
          </a:p>
          <a:p>
            <a:endParaRPr lang="en-CH"/>
          </a:p>
          <a:p>
            <a:r>
              <a:rPr lang="en-CH"/>
              <a:t>Remove the positional encodigns to achieve permutaiton invariacne, because the order of the data points in the training dataset shouldn’t matter</a:t>
            </a:r>
          </a:p>
          <a:p>
            <a:endParaRPr lang="en-CH"/>
          </a:p>
          <a:p>
            <a:r>
              <a:rPr lang="en-CH"/>
              <a:t>We also need to restrict the attention mechanism</a:t>
            </a:r>
          </a:p>
          <a:p>
            <a:r>
              <a:rPr lang="en-GB"/>
              <a:t>Training points can attend to all training points, but not test points</a:t>
            </a:r>
          </a:p>
          <a:p>
            <a:r>
              <a:rPr lang="en-GB"/>
              <a:t>And test points can only to training points. </a:t>
            </a:r>
          </a:p>
          <a:p>
            <a:r>
              <a:rPr lang="en-GB"/>
              <a:t>This prevents data leakage. </a:t>
            </a:r>
          </a:p>
          <a:p>
            <a:endParaRPr lang="en-GB"/>
          </a:p>
          <a:p>
            <a:r>
              <a:rPr lang="en-GB"/>
              <a:t>Lastly, we use variable train-test splits during training so the model learns to handle different dataset sizes.</a:t>
            </a:r>
            <a:endParaRPr lang="en-CH"/>
          </a:p>
          <a:p>
            <a:endParaRPr lang="en-CH"/>
          </a:p>
        </p:txBody>
      </p:sp>
      <p:sp>
        <p:nvSpPr>
          <p:cNvPr id="4" name="Slide Number Placeholder 3"/>
          <p:cNvSpPr>
            <a:spLocks noGrp="1"/>
          </p:cNvSpPr>
          <p:nvPr>
            <p:ph type="sldNum" sz="quarter" idx="5"/>
          </p:nvPr>
        </p:nvSpPr>
        <p:spPr/>
        <p:txBody>
          <a:bodyPr/>
          <a:lstStyle/>
          <a:p>
            <a:fld id="{F615DDFD-030C-4D5A-B33E-3A7E7538D2BE}" type="slidenum">
              <a:rPr lang="de-CH" smtClean="0"/>
              <a:t>17</a:t>
            </a:fld>
            <a:endParaRPr lang="de-CH"/>
          </a:p>
        </p:txBody>
      </p:sp>
    </p:spTree>
    <p:extLst>
      <p:ext uri="{BB962C8B-B14F-4D97-AF65-F5344CB8AC3E}">
        <p14:creationId xmlns:p14="http://schemas.microsoft.com/office/powerpoint/2010/main" val="17706168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D80B8-6AA4-5D5F-60A9-14613B7998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675170-ED95-7FBA-AEE8-59341DAB5B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528EE7-6A43-87BA-20C7-53622EA7D80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For regression, they introduce a novel output distribution which they call the Riemann Distribution.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The key idea is to turn regression into a classification problem, because that’s what neural networks tend to be very good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Instead of a smooth PPD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The output space gets discretized into bins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The bin boundaries are chosen such that the bins have equal probability mass under the prior.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For unbounded support, the first and last bin have half-normal distributions.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CH"/>
              <a:t>Ablation studies in the paper show that using this Riemann Distribution </a:t>
            </a:r>
            <a:r>
              <a:rPr lang="en-GB"/>
              <a:t>has high impact on performance</a:t>
            </a:r>
            <a:endParaRPr lang="de-CH"/>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Riemann distribution can approximate any distribution arbitrarily well</a:t>
            </a:r>
          </a:p>
          <a:p>
            <a:endParaRPr lang="en-CH"/>
          </a:p>
        </p:txBody>
      </p:sp>
      <p:sp>
        <p:nvSpPr>
          <p:cNvPr id="4" name="Slide Number Placeholder 3">
            <a:extLst>
              <a:ext uri="{FF2B5EF4-FFF2-40B4-BE49-F238E27FC236}">
                <a16:creationId xmlns:a16="http://schemas.microsoft.com/office/drawing/2014/main" id="{7FD0B790-61CE-20F1-3A8C-E05CD57616EC}"/>
              </a:ext>
            </a:extLst>
          </p:cNvPr>
          <p:cNvSpPr>
            <a:spLocks noGrp="1"/>
          </p:cNvSpPr>
          <p:nvPr>
            <p:ph type="sldNum" sz="quarter" idx="5"/>
          </p:nvPr>
        </p:nvSpPr>
        <p:spPr/>
        <p:txBody>
          <a:bodyPr/>
          <a:lstStyle/>
          <a:p>
            <a:fld id="{F615DDFD-030C-4D5A-B33E-3A7E7538D2BE}" type="slidenum">
              <a:rPr lang="de-CH" smtClean="0"/>
              <a:t>18</a:t>
            </a:fld>
            <a:endParaRPr lang="de-CH"/>
          </a:p>
        </p:txBody>
      </p:sp>
    </p:spTree>
    <p:extLst>
      <p:ext uri="{BB962C8B-B14F-4D97-AF65-F5344CB8AC3E}">
        <p14:creationId xmlns:p14="http://schemas.microsoft.com/office/powerpoint/2010/main" val="32135001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F615DDFD-030C-4D5A-B33E-3A7E7538D2BE}" type="slidenum">
              <a:rPr lang="de-CH" smtClean="0"/>
              <a:t>20</a:t>
            </a:fld>
            <a:endParaRPr lang="de-CH"/>
          </a:p>
        </p:txBody>
      </p:sp>
    </p:spTree>
    <p:extLst>
      <p:ext uri="{BB962C8B-B14F-4D97-AF65-F5344CB8AC3E}">
        <p14:creationId xmlns:p14="http://schemas.microsoft.com/office/powerpoint/2010/main" val="23123062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F615DDFD-030C-4D5A-B33E-3A7E7538D2BE}" type="slidenum">
              <a:rPr lang="de-CH" smtClean="0"/>
              <a:t>21</a:t>
            </a:fld>
            <a:endParaRPr lang="de-CH"/>
          </a:p>
        </p:txBody>
      </p:sp>
    </p:spTree>
    <p:extLst>
      <p:ext uri="{BB962C8B-B14F-4D97-AF65-F5344CB8AC3E}">
        <p14:creationId xmlns:p14="http://schemas.microsoft.com/office/powerpoint/2010/main" val="12379427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CH"/>
              </a:p>
            </p:txBody>
          </p:sp>
        </mc:Choice>
        <mc:Fallback xmlns="">
          <p:sp>
            <p:nvSpPr>
              <p:cNvPr id="3" name="Notes Placeholder 2"/>
              <p:cNvSpPr>
                <a:spLocks noGrp="1"/>
              </p:cNvSpPr>
              <p:nvPr>
                <p:ph type="body" idx="1"/>
              </p:nvPr>
            </p:nvSpPr>
            <p:spPr/>
            <p:txBody>
              <a:bodyPr/>
              <a:lstStyle/>
              <a:p>
                <a:r>
                  <a:rPr lang="en-GB"/>
                  <a:t>The optimization objective is: </a:t>
                </a:r>
              </a:p>
              <a:p>
                <a:r>
                  <a:rPr lang="ar-AE" sz="1200" i="0" kern="1200">
                    <a:solidFill>
                      <a:schemeClr val="tx1"/>
                    </a:solidFill>
                    <a:latin typeface="+mn-lt"/>
                    <a:ea typeface="+mn-ea"/>
                    <a:cs typeface="+mn-cs"/>
                  </a:rPr>
                  <a:t>ℓ_𝜃=𝔼_(𝐷∪{𝑥ⓜ,𝑦}∼𝑝(𝐷) ) [−</a:t>
                </a:r>
                <a:r>
                  <a:rPr lang="en-GB" sz="1200" i="0" kern="1200">
                    <a:solidFill>
                      <a:schemeClr val="tx1"/>
                    </a:solidFill>
                    <a:latin typeface="+mn-lt"/>
                    <a:ea typeface="+mn-ea"/>
                    <a:cs typeface="+mn-cs"/>
                  </a:rPr>
                  <a:t>log</a:t>
                </a:r>
                <a:r>
                  <a:rPr lang="ar-AE" sz="1200" i="0" kern="1200">
                    <a:solidFill>
                      <a:schemeClr val="tx1"/>
                    </a:solidFill>
                    <a:latin typeface="+mn-lt"/>
                    <a:ea typeface="+mn-ea"/>
                    <a:cs typeface="+mn-cs"/>
                  </a:rPr>
                  <a:t>⁡〖𝑞_𝜃 〗 (𝑦ⓜ,∣𝑥𝐷)]</a:t>
                </a:r>
                <a:endParaRPr lang="ar-AE"/>
              </a:p>
              <a:p>
                <a:r>
                  <a:rPr lang="en-GB"/>
                  <a:t>Since </a:t>
                </a:r>
                <a:r>
                  <a:rPr lang="en-GB" sz="1200" i="0" kern="1200">
                    <a:solidFill>
                      <a:schemeClr val="tx1"/>
                    </a:solidFill>
                    <a:latin typeface="+mn-lt"/>
                    <a:ea typeface="+mn-ea"/>
                    <a:cs typeface="+mn-cs"/>
                  </a:rPr>
                  <a:t>𝐷</a:t>
                </a:r>
                <a:r>
                  <a:rPr lang="en-GB"/>
                  <a:t>is sampled fresh each time: </a:t>
                </a:r>
              </a:p>
              <a:p>
                <a:r>
                  <a:rPr lang="en-GB" b="1"/>
                  <a:t>Training loss</a:t>
                </a:r>
                <a:r>
                  <a:rPr lang="en-GB"/>
                  <a:t> = how well you approximate the true posterior on </a:t>
                </a:r>
                <a:r>
                  <a:rPr lang="en-GB" i="1"/>
                  <a:t>new</a:t>
                </a:r>
                <a:r>
                  <a:rPr lang="en-GB"/>
                  <a:t> data from the prior</a:t>
                </a:r>
              </a:p>
              <a:p>
                <a:r>
                  <a:rPr lang="en-GB" b="1"/>
                  <a:t>Test loss</a:t>
                </a:r>
                <a:r>
                  <a:rPr lang="en-GB"/>
                  <a:t> = how well you approximate the true posterior on </a:t>
                </a:r>
                <a:r>
                  <a:rPr lang="en-GB" i="1"/>
                  <a:t>new</a:t>
                </a:r>
                <a:r>
                  <a:rPr lang="en-GB"/>
                  <a:t> data from the prior</a:t>
                </a:r>
              </a:p>
              <a:p>
                <a:r>
                  <a:rPr lang="en-GB"/>
                  <a:t>These are measuring the </a:t>
                </a:r>
                <a:r>
                  <a:rPr lang="en-GB" b="1"/>
                  <a:t>same thing</a:t>
                </a:r>
                <a:r>
                  <a:rPr lang="en-GB"/>
                  <a:t>!</a:t>
                </a:r>
              </a:p>
              <a:p>
                <a:endParaRPr lang="en-CH"/>
              </a:p>
            </p:txBody>
          </p:sp>
        </mc:Fallback>
      </mc:AlternateContent>
      <p:sp>
        <p:nvSpPr>
          <p:cNvPr id="4" name="Slide Number Placeholder 3"/>
          <p:cNvSpPr>
            <a:spLocks noGrp="1"/>
          </p:cNvSpPr>
          <p:nvPr>
            <p:ph type="sldNum" sz="quarter" idx="5"/>
          </p:nvPr>
        </p:nvSpPr>
        <p:spPr/>
        <p:txBody>
          <a:bodyPr/>
          <a:lstStyle/>
          <a:p>
            <a:fld id="{F615DDFD-030C-4D5A-B33E-3A7E7538D2BE}" type="slidenum">
              <a:rPr lang="de-CH" smtClean="0"/>
              <a:t>22</a:t>
            </a:fld>
            <a:endParaRPr lang="de-CH"/>
          </a:p>
        </p:txBody>
      </p:sp>
    </p:spTree>
    <p:extLst>
      <p:ext uri="{BB962C8B-B14F-4D97-AF65-F5344CB8AC3E}">
        <p14:creationId xmlns:p14="http://schemas.microsoft.com/office/powerpoint/2010/main" val="38599188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buNone/>
                </a:pPr>
                <a:r>
                  <a:rPr lang="de-CH"/>
                  <a:t>iid is contraint, but works well with real data regardless</a:t>
                </a:r>
              </a:p>
              <a:p>
                <a:pPr marL="0" indent="0">
                  <a:buNone/>
                </a:pPr>
                <a:r>
                  <a:rPr lang="de-CH"/>
                  <a:t>Binarize: Set top 50% of logits to class 1, and the rest to class 0</a:t>
                </a:r>
              </a:p>
              <a:p>
                <a:pPr marL="0" indent="0">
                  <a:buNone/>
                </a:pPr>
                <a:endParaRPr lang="de-CH"/>
              </a:p>
              <a:p>
                <a:pPr marL="0" indent="0">
                  <a:buNone/>
                </a:pPr>
                <a:endParaRPr lang="de-CH"/>
              </a:p>
              <a:p>
                <a:pPr marL="0" indent="0">
                  <a:buNone/>
                </a:pPr>
                <a:r>
                  <a:rPr lang="de-CH"/>
                  <a:t>Sample a neural network architecture:</a:t>
                </a:r>
              </a:p>
              <a:p>
                <a:pPr marL="285750" indent="-285750">
                  <a:buFont typeface="Arial" panose="020B0604020202020204" pitchFamily="34" charset="0"/>
                  <a:buChar char="•"/>
                </a:pPr>
                <a:r>
                  <a:rPr lang="de-CH"/>
                  <a:t>Number of layers and nodes</a:t>
                </a:r>
              </a:p>
              <a:p>
                <a:pPr marL="285750" indent="-285750">
                  <a:buFont typeface="Arial" panose="020B0604020202020204" pitchFamily="34" charset="0"/>
                  <a:buChar char="•"/>
                </a:pPr>
                <a:r>
                  <a:rPr lang="de-CH"/>
                  <a:t>Weights</a:t>
                </a:r>
              </a:p>
              <a:p>
                <a:pPr marL="285750" indent="-285750">
                  <a:buFont typeface="Arial" panose="020B0604020202020204" pitchFamily="34" charset="0"/>
                  <a:buChar char="•"/>
                </a:pPr>
                <a:r>
                  <a:rPr lang="de-CH"/>
                  <a:t>Activation functions</a:t>
                </a:r>
                <a:br>
                  <a:rPr lang="de-CH"/>
                </a:br>
                <a:br>
                  <a:rPr lang="de-CH"/>
                </a:br>
                <a:endParaRPr lang="de-CH"/>
              </a:p>
              <a:p>
                <a:pPr marL="0" indent="0">
                  <a:buNone/>
                </a:pPr>
                <a:r>
                  <a:rPr lang="de-CH"/>
                  <a:t>Sample a dataset for the given network:</a:t>
                </a:r>
              </a:p>
              <a:p>
                <a:pPr marL="285750" indent="-285750">
                  <a:buFont typeface="Arial" panose="020B0604020202020204" pitchFamily="34" charset="0"/>
                  <a:buChar char="•"/>
                </a:pPr>
                <a:r>
                  <a:rPr lang="de-CH"/>
                  <a:t>Number of features</a:t>
                </a:r>
              </a:p>
              <a:p>
                <a:pPr marL="285750" indent="-285750">
                  <a:buFont typeface="Arial" panose="020B0604020202020204" pitchFamily="34" charset="0"/>
                  <a:buChar char="•"/>
                </a:pPr>
                <a:r>
                  <a:rPr lang="de-CH"/>
                  <a:t>Feature values</a:t>
                </a:r>
              </a:p>
              <a:p>
                <a:pPr marL="285750" indent="-285750">
                  <a:buFont typeface="Arial" panose="020B0604020202020204" pitchFamily="34" charset="0"/>
                  <a:buChar char="•"/>
                </a:pPr>
                <a:r>
                  <a:rPr lang="de-CH"/>
                  <a:t>Forward-prop to get response values (logits)</a:t>
                </a:r>
              </a:p>
              <a:p>
                <a:pPr marL="285750" indent="-285750">
                  <a:buFont typeface="Arial" panose="020B0604020202020204" pitchFamily="34" charset="0"/>
                  <a:buChar char="•"/>
                </a:pPr>
                <a:r>
                  <a:rPr lang="de-CH"/>
                  <a:t>Binarize to get classes</a:t>
                </a:r>
                <a:endParaRPr lang="en-CH"/>
              </a:p>
              <a:p>
                <a:endParaRPr lang="en-GB"/>
              </a:p>
              <a:p>
                <a:endParaRPr lang="en-GB"/>
              </a:p>
              <a:p>
                <a:r>
                  <a:rPr lang="en-GB"/>
                  <a:t>By defining a prior probability over the space of model architectures, we remove the need for finding an optimal neural architecture and instead jointly integrate over the space of architectures and their respective weights in a single Bayesian inference</a:t>
                </a:r>
              </a:p>
              <a:p>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While all baseline models need cross-validation to find suitable hyperparameters, the PFNs naturally consider a distribution of hyperparameters and integrate cross-validation and training within the model's Bayesian inference step.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indent="0">
                  <a:buNone/>
                </a:pPr>
                <a:r>
                  <a:rPr lang="en-CH"/>
                  <a:t>Sampling from prior:</a:t>
                </a:r>
              </a:p>
              <a:p>
                <a:r>
                  <a:rPr lang="en-CH"/>
                  <a:t>Architecture</a:t>
                </a:r>
              </a:p>
              <a:p>
                <a:r>
                  <a:rPr lang="en-CH"/>
                  <a:t>Weights w for given architecture</a:t>
                </a:r>
              </a:p>
              <a:p>
                <a:r>
                  <a:rPr lang="en-CH"/>
                  <a:t>Features: </a:t>
                </a:r>
                <a14:m>
                  <m:oMath xmlns:m="http://schemas.openxmlformats.org/officeDocument/2006/math">
                    <m:sSub>
                      <m:sSubPr>
                        <m:ctrlPr>
                          <a:rPr lang="en-CH" i="1">
                            <a:latin typeface="Cambria Math" panose="02040503050406030204" pitchFamily="18" charset="0"/>
                          </a:rPr>
                        </m:ctrlPr>
                      </m:sSubPr>
                      <m:e>
                        <m:r>
                          <m:rPr>
                            <m:sty m:val="p"/>
                          </m:rPr>
                          <a:rPr lang="de-CH" b="0" i="1">
                            <a:latin typeface="Cambria Math" panose="02040503050406030204" pitchFamily="18" charset="0"/>
                          </a:rPr>
                          <m:t>x</m:t>
                        </m:r>
                      </m:e>
                      <m:sub>
                        <m:r>
                          <m:rPr>
                            <m:sty m:val="p"/>
                          </m:rPr>
                          <a:rPr lang="de-CH" b="0" i="1">
                            <a:latin typeface="Cambria Math" panose="02040503050406030204" pitchFamily="18" charset="0"/>
                          </a:rPr>
                          <m:t>i</m:t>
                        </m:r>
                      </m:sub>
                    </m:sSub>
                    <m:r>
                      <a:rPr lang="de-CH" b="0" i="1">
                        <a:latin typeface="Cambria Math" panose="02040503050406030204" pitchFamily="18" charset="0"/>
                      </a:rPr>
                      <m:t>  </m:t>
                    </m:r>
                    <m:r>
                      <a:rPr lang="de-CH" i="1">
                        <a:latin typeface="Cambria Math" panose="02040503050406030204" pitchFamily="18" charset="0"/>
                      </a:rPr>
                      <m:t>~</m:t>
                    </m:r>
                    <m:r>
                      <a:rPr lang="de-CH" b="0" i="1">
                        <a:latin typeface="Cambria Math" panose="02040503050406030204" pitchFamily="18" charset="0"/>
                      </a:rPr>
                      <m:t>  </m:t>
                    </m:r>
                    <m:r>
                      <a:rPr lang="de-CH" b="0" i="1">
                        <a:latin typeface="Cambria Math" panose="02040503050406030204" pitchFamily="18" charset="0"/>
                      </a:rPr>
                      <m:t>𝒩</m:t>
                    </m:r>
                    <m:r>
                      <a:rPr lang="de-CH" b="0" i="1">
                        <a:latin typeface="Cambria Math" panose="02040503050406030204" pitchFamily="18" charset="0"/>
                      </a:rPr>
                      <m:t>(0, </m:t>
                    </m:r>
                    <m:r>
                      <m:rPr>
                        <m:sty m:val="p"/>
                      </m:rPr>
                      <a:rPr lang="de-CH" b="0" i="1">
                        <a:latin typeface="Cambria Math" panose="02040503050406030204" pitchFamily="18" charset="0"/>
                      </a:rPr>
                      <m:t>I</m:t>
                    </m:r>
                    <m:r>
                      <a:rPr lang="de-CH" b="0" i="1">
                        <a:latin typeface="Cambria Math" panose="02040503050406030204" pitchFamily="18" charset="0"/>
                      </a:rPr>
                      <m:t>)</m:t>
                    </m:r>
                  </m:oMath>
                </a14:m>
                <a:endParaRPr lang="en-CH"/>
              </a:p>
              <a:p>
                <a:pPr marL="0" marR="0" lvl="0" indent="0" algn="l" defTabSz="914400" rtl="0" eaLnBrk="1" fontAlgn="auto" latinLnBrk="0" hangingPunct="1">
                  <a:lnSpc>
                    <a:spcPct val="100000"/>
                  </a:lnSpc>
                  <a:spcBef>
                    <a:spcPts val="0"/>
                  </a:spcBef>
                  <a:spcAft>
                    <a:spcPts val="0"/>
                  </a:spcAft>
                  <a:buClrTx/>
                  <a:buSzTx/>
                  <a:buFontTx/>
                  <a:buNone/>
                  <a:tabLst/>
                  <a:defRPr/>
                </a:pPr>
                <a:endParaRPr lang="en-CH"/>
              </a:p>
              <a:p>
                <a:endParaRPr lang="en-CH"/>
              </a:p>
            </p:txBody>
          </p:sp>
        </mc:Choice>
        <mc:Fallback xmlns="">
          <p:sp>
            <p:nvSpPr>
              <p:cNvPr id="3" name="Notes Placeholder 2"/>
              <p:cNvSpPr>
                <a:spLocks noGrp="1"/>
              </p:cNvSpPr>
              <p:nvPr>
                <p:ph type="body" idx="1"/>
              </p:nvPr>
            </p:nvSpPr>
            <p:spPr/>
            <p:txBody>
              <a:bodyPr/>
              <a:lstStyle/>
              <a:p>
                <a:pPr marL="0" indent="0">
                  <a:buNone/>
                </a:pPr>
                <a:r>
                  <a:rPr lang="de-CH"/>
                  <a:t>Iid might actually be a limitation</a:t>
                </a:r>
              </a:p>
              <a:p>
                <a:pPr marL="0" indent="0">
                  <a:buNone/>
                </a:pPr>
                <a:r>
                  <a:rPr lang="de-CH"/>
                  <a:t>Binarize: Set top 50% of logits to class 1, and the rest to class 0</a:t>
                </a:r>
              </a:p>
              <a:p>
                <a:pPr marL="0" indent="0">
                  <a:buNone/>
                </a:pPr>
                <a:endParaRPr lang="de-CH"/>
              </a:p>
              <a:p>
                <a:pPr marL="0" indent="0">
                  <a:buNone/>
                </a:pPr>
                <a:endParaRPr lang="de-CH"/>
              </a:p>
              <a:p>
                <a:pPr marL="0" indent="0">
                  <a:buNone/>
                </a:pPr>
                <a:r>
                  <a:rPr lang="de-CH"/>
                  <a:t>Sample a neural network architecture:</a:t>
                </a:r>
              </a:p>
              <a:p>
                <a:pPr marL="285750" indent="-285750">
                  <a:buFont typeface="Arial" panose="020B0604020202020204" pitchFamily="34" charset="0"/>
                  <a:buChar char="•"/>
                </a:pPr>
                <a:r>
                  <a:rPr lang="de-CH"/>
                  <a:t>Number of layers and nodes</a:t>
                </a:r>
              </a:p>
              <a:p>
                <a:pPr marL="285750" indent="-285750">
                  <a:buFont typeface="Arial" panose="020B0604020202020204" pitchFamily="34" charset="0"/>
                  <a:buChar char="•"/>
                </a:pPr>
                <a:r>
                  <a:rPr lang="de-CH"/>
                  <a:t>Weights</a:t>
                </a:r>
              </a:p>
              <a:p>
                <a:pPr marL="285750" indent="-285750">
                  <a:buFont typeface="Arial" panose="020B0604020202020204" pitchFamily="34" charset="0"/>
                  <a:buChar char="•"/>
                </a:pPr>
                <a:r>
                  <a:rPr lang="de-CH"/>
                  <a:t>Activation functions</a:t>
                </a:r>
                <a:br>
                  <a:rPr lang="de-CH"/>
                </a:br>
                <a:br>
                  <a:rPr lang="de-CH"/>
                </a:br>
                <a:endParaRPr lang="de-CH"/>
              </a:p>
              <a:p>
                <a:pPr marL="0" indent="0">
                  <a:buNone/>
                </a:pPr>
                <a:r>
                  <a:rPr lang="de-CH"/>
                  <a:t>Sample a dataset for the given network:</a:t>
                </a:r>
              </a:p>
              <a:p>
                <a:pPr marL="285750" indent="-285750">
                  <a:buFont typeface="Arial" panose="020B0604020202020204" pitchFamily="34" charset="0"/>
                  <a:buChar char="•"/>
                </a:pPr>
                <a:r>
                  <a:rPr lang="de-CH"/>
                  <a:t>Number of features</a:t>
                </a:r>
              </a:p>
              <a:p>
                <a:pPr marL="285750" indent="-285750">
                  <a:buFont typeface="Arial" panose="020B0604020202020204" pitchFamily="34" charset="0"/>
                  <a:buChar char="•"/>
                </a:pPr>
                <a:r>
                  <a:rPr lang="de-CH"/>
                  <a:t>Feature values</a:t>
                </a:r>
              </a:p>
              <a:p>
                <a:pPr marL="285750" indent="-285750">
                  <a:buFont typeface="Arial" panose="020B0604020202020204" pitchFamily="34" charset="0"/>
                  <a:buChar char="•"/>
                </a:pPr>
                <a:r>
                  <a:rPr lang="de-CH"/>
                  <a:t>Forward-prop to get response values (logits)</a:t>
                </a:r>
              </a:p>
              <a:p>
                <a:pPr marL="285750" indent="-285750">
                  <a:buFont typeface="Arial" panose="020B0604020202020204" pitchFamily="34" charset="0"/>
                  <a:buChar char="•"/>
                </a:pPr>
                <a:r>
                  <a:rPr lang="de-CH"/>
                  <a:t>Binarize to get classes</a:t>
                </a:r>
                <a:endParaRPr lang="en-CH"/>
              </a:p>
              <a:p>
                <a:endParaRPr lang="en-GB"/>
              </a:p>
              <a:p>
                <a:endParaRPr lang="en-GB"/>
              </a:p>
              <a:p>
                <a:endParaRPr lang="en-GB"/>
              </a:p>
              <a:p>
                <a:r>
                  <a:rPr lang="en-GB"/>
                  <a:t>By defining a prior probability over the space of model architectures, we remove the need for finding an optimal neural architecture and instead jointly integrate over the space of architectures and their respective weights in a single Bayesian inference</a:t>
                </a:r>
              </a:p>
              <a:p>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hile all baselines make use of cross-validation to find suitable hyperparameters, the PFNs naturally consider a distribution of hyperparameters and integrate cross-validation and training within the model's Bayesian inference step.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indent="0">
                  <a:buNone/>
                </a:pPr>
                <a:r>
                  <a:rPr lang="en-CH"/>
                  <a:t>Sampling from prior:</a:t>
                </a:r>
              </a:p>
              <a:p>
                <a:r>
                  <a:rPr lang="en-CH"/>
                  <a:t>Architecture</a:t>
                </a:r>
              </a:p>
              <a:p>
                <a:r>
                  <a:rPr lang="en-CH"/>
                  <a:t>Weights w for given architecture</a:t>
                </a:r>
              </a:p>
              <a:p>
                <a:r>
                  <a:rPr lang="en-CH"/>
                  <a:t>Features: </a:t>
                </a:r>
                <a:r>
                  <a:rPr lang="de-CH" b="0" i="0">
                    <a:latin typeface="Cambria Math" panose="02040503050406030204" pitchFamily="18" charset="0"/>
                  </a:rPr>
                  <a:t>x</a:t>
                </a:r>
                <a:r>
                  <a:rPr lang="en-CH" b="0" i="0">
                    <a:latin typeface="Cambria Math" panose="02040503050406030204" pitchFamily="18" charset="0"/>
                  </a:rPr>
                  <a:t>_</a:t>
                </a:r>
                <a:r>
                  <a:rPr lang="de-CH" b="0" i="0">
                    <a:latin typeface="Cambria Math" panose="02040503050406030204" pitchFamily="18" charset="0"/>
                  </a:rPr>
                  <a:t>i   </a:t>
                </a:r>
                <a:r>
                  <a:rPr lang="de-CH" i="0">
                    <a:latin typeface="Cambria Math" panose="02040503050406030204" pitchFamily="18" charset="0"/>
                  </a:rPr>
                  <a:t>~</a:t>
                </a:r>
                <a:r>
                  <a:rPr lang="de-CH" b="0" i="0">
                    <a:latin typeface="Cambria Math" panose="02040503050406030204" pitchFamily="18" charset="0"/>
                  </a:rPr>
                  <a:t>  𝒩(0, I)</a:t>
                </a:r>
                <a:endParaRPr lang="en-CH"/>
              </a:p>
              <a:p>
                <a:pPr marL="0" marR="0" lvl="0" indent="0" algn="l" defTabSz="914400" rtl="0" eaLnBrk="1" fontAlgn="auto" latinLnBrk="0" hangingPunct="1">
                  <a:lnSpc>
                    <a:spcPct val="100000"/>
                  </a:lnSpc>
                  <a:spcBef>
                    <a:spcPts val="0"/>
                  </a:spcBef>
                  <a:spcAft>
                    <a:spcPts val="0"/>
                  </a:spcAft>
                  <a:buClrTx/>
                  <a:buSzTx/>
                  <a:buFontTx/>
                  <a:buNone/>
                  <a:tabLst/>
                  <a:defRPr/>
                </a:pPr>
                <a:endParaRPr lang="en-CH"/>
              </a:p>
              <a:p>
                <a:endParaRPr lang="en-CH"/>
              </a:p>
            </p:txBody>
          </p:sp>
        </mc:Fallback>
      </mc:AlternateContent>
      <p:sp>
        <p:nvSpPr>
          <p:cNvPr id="4" name="Slide Number Placeholder 3"/>
          <p:cNvSpPr>
            <a:spLocks noGrp="1"/>
          </p:cNvSpPr>
          <p:nvPr>
            <p:ph type="sldNum" sz="quarter" idx="5"/>
          </p:nvPr>
        </p:nvSpPr>
        <p:spPr/>
        <p:txBody>
          <a:bodyPr/>
          <a:lstStyle/>
          <a:p>
            <a:fld id="{F615DDFD-030C-4D5A-B33E-3A7E7538D2BE}" type="slidenum">
              <a:rPr lang="de-CH" smtClean="0"/>
              <a:t>23</a:t>
            </a:fld>
            <a:endParaRPr lang="de-CH"/>
          </a:p>
        </p:txBody>
      </p:sp>
    </p:spTree>
    <p:extLst>
      <p:ext uri="{BB962C8B-B14F-4D97-AF65-F5344CB8AC3E}">
        <p14:creationId xmlns:p14="http://schemas.microsoft.com/office/powerpoint/2010/main" val="10685368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19366-4F91-FF00-FE4E-E81EC19CD1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D2968-A0CE-666C-24A0-AA95F33EA8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04882D-0236-AECD-F071-51AA18916733}"/>
              </a:ext>
            </a:extLst>
          </p:cNvPr>
          <p:cNvSpPr>
            <a:spLocks noGrp="1"/>
          </p:cNvSpPr>
          <p:nvPr>
            <p:ph type="body" idx="1"/>
          </p:nvPr>
        </p:nvSpPr>
        <p:spPr/>
        <p:txBody>
          <a:bodyPr/>
          <a:lstStyle/>
          <a:p>
            <a:endParaRPr lang="en-CH"/>
          </a:p>
        </p:txBody>
      </p:sp>
      <p:sp>
        <p:nvSpPr>
          <p:cNvPr id="4" name="Slide Number Placeholder 3">
            <a:extLst>
              <a:ext uri="{FF2B5EF4-FFF2-40B4-BE49-F238E27FC236}">
                <a16:creationId xmlns:a16="http://schemas.microsoft.com/office/drawing/2014/main" id="{414D40C1-AC1B-275E-E089-47FC0E4735B5}"/>
              </a:ext>
            </a:extLst>
          </p:cNvPr>
          <p:cNvSpPr>
            <a:spLocks noGrp="1"/>
          </p:cNvSpPr>
          <p:nvPr>
            <p:ph type="sldNum" sz="quarter" idx="5"/>
          </p:nvPr>
        </p:nvSpPr>
        <p:spPr/>
        <p:txBody>
          <a:bodyPr/>
          <a:lstStyle/>
          <a:p>
            <a:fld id="{F615DDFD-030C-4D5A-B33E-3A7E7538D2BE}" type="slidenum">
              <a:rPr lang="de-CH" smtClean="0"/>
              <a:t>24</a:t>
            </a:fld>
            <a:endParaRPr lang="de-CH"/>
          </a:p>
        </p:txBody>
      </p:sp>
    </p:spTree>
    <p:extLst>
      <p:ext uri="{BB962C8B-B14F-4D97-AF65-F5344CB8AC3E}">
        <p14:creationId xmlns:p14="http://schemas.microsoft.com/office/powerpoint/2010/main" val="41092767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CH"/>
              <a:t>5-way-5-shot</a:t>
            </a:r>
          </a:p>
          <a:p>
            <a:pPr marL="0" indent="0">
              <a:buNone/>
            </a:pPr>
            <a:endParaRPr lang="en-CH"/>
          </a:p>
          <a:p>
            <a:pPr marL="0" indent="0">
              <a:buNone/>
            </a:pPr>
            <a:r>
              <a:rPr lang="en-CH"/>
              <a:t>Sampling 500’000 “prototype” datasets from prior:</a:t>
            </a:r>
          </a:p>
          <a:p>
            <a:r>
              <a:rPr lang="de-CH"/>
              <a:t>Number of strokes</a:t>
            </a:r>
          </a:p>
          <a:p>
            <a:r>
              <a:rPr lang="de-CH"/>
              <a:t>Starting point, angle, length per stroke</a:t>
            </a:r>
          </a:p>
          <a:p>
            <a:r>
              <a:rPr lang="de-CH"/>
              <a:t>Adding jitter to create samples </a:t>
            </a:r>
            <a:endParaRPr lang="en-CH"/>
          </a:p>
          <a:p>
            <a:endParaRPr lang="en-CH"/>
          </a:p>
          <a:p>
            <a:pPr marL="0" marR="0" lvl="0" indent="0" algn="l" defTabSz="914400" rtl="0" eaLnBrk="1" fontAlgn="auto" latinLnBrk="0" hangingPunct="1">
              <a:lnSpc>
                <a:spcPct val="100000"/>
              </a:lnSpc>
              <a:spcBef>
                <a:spcPts val="0"/>
              </a:spcBef>
              <a:spcAft>
                <a:spcPts val="0"/>
              </a:spcAft>
              <a:buClrTx/>
              <a:buSzTx/>
              <a:buFontTx/>
              <a:buNone/>
              <a:tabLst/>
              <a:defRPr/>
            </a:pPr>
            <a:r>
              <a:rPr lang="en-GB" b="1"/>
              <a:t>Few-shot learning</a:t>
            </a:r>
            <a:r>
              <a:rPr lang="en-GB"/>
              <a:t> is the ability to learn a new task from </a:t>
            </a:r>
            <a:r>
              <a:rPr lang="en-GB" b="1"/>
              <a:t>very few examples</a:t>
            </a:r>
            <a:r>
              <a:rPr lang="en-GB"/>
              <a:t>.</a:t>
            </a:r>
            <a:endParaRPr lang="en-CH"/>
          </a:p>
          <a:p>
            <a:endParaRPr lang="en-CH"/>
          </a:p>
        </p:txBody>
      </p:sp>
      <p:sp>
        <p:nvSpPr>
          <p:cNvPr id="4" name="Slide Number Placeholder 3"/>
          <p:cNvSpPr>
            <a:spLocks noGrp="1"/>
          </p:cNvSpPr>
          <p:nvPr>
            <p:ph type="sldNum" sz="quarter" idx="5"/>
          </p:nvPr>
        </p:nvSpPr>
        <p:spPr/>
        <p:txBody>
          <a:bodyPr/>
          <a:lstStyle/>
          <a:p>
            <a:fld id="{F615DDFD-030C-4D5A-B33E-3A7E7538D2BE}" type="slidenum">
              <a:rPr lang="de-CH" smtClean="0"/>
              <a:t>25</a:t>
            </a:fld>
            <a:endParaRPr lang="de-CH"/>
          </a:p>
        </p:txBody>
      </p:sp>
    </p:spTree>
    <p:extLst>
      <p:ext uri="{BB962C8B-B14F-4D97-AF65-F5344CB8AC3E}">
        <p14:creationId xmlns:p14="http://schemas.microsoft.com/office/powerpoint/2010/main" val="15868201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MAML: Model-Agnostic Meta-Learning: </a:t>
            </a:r>
            <a:r>
              <a:rPr lang="en-GB"/>
              <a:t>learns a set of </a:t>
            </a:r>
            <a:r>
              <a:rPr lang="en-GB" b="1"/>
              <a:t>initial neural network weights</a:t>
            </a:r>
            <a:r>
              <a:rPr lang="en-GB"/>
              <a:t> such that only a few gradient steps on a few data points adapt the network to a new task.</a:t>
            </a:r>
          </a:p>
          <a:p>
            <a:endParaRPr lang="en-CH"/>
          </a:p>
          <a:p>
            <a:r>
              <a:rPr lang="en-GB" b="1"/>
              <a:t>MLAP: Meta-Learning Adjusted Priors</a:t>
            </a:r>
            <a:endParaRPr lang="en-GB"/>
          </a:p>
          <a:p>
            <a:endParaRPr lang="en-CH"/>
          </a:p>
          <a:p>
            <a:r>
              <a:rPr lang="en-CH" b="1"/>
              <a:t>BMAML: </a:t>
            </a:r>
            <a:r>
              <a:rPr lang="en-GB" b="1"/>
              <a:t>Bayesian MAML</a:t>
            </a:r>
            <a:r>
              <a:rPr lang="en-GB"/>
              <a:t> Extends MAML to produce probabilistic predictions instead of just point estimates</a:t>
            </a:r>
          </a:p>
          <a:p>
            <a:endParaRPr lang="en-GB"/>
          </a:p>
          <a:p>
            <a:r>
              <a:rPr lang="en-GB" b="1"/>
              <a:t>PAC-optimal hyper-posterior (PACOH)</a:t>
            </a:r>
          </a:p>
          <a:p>
            <a:r>
              <a:rPr lang="en-GB"/>
              <a:t>PAC = “probably approximately correct”</a:t>
            </a:r>
          </a:p>
          <a:p>
            <a:endParaRPr lang="en-GB"/>
          </a:p>
          <a:p>
            <a:pPr marL="228600" indent="-228600">
              <a:buAutoNum type="arabicPeriod"/>
            </a:pPr>
            <a:r>
              <a:rPr lang="en-GB"/>
              <a:t>See multiple meta-training tasks </a:t>
            </a:r>
          </a:p>
          <a:p>
            <a:pPr marL="228600" indent="-228600">
              <a:buAutoNum type="arabicPeriod"/>
            </a:pPr>
            <a:r>
              <a:rPr lang="en-GB"/>
              <a:t>2. Learn a "hyper-posterior" </a:t>
            </a:r>
            <a:r>
              <a:rPr lang="el-GR"/>
              <a:t>φ </a:t>
            </a:r>
            <a:r>
              <a:rPr lang="en-GB"/>
              <a:t>over priors </a:t>
            </a:r>
          </a:p>
          <a:p>
            <a:pPr marL="228600" indent="-228600">
              <a:buAutoNum type="arabicPeriod"/>
            </a:pPr>
            <a:r>
              <a:rPr lang="en-GB"/>
              <a:t>3. For new task with data D: - Sample prior from </a:t>
            </a:r>
            <a:r>
              <a:rPr lang="el-GR"/>
              <a:t>φ - </a:t>
            </a:r>
            <a:r>
              <a:rPr lang="en-GB"/>
              <a:t>Compute posterior given that prior - Make predictions</a:t>
            </a:r>
          </a:p>
          <a:p>
            <a:pPr marL="228600" indent="-228600">
              <a:buAutoNum type="arabicPeriod"/>
            </a:pPr>
            <a:endParaRPr lang="en-GB"/>
          </a:p>
          <a:p>
            <a:pPr marL="0" indent="0">
              <a:buNone/>
            </a:pPr>
            <a:r>
              <a:rPr lang="en-GB"/>
              <a:t>Instead of one fixed prior p(</a:t>
            </a:r>
            <a:r>
              <a:rPr lang="el-GR"/>
              <a:t>θ), </a:t>
            </a:r>
            <a:r>
              <a:rPr lang="en-GB"/>
              <a:t>PACOH maintains a </a:t>
            </a:r>
            <a:r>
              <a:rPr lang="en-GB" b="1"/>
              <a:t>distribution over priors</a:t>
            </a:r>
            <a:r>
              <a:rPr lang="en-GB"/>
              <a:t> </a:t>
            </a:r>
            <a:r>
              <a:rPr lang="el-GR"/>
              <a:t>φ(</a:t>
            </a:r>
            <a:r>
              <a:rPr lang="en-GB"/>
              <a:t>p).</a:t>
            </a:r>
          </a:p>
        </p:txBody>
      </p:sp>
      <p:sp>
        <p:nvSpPr>
          <p:cNvPr id="4" name="Slide Number Placeholder 3"/>
          <p:cNvSpPr>
            <a:spLocks noGrp="1"/>
          </p:cNvSpPr>
          <p:nvPr>
            <p:ph type="sldNum" sz="quarter" idx="5"/>
          </p:nvPr>
        </p:nvSpPr>
        <p:spPr/>
        <p:txBody>
          <a:bodyPr/>
          <a:lstStyle/>
          <a:p>
            <a:fld id="{F615DDFD-030C-4D5A-B33E-3A7E7538D2BE}" type="slidenum">
              <a:rPr lang="de-CH" smtClean="0"/>
              <a:t>26</a:t>
            </a:fld>
            <a:endParaRPr lang="de-CH"/>
          </a:p>
        </p:txBody>
      </p:sp>
    </p:spTree>
    <p:extLst>
      <p:ext uri="{BB962C8B-B14F-4D97-AF65-F5344CB8AC3E}">
        <p14:creationId xmlns:p14="http://schemas.microsoft.com/office/powerpoint/2010/main" val="12906286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EA83D-AAD4-DB79-9765-388820137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AAE3D9-F71D-CB00-1853-164BBE792DE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964DDE8F-9865-2A74-B0C2-102761007C50}"/>
                  </a:ext>
                </a:extLst>
              </p:cNvPr>
              <p:cNvSpPr>
                <a:spLocks noGrp="1"/>
              </p:cNvSpPr>
              <p:nvPr>
                <p:ph type="body" idx="1"/>
              </p:nvPr>
            </p:nvSpPr>
            <p:spPr/>
            <p:txBody>
              <a:bodyPr/>
              <a:lstStyle/>
              <a:p>
                <a:br>
                  <a:rPr lang="en-GB"/>
                </a:br>
                <a:r>
                  <a:rPr lang="en-GB" b="1"/>
                  <a:t>Fast </a:t>
                </a:r>
                <a:r>
                  <a:rPr lang="en-GB"/>
                  <a:t>during inference</a:t>
                </a:r>
              </a:p>
              <a:p>
                <a:pPr marL="285750" indent="-285750">
                  <a:buFont typeface="Arial" panose="020B0604020202020204" pitchFamily="34" charset="0"/>
                  <a:buChar char="•"/>
                </a:pPr>
                <a:r>
                  <a:rPr lang="en-GB" b="1"/>
                  <a:t>Flexible </a:t>
                </a:r>
                <a:r>
                  <a:rPr lang="en-GB"/>
                  <a:t>regarding priors</a:t>
                </a:r>
              </a:p>
              <a:p>
                <a:pPr marL="285750" indent="-285750">
                  <a:buFont typeface="Arial" panose="020B0604020202020204" pitchFamily="34" charset="0"/>
                  <a:buChar char="•"/>
                </a:pPr>
                <a:r>
                  <a:rPr lang="en-GB" b="1"/>
                  <a:t>No tuning </a:t>
                </a:r>
                <a:r>
                  <a:rPr lang="en-GB"/>
                  <a:t>necessary</a:t>
                </a:r>
              </a:p>
              <a:p>
                <a:pPr marL="285750" indent="-285750">
                  <a:buFont typeface="Arial" panose="020B0604020202020204" pitchFamily="34" charset="0"/>
                  <a:buChar char="•"/>
                </a:pPr>
                <a:r>
                  <a:rPr lang="en-GB" b="1"/>
                  <a:t>Well calibrated </a:t>
                </a:r>
                <a:r>
                  <a:rPr lang="en-GB"/>
                  <a:t>predictions</a:t>
                </a:r>
              </a:p>
              <a:p>
                <a:pPr marL="285750" indent="-285750">
                  <a:buFont typeface="Arial" panose="020B0604020202020204" pitchFamily="34" charset="0"/>
                  <a:buChar char="•"/>
                </a:pPr>
                <a:r>
                  <a:rPr lang="en-GB" b="1"/>
                  <a:t>Unlimited data </a:t>
                </a:r>
                <a:r>
                  <a:rPr lang="en-GB"/>
                  <a:t>synthetised from prior</a:t>
                </a:r>
              </a:p>
              <a:p>
                <a:pPr marL="285750" indent="-285750">
                  <a:buFont typeface="Arial" panose="020B0604020202020204" pitchFamily="34" charset="0"/>
                  <a:buChar char="•"/>
                </a:pPr>
                <a:r>
                  <a:rPr lang="en-GB" b="1"/>
                  <a:t>No overfitting</a:t>
                </a:r>
                <a:r>
                  <a:rPr lang="en-GB"/>
                  <a:t>: more training = better approximation to true PPD</a:t>
                </a:r>
              </a:p>
              <a:p>
                <a:endParaRPr lang="en-CH"/>
              </a:p>
              <a:p>
                <a:endParaRPr lang="en-CH"/>
              </a:p>
              <a:p>
                <a:endParaRPr lang="en-CH"/>
              </a:p>
            </p:txBody>
          </p:sp>
        </mc:Choice>
        <mc:Fallback xmlns="">
          <p:sp>
            <p:nvSpPr>
              <p:cNvPr id="3" name="Notes Placeholder 2">
                <a:extLst>
                  <a:ext uri="{FF2B5EF4-FFF2-40B4-BE49-F238E27FC236}">
                    <a16:creationId xmlns:a16="http://schemas.microsoft.com/office/drawing/2014/main" id="{964DDE8F-9865-2A74-B0C2-102761007C50}"/>
                  </a:ext>
                </a:extLst>
              </p:cNvPr>
              <p:cNvSpPr>
                <a:spLocks noGrp="1"/>
              </p:cNvSpPr>
              <p:nvPr>
                <p:ph type="body" idx="1"/>
              </p:nvPr>
            </p:nvSpPr>
            <p:spPr/>
            <p:txBody>
              <a:bodyPr/>
              <a:lstStyle/>
              <a:p>
                <a:r>
                  <a:rPr lang="en-GB"/>
                  <a:t>Since inference is done in 1 forward pass </a:t>
                </a:r>
                <a:r>
                  <a:rPr lang="en-GB" b="1"/>
                  <a:t>without</a:t>
                </a:r>
                <a:r>
                  <a:rPr lang="en-GB"/>
                  <a:t> </a:t>
                </a:r>
                <a:r>
                  <a:rPr lang="en-GB" b="1"/>
                  <a:t>finetuning</a:t>
                </a:r>
              </a:p>
              <a:p>
                <a:endParaRPr lang="en-GB"/>
              </a:p>
              <a:p>
                <a:r>
                  <a:rPr lang="en-GB"/>
                  <a:t>Study was limited to small, “easy” datasets (max 100 features, no missing values, forced balanced)</a:t>
                </a:r>
              </a:p>
              <a:p>
                <a:r>
                  <a:rPr lang="en-GB"/>
                  <a:t>Not really real-world</a:t>
                </a:r>
                <a:br>
                  <a:rPr lang="en-GB"/>
                </a:br>
                <a:br>
                  <a:rPr lang="de-CH"/>
                </a:br>
                <a:r>
                  <a:rPr lang="de-CH"/>
                  <a:t>But: </a:t>
                </a:r>
                <a:r>
                  <a:rPr lang="en-GB"/>
                  <a:t>“</a:t>
                </a:r>
                <a:r>
                  <a:rPr lang="de-CH"/>
                  <a:t>Transformers can perform full Bayesian inference in context</a:t>
                </a:r>
                <a:r>
                  <a:rPr lang="en-GB"/>
                  <a:t>“</a:t>
                </a:r>
                <a:r>
                  <a:rPr lang="de-CH"/>
                  <a:t> (Reuter et al., 2025)</a:t>
                </a:r>
              </a:p>
              <a:p>
                <a:pPr marL="285750" indent="-285750">
                  <a:buFont typeface="Arial" panose="020B0604020202020204" pitchFamily="34" charset="0"/>
                  <a:buChar char="•"/>
                </a:pPr>
                <a:br>
                  <a:rPr lang="en-GB"/>
                </a:br>
                <a:r>
                  <a:rPr lang="en-GB"/>
                  <a:t>But: Major improvements since then, e.g. TabPFN (Hollmann et al., 2025)</a:t>
                </a:r>
                <a:br>
                  <a:rPr lang="en-GB"/>
                </a:br>
                <a:br>
                  <a:rPr lang="en-GB"/>
                </a:br>
                <a:r>
                  <a:rPr lang="en-GB" b="1"/>
                  <a:t>Fast </a:t>
                </a:r>
                <a:r>
                  <a:rPr lang="en-GB"/>
                  <a:t>during inference</a:t>
                </a:r>
              </a:p>
              <a:p>
                <a:pPr marL="285750" indent="-285750">
                  <a:buFont typeface="Arial" panose="020B0604020202020204" pitchFamily="34" charset="0"/>
                  <a:buChar char="•"/>
                </a:pPr>
                <a:r>
                  <a:rPr lang="en-GB" b="1"/>
                  <a:t>Flexible </a:t>
                </a:r>
                <a:r>
                  <a:rPr lang="en-GB"/>
                  <a:t>regarding priors</a:t>
                </a:r>
              </a:p>
              <a:p>
                <a:pPr marL="285750" indent="-285750">
                  <a:buFont typeface="Arial" panose="020B0604020202020204" pitchFamily="34" charset="0"/>
                  <a:buChar char="•"/>
                </a:pPr>
                <a:r>
                  <a:rPr lang="en-GB" b="1"/>
                  <a:t>No tuning </a:t>
                </a:r>
                <a:r>
                  <a:rPr lang="en-GB"/>
                  <a:t>necessary</a:t>
                </a:r>
              </a:p>
              <a:p>
                <a:pPr marL="285750" indent="-285750">
                  <a:buFont typeface="Arial" panose="020B0604020202020204" pitchFamily="34" charset="0"/>
                  <a:buChar char="•"/>
                </a:pPr>
                <a:r>
                  <a:rPr lang="en-GB" b="1"/>
                  <a:t>Well calibrated </a:t>
                </a:r>
                <a:r>
                  <a:rPr lang="en-GB"/>
                  <a:t>predictions</a:t>
                </a:r>
              </a:p>
              <a:p>
                <a:pPr marL="285750" indent="-285750">
                  <a:buFont typeface="Arial" panose="020B0604020202020204" pitchFamily="34" charset="0"/>
                  <a:buChar char="•"/>
                </a:pPr>
                <a:r>
                  <a:rPr lang="en-GB" b="1"/>
                  <a:t>Unlimited data </a:t>
                </a:r>
                <a:r>
                  <a:rPr lang="en-GB"/>
                  <a:t>synthetised from prior</a:t>
                </a:r>
              </a:p>
              <a:p>
                <a:pPr marL="285750" indent="-285750">
                  <a:buFont typeface="Arial" panose="020B0604020202020204" pitchFamily="34" charset="0"/>
                  <a:buChar char="•"/>
                </a:pPr>
                <a:r>
                  <a:rPr lang="en-GB" b="1"/>
                  <a:t>No overfitting</a:t>
                </a:r>
                <a:r>
                  <a:rPr lang="en-GB"/>
                  <a:t>: more training = better approximation to true PPD</a:t>
                </a:r>
              </a:p>
              <a:p>
                <a:endParaRPr lang="en-CH"/>
              </a:p>
              <a:p>
                <a:pPr marL="0" indent="0">
                  <a:buNone/>
                </a:pPr>
                <a:r>
                  <a:rPr lang="en-GB" b="1"/>
                  <a:t>Fast</a:t>
                </a:r>
                <a:r>
                  <a:rPr lang="en-GB"/>
                  <a:t>: Once pretrained, inference is done in a single forward pass</a:t>
                </a:r>
              </a:p>
              <a:p>
                <a:pPr marL="0" indent="0">
                  <a:buNone/>
                </a:pPr>
                <a:r>
                  <a:rPr lang="en-GB" b="1"/>
                  <a:t>Flexible</a:t>
                </a:r>
                <a:r>
                  <a:rPr lang="en-GB"/>
                  <a:t>: Works for any prior one can sample from</a:t>
                </a:r>
              </a:p>
              <a:p>
                <a:pPr marL="0" indent="0">
                  <a:buNone/>
                </a:pPr>
                <a:r>
                  <a:rPr lang="en-GB" b="1"/>
                  <a:t>No tuning</a:t>
                </a:r>
                <a:r>
                  <a:rPr lang="en-GB"/>
                  <a:t>: No hyperparameters to tune per dataset</a:t>
                </a:r>
              </a:p>
              <a:p>
                <a:pPr marL="0" indent="0">
                  <a:buNone/>
                </a:pPr>
                <a:r>
                  <a:rPr lang="en-GB" b="1"/>
                  <a:t>Well calibrated</a:t>
                </a:r>
                <a:r>
                  <a:rPr lang="en-GB"/>
                  <a:t>: Uncertainty is built-in</a:t>
                </a:r>
              </a:p>
              <a:p>
                <a:pPr marL="0" indent="0">
                  <a:buNone/>
                </a:pPr>
                <a:r>
                  <a:rPr lang="en-GB" b="1"/>
                  <a:t>Unlimited data</a:t>
                </a:r>
                <a:r>
                  <a:rPr lang="en-GB"/>
                  <a:t>: Synthetic data is cheap and limitless</a:t>
                </a:r>
              </a:p>
              <a:p>
                <a:pPr marL="0" indent="0">
                  <a:buNone/>
                </a:pPr>
                <a:r>
                  <a:rPr lang="en-GB" b="1"/>
                  <a:t>No data leakage</a:t>
                </a:r>
                <a:r>
                  <a:rPr lang="en-GB"/>
                  <a:t>: since we don’t train on real-world data</a:t>
                </a:r>
              </a:p>
              <a:p>
                <a:pPr marL="0" indent="0">
                  <a:buNone/>
                </a:pPr>
                <a:r>
                  <a:rPr lang="en-GB" b="1"/>
                  <a:t>Declarative</a:t>
                </a:r>
                <a:r>
                  <a:rPr lang="en-GB"/>
                  <a:t> vs imperative: We only describe the data distribution, PFN figures out the rest</a:t>
                </a:r>
              </a:p>
              <a:p>
                <a:pPr marL="0" indent="0">
                  <a:buNone/>
                </a:pPr>
                <a:r>
                  <a:rPr lang="en-GB"/>
                  <a:t>No overfitting: improvement in training loss always means an improvement in the closeness to the exact posterior</a:t>
                </a:r>
              </a:p>
              <a:p>
                <a:pPr marL="0" indent="0">
                  <a:buNone/>
                </a:pPr>
                <a:endParaRPr lang="en-GB"/>
              </a:p>
              <a:p>
                <a:pPr marL="0" indent="0">
                  <a:buNone/>
                </a:pPr>
                <a:endParaRPr lang="en-GB"/>
              </a:p>
              <a:p>
                <a:r>
                  <a:rPr lang="en-GB"/>
                  <a:t>You </a:t>
                </a:r>
                <a:r>
                  <a:rPr lang="en-GB" b="1"/>
                  <a:t>describe the data distribution</a:t>
                </a:r>
                <a:r>
                  <a:rPr lang="en-GB"/>
                  <a:t> (the prior </a:t>
                </a:r>
                <a:r>
                  <a:rPr lang="en-GB" sz="1200" i="0" kern="1200">
                    <a:solidFill>
                      <a:schemeClr val="tx1"/>
                    </a:solidFill>
                    <a:latin typeface="Cambria Math" panose="02040503050406030204" pitchFamily="18" charset="0"/>
                    <a:ea typeface="+mn-ea"/>
                    <a:cs typeface="+mn-cs"/>
                  </a:rPr>
                  <a:t>𝑝</a:t>
                </a:r>
                <a:r>
                  <a:rPr lang="ar-AE" sz="1200" i="0" kern="1200">
                    <a:solidFill>
                      <a:schemeClr val="tx1"/>
                    </a:solidFill>
                    <a:latin typeface="Cambria Math" panose="02040503050406030204" pitchFamily="18" charset="0"/>
                    <a:ea typeface="+mn-ea"/>
                    <a:cs typeface="+mn-cs"/>
                  </a:rPr>
                  <a:t>(𝐷)</a:t>
                </a:r>
                <a:r>
                  <a:rPr lang="ar-AE"/>
                  <a:t>) </a:t>
                </a:r>
              </a:p>
              <a:p>
                <a:r>
                  <a:rPr lang="en-GB"/>
                  <a:t>You </a:t>
                </a:r>
                <a:r>
                  <a:rPr lang="en-GB" b="1"/>
                  <a:t>don't specify prediction logic</a:t>
                </a:r>
                <a:endParaRPr lang="en-GB"/>
              </a:p>
              <a:p>
                <a:r>
                  <a:rPr lang="en-GB"/>
                  <a:t>The PFN </a:t>
                </a:r>
                <a:r>
                  <a:rPr lang="en-GB" b="1"/>
                  <a:t>figures out how to predict</a:t>
                </a:r>
                <a:r>
                  <a:rPr lang="en-GB"/>
                  <a:t> by learning from examples</a:t>
                </a:r>
              </a:p>
              <a:p>
                <a:r>
                  <a:rPr lang="en-GB"/>
                  <a:t>Missing values? Just </a:t>
                </a:r>
                <a:r>
                  <a:rPr lang="en-GB" b="1"/>
                  <a:t>include them in training data</a:t>
                </a:r>
                <a:endParaRPr lang="en-GB"/>
              </a:p>
              <a:p>
                <a:r>
                  <a:rPr lang="en-GB"/>
                  <a:t>Imbalanced classes? Just </a:t>
                </a:r>
                <a:r>
                  <a:rPr lang="en-GB" b="1"/>
                  <a:t>sample imbalanced datasets</a:t>
                </a:r>
                <a:endParaRPr lang="en-GB"/>
              </a:p>
              <a:p>
                <a:r>
                  <a:rPr lang="en-GB"/>
                  <a:t>Complex noise? Just </a:t>
                </a:r>
                <a:r>
                  <a:rPr lang="en-GB" b="1"/>
                  <a:t>generate it in the prior</a:t>
                </a:r>
                <a:endParaRPr lang="en-GB"/>
              </a:p>
              <a:p>
                <a:r>
                  <a:rPr lang="en-GB" b="1"/>
                  <a:t>This is declarative because:</a:t>
                </a:r>
                <a:r>
                  <a:rPr lang="en-GB"/>
                  <a:t> You declare "my data has these properties" and the system learns how to handle them.</a:t>
                </a:r>
              </a:p>
              <a:p>
                <a:endParaRPr lang="en-GB"/>
              </a:p>
              <a:p>
                <a:pPr marL="0" indent="0">
                  <a:buNone/>
                </a:pPr>
                <a:r>
                  <a:rPr lang="en-GB"/>
                  <a:t>the network’s predictions continue to improve at the inference stage when fed data sets with larger samples. This is an example of in-context learning (ICL): a pre-trained network learns from the context provided in the prompt (here: the fresh training data) without updating its parameters.</a:t>
                </a:r>
              </a:p>
              <a:p>
                <a:pPr marL="0" indent="0">
                  <a:buNone/>
                </a:pPr>
                <a:endParaRPr lang="en-GB"/>
              </a:p>
              <a:p>
                <a:pPr marL="0" indent="0">
                  <a:buNone/>
                </a:pPr>
                <a:endParaRPr lang="en-GB"/>
              </a:p>
              <a:p>
                <a:pPr marL="0" indent="0">
                  <a:buNone/>
                </a:pPr>
                <a:r>
                  <a:rPr lang="en-GB"/>
                  <a:t>Could use different architecture than transformer (needs to operate on </a:t>
                </a:r>
                <a:r>
                  <a:rPr lang="en-GB" b="1"/>
                  <a:t>sets/sequences</a:t>
                </a:r>
                <a:r>
                  <a:rPr lang="en-GB"/>
                  <a:t>, not fixed-size arrays; and permutation invariant)</a:t>
                </a:r>
              </a:p>
              <a:p>
                <a:pPr marL="0" indent="0">
                  <a:buNone/>
                </a:pPr>
                <a:endParaRPr lang="en-GB"/>
              </a:p>
              <a:p>
                <a:pPr marL="0" indent="0">
                  <a:buNone/>
                </a:pPr>
                <a:endParaRPr lang="en-GB"/>
              </a:p>
              <a:p>
                <a:pPr marL="285750" indent="-285750">
                  <a:buFont typeface="Arial" panose="020B0604020202020204" pitchFamily="34" charset="0"/>
                  <a:buChar char="•"/>
                </a:pPr>
                <a:r>
                  <a:rPr lang="en-GB" b="1"/>
                  <a:t>Fast </a:t>
                </a:r>
                <a:r>
                  <a:rPr lang="en-GB"/>
                  <a:t>during inference</a:t>
                </a:r>
              </a:p>
              <a:p>
                <a:pPr marL="285750" indent="-285750">
                  <a:buFont typeface="Arial" panose="020B0604020202020204" pitchFamily="34" charset="0"/>
                  <a:buChar char="•"/>
                </a:pPr>
                <a:r>
                  <a:rPr lang="en-GB" b="1"/>
                  <a:t>Flexible </a:t>
                </a:r>
                <a:r>
                  <a:rPr lang="en-GB"/>
                  <a:t>regarding priors</a:t>
                </a:r>
              </a:p>
              <a:p>
                <a:pPr marL="285750" indent="-285750">
                  <a:buFont typeface="Arial" panose="020B0604020202020204" pitchFamily="34" charset="0"/>
                  <a:buChar char="•"/>
                </a:pPr>
                <a:r>
                  <a:rPr lang="en-GB" b="1"/>
                  <a:t>No tuning </a:t>
                </a:r>
                <a:r>
                  <a:rPr lang="en-GB"/>
                  <a:t>necessary</a:t>
                </a:r>
              </a:p>
              <a:p>
                <a:pPr marL="285750" indent="-285750">
                  <a:buFont typeface="Arial" panose="020B0604020202020204" pitchFamily="34" charset="0"/>
                  <a:buChar char="•"/>
                </a:pPr>
                <a:r>
                  <a:rPr lang="en-GB" b="1"/>
                  <a:t>Well calibrated </a:t>
                </a:r>
                <a:r>
                  <a:rPr lang="en-GB"/>
                  <a:t>predictions</a:t>
                </a:r>
              </a:p>
              <a:p>
                <a:pPr marL="285750" indent="-285750">
                  <a:buFont typeface="Arial" panose="020B0604020202020204" pitchFamily="34" charset="0"/>
                  <a:buChar char="•"/>
                </a:pPr>
                <a:r>
                  <a:rPr lang="en-GB" b="1"/>
                  <a:t>Unlimited data </a:t>
                </a:r>
                <a:r>
                  <a:rPr lang="en-GB"/>
                  <a:t>synthetised from prior</a:t>
                </a:r>
              </a:p>
              <a:p>
                <a:pPr marL="285750" indent="-285750">
                  <a:buFont typeface="Arial" panose="020B0604020202020204" pitchFamily="34" charset="0"/>
                  <a:buChar char="•"/>
                </a:pPr>
                <a:r>
                  <a:rPr lang="en-GB" b="1"/>
                  <a:t>No overfitting</a:t>
                </a:r>
                <a:r>
                  <a:rPr lang="en-GB"/>
                  <a:t>: more training = better approximation to true PPD</a:t>
                </a:r>
              </a:p>
              <a:p>
                <a:pPr marL="285750" indent="-285750">
                  <a:buFont typeface="Arial" panose="020B0604020202020204" pitchFamily="34" charset="0"/>
                  <a:buChar char="•"/>
                </a:pPr>
                <a:r>
                  <a:rPr lang="en-GB" b="1"/>
                  <a:t>Diverse</a:t>
                </a:r>
                <a:r>
                  <a:rPr lang="en-GB"/>
                  <a:t> applications:</a:t>
                </a:r>
              </a:p>
              <a:p>
                <a:pPr marL="0" indent="0">
                  <a:buNone/>
                </a:pPr>
                <a:endParaRPr lang="en-GB"/>
              </a:p>
              <a:p>
                <a:endParaRPr lang="en-GB"/>
              </a:p>
              <a:p>
                <a:endParaRPr lang="en-CH"/>
              </a:p>
              <a:p>
                <a:endParaRPr lang="en-CH"/>
              </a:p>
              <a:p>
                <a:endParaRPr lang="en-CH"/>
              </a:p>
              <a:p>
                <a:endParaRPr lang="en-CH"/>
              </a:p>
            </p:txBody>
          </p:sp>
        </mc:Fallback>
      </mc:AlternateContent>
      <p:sp>
        <p:nvSpPr>
          <p:cNvPr id="4" name="Slide Number Placeholder 3">
            <a:extLst>
              <a:ext uri="{FF2B5EF4-FFF2-40B4-BE49-F238E27FC236}">
                <a16:creationId xmlns:a16="http://schemas.microsoft.com/office/drawing/2014/main" id="{B7EC287A-82DE-0F00-1801-BE2863DCFECE}"/>
              </a:ext>
            </a:extLst>
          </p:cNvPr>
          <p:cNvSpPr>
            <a:spLocks noGrp="1"/>
          </p:cNvSpPr>
          <p:nvPr>
            <p:ph type="sldNum" sz="quarter" idx="5"/>
          </p:nvPr>
        </p:nvSpPr>
        <p:spPr/>
        <p:txBody>
          <a:bodyPr/>
          <a:lstStyle/>
          <a:p>
            <a:fld id="{F615DDFD-030C-4D5A-B33E-3A7E7538D2BE}" type="slidenum">
              <a:rPr lang="de-CH" smtClean="0"/>
              <a:t>28</a:t>
            </a:fld>
            <a:endParaRPr lang="de-CH"/>
          </a:p>
        </p:txBody>
      </p:sp>
    </p:spTree>
    <p:extLst>
      <p:ext uri="{BB962C8B-B14F-4D97-AF65-F5344CB8AC3E}">
        <p14:creationId xmlns:p14="http://schemas.microsoft.com/office/powerpoint/2010/main" val="339560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B04F5-8197-BA3F-43C7-06D5D95733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8FD8C-471F-E7C7-03FE-DAEFFFDFA5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AC4ACD-473F-1650-8BF9-0BFB384E43CF}"/>
              </a:ext>
            </a:extLst>
          </p:cNvPr>
          <p:cNvSpPr>
            <a:spLocks noGrp="1"/>
          </p:cNvSpPr>
          <p:nvPr>
            <p:ph type="body" idx="1"/>
          </p:nvPr>
        </p:nvSpPr>
        <p:spPr/>
        <p:txBody>
          <a:bodyPr/>
          <a:lstStyle/>
          <a:p>
            <a:r>
              <a:rPr lang="en-GB"/>
              <a:t>Study was limited to small, “easy” datasets (max 100 features, no missing values, forced balanced)</a:t>
            </a:r>
          </a:p>
          <a:p>
            <a:r>
              <a:rPr lang="en-GB"/>
              <a:t>Not really real-world</a:t>
            </a:r>
            <a:br>
              <a:rPr lang="en-GB"/>
            </a:br>
            <a:br>
              <a:rPr lang="de-CH"/>
            </a:br>
            <a:br>
              <a:rPr lang="en-GB"/>
            </a:br>
            <a:r>
              <a:rPr lang="en-GB"/>
              <a:t>But: Major improvements since then, e.g. TabPFN (Hollmann et al., 2025)</a:t>
            </a:r>
          </a:p>
          <a:p>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a:t>
            </a:r>
            <a:r>
              <a:rPr lang="de-CH"/>
              <a:t>Transformers can perform full Bayesian inference in context</a:t>
            </a:r>
            <a:r>
              <a:rPr lang="en-GB"/>
              <a:t>“</a:t>
            </a:r>
            <a:r>
              <a:rPr lang="de-CH"/>
              <a:t> (Reuter et al., 2025)</a:t>
            </a:r>
          </a:p>
          <a:p>
            <a:endParaRPr lang="en-CH"/>
          </a:p>
        </p:txBody>
      </p:sp>
      <p:sp>
        <p:nvSpPr>
          <p:cNvPr id="4" name="Slide Number Placeholder 3">
            <a:extLst>
              <a:ext uri="{FF2B5EF4-FFF2-40B4-BE49-F238E27FC236}">
                <a16:creationId xmlns:a16="http://schemas.microsoft.com/office/drawing/2014/main" id="{5DCA7FB1-FB67-DCAA-1EE5-92E12EDF09FE}"/>
              </a:ext>
            </a:extLst>
          </p:cNvPr>
          <p:cNvSpPr>
            <a:spLocks noGrp="1"/>
          </p:cNvSpPr>
          <p:nvPr>
            <p:ph type="sldNum" sz="quarter" idx="5"/>
          </p:nvPr>
        </p:nvSpPr>
        <p:spPr/>
        <p:txBody>
          <a:bodyPr/>
          <a:lstStyle/>
          <a:p>
            <a:fld id="{F615DDFD-030C-4D5A-B33E-3A7E7538D2BE}" type="slidenum">
              <a:rPr lang="de-CH" smtClean="0"/>
              <a:t>29</a:t>
            </a:fld>
            <a:endParaRPr lang="de-CH"/>
          </a:p>
        </p:txBody>
      </p:sp>
    </p:spTree>
    <p:extLst>
      <p:ext uri="{BB962C8B-B14F-4D97-AF65-F5344CB8AC3E}">
        <p14:creationId xmlns:p14="http://schemas.microsoft.com/office/powerpoint/2010/main" val="28234550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GB" b="1"/>
              <a:t>Incorporating extra Inputs</a:t>
            </a:r>
          </a:p>
          <a:p>
            <a:pPr marL="285750" indent="-285750">
              <a:buFont typeface="Arial" panose="020B0604020202020204" pitchFamily="34" charset="0"/>
              <a:buChar char="•"/>
            </a:pPr>
            <a:r>
              <a:rPr lang="en-CH"/>
              <a:t>Improve interpretability</a:t>
            </a:r>
          </a:p>
          <a:p>
            <a:pPr marL="285750" indent="-285750">
              <a:buFont typeface="Arial" panose="020B0604020202020204" pitchFamily="34" charset="0"/>
              <a:buChar char="•"/>
            </a:pPr>
            <a:r>
              <a:rPr lang="en-CH"/>
              <a:t>Generalization beyond the prior’s support</a:t>
            </a:r>
          </a:p>
          <a:p>
            <a:endParaRPr lang="en-GB"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t>MAMBA: alternative to Transformers, based on </a:t>
            </a:r>
            <a:r>
              <a:rPr lang="en-GB" b="1"/>
              <a:t>State Space Models (SSMs)</a:t>
            </a:r>
            <a:endParaRPr lang="en-CH"/>
          </a:p>
          <a:p>
            <a:r>
              <a:rPr lang="en-GB" b="1"/>
              <a:t>Linear time complexity</a:t>
            </a:r>
            <a:r>
              <a:rPr lang="en-GB"/>
              <a:t> O(n) instead of Transformers' quadratic O(n²) attention</a:t>
            </a:r>
            <a:endParaRPr lang="en-GB" sz="1200" b="0" i="0" kern="1200">
              <a:solidFill>
                <a:schemeClr val="tx1"/>
              </a:solidFill>
              <a:effectLst/>
              <a:latin typeface="+mn-lt"/>
              <a:ea typeface="+mn-ea"/>
              <a:cs typeface="+mn-cs"/>
            </a:endParaRPr>
          </a:p>
          <a:p>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These examples show how domain knowledge can be encoded into the data generation process to create specialized PFNs</a:t>
            </a:r>
          </a:p>
          <a:p>
            <a:r>
              <a:rPr lang="en-GB" sz="1200" b="0" i="0" kern="1200">
                <a:solidFill>
                  <a:schemeClr val="tx1"/>
                </a:solidFill>
                <a:effectLst/>
                <a:latin typeface="+mn-lt"/>
                <a:ea typeface="+mn-ea"/>
                <a:cs typeface="+mn-cs"/>
              </a:rPr>
              <a:t>Tailor the PFN’s inductive biases to the problem domain by controlling the characteristics of the data it learns from during pre-training.</a:t>
            </a:r>
          </a:p>
          <a:p>
            <a:pPr marL="0" marR="0" lvl="0" indent="0" algn="l" defTabSz="914400" rtl="0" eaLnBrk="1" fontAlgn="auto" latinLnBrk="0" hangingPunct="1">
              <a:lnSpc>
                <a:spcPct val="100000"/>
              </a:lnSpc>
              <a:spcBef>
                <a:spcPts val="0"/>
              </a:spcBef>
              <a:spcAft>
                <a:spcPts val="0"/>
              </a:spcAft>
              <a:buClrTx/>
              <a:buSzTx/>
              <a:buFontTx/>
              <a:buNone/>
              <a:tabLst/>
              <a:defRPr/>
            </a:pPr>
            <a:br>
              <a:rPr lang="en-GB"/>
            </a:br>
            <a:r>
              <a:rPr lang="en-GB"/>
              <a:t>TabPFN: favors simple models (Occam’s Razor)</a:t>
            </a:r>
          </a:p>
          <a:p>
            <a:r>
              <a:rPr lang="en-GB"/>
              <a:t>Tabular Classification for up to 50’000 samples, 2000 features, including missing values, and outliers. </a:t>
            </a:r>
            <a:endParaRPr lang="en-CH"/>
          </a:p>
          <a:p>
            <a:endParaRPr lang="en-CH"/>
          </a:p>
          <a:p>
            <a:endParaRPr lang="en-CH"/>
          </a:p>
        </p:txBody>
      </p:sp>
      <p:sp>
        <p:nvSpPr>
          <p:cNvPr id="4" name="Slide Number Placeholder 3"/>
          <p:cNvSpPr>
            <a:spLocks noGrp="1"/>
          </p:cNvSpPr>
          <p:nvPr>
            <p:ph type="sldNum" sz="quarter" idx="5"/>
          </p:nvPr>
        </p:nvSpPr>
        <p:spPr/>
        <p:txBody>
          <a:bodyPr/>
          <a:lstStyle/>
          <a:p>
            <a:fld id="{F615DDFD-030C-4D5A-B33E-3A7E7538D2BE}" type="slidenum">
              <a:rPr lang="de-CH" smtClean="0"/>
              <a:t>30</a:t>
            </a:fld>
            <a:endParaRPr lang="de-CH"/>
          </a:p>
        </p:txBody>
      </p:sp>
    </p:spTree>
    <p:extLst>
      <p:ext uri="{BB962C8B-B14F-4D97-AF65-F5344CB8AC3E}">
        <p14:creationId xmlns:p14="http://schemas.microsoft.com/office/powerpoint/2010/main" val="15975641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8C5EB-AA13-E8C0-FC83-EBBF19F437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E7E53-397B-025F-03F1-8C78EF8A44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051973-DCCA-03EA-0357-6D29E41D0E86}"/>
              </a:ext>
            </a:extLst>
          </p:cNvPr>
          <p:cNvSpPr>
            <a:spLocks noGrp="1"/>
          </p:cNvSpPr>
          <p:nvPr>
            <p:ph type="body" idx="1"/>
          </p:nvPr>
        </p:nvSpPr>
        <p:spPr/>
        <p:txBody>
          <a:bodyPr/>
          <a:lstStyle/>
          <a:p>
            <a:pPr marL="0" indent="0">
              <a:buFont typeface="Arial" panose="020B0604020202020204" pitchFamily="34" charset="0"/>
              <a:buNone/>
            </a:pPr>
            <a:endParaRPr lang="en-CH"/>
          </a:p>
        </p:txBody>
      </p:sp>
      <p:sp>
        <p:nvSpPr>
          <p:cNvPr id="4" name="Slide Number Placeholder 3">
            <a:extLst>
              <a:ext uri="{FF2B5EF4-FFF2-40B4-BE49-F238E27FC236}">
                <a16:creationId xmlns:a16="http://schemas.microsoft.com/office/drawing/2014/main" id="{2AC00D2A-98D8-8387-98DA-B264876B1D74}"/>
              </a:ext>
            </a:extLst>
          </p:cNvPr>
          <p:cNvSpPr>
            <a:spLocks noGrp="1"/>
          </p:cNvSpPr>
          <p:nvPr>
            <p:ph type="sldNum" sz="quarter" idx="5"/>
          </p:nvPr>
        </p:nvSpPr>
        <p:spPr/>
        <p:txBody>
          <a:bodyPr/>
          <a:lstStyle/>
          <a:p>
            <a:fld id="{F615DDFD-030C-4D5A-B33E-3A7E7538D2BE}" type="slidenum">
              <a:rPr lang="de-CH" smtClean="0"/>
              <a:t>32</a:t>
            </a:fld>
            <a:endParaRPr lang="de-CH"/>
          </a:p>
        </p:txBody>
      </p:sp>
    </p:spTree>
    <p:extLst>
      <p:ext uri="{BB962C8B-B14F-4D97-AF65-F5344CB8AC3E}">
        <p14:creationId xmlns:p14="http://schemas.microsoft.com/office/powerpoint/2010/main" val="37736879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5CC39-737E-519F-6A43-07DD4A418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C39ADD-CE5D-17AC-7DFC-572400B28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766A33-4A8F-C372-3FA9-43DA832E54FD}"/>
              </a:ext>
            </a:extLst>
          </p:cNvPr>
          <p:cNvSpPr>
            <a:spLocks noGrp="1"/>
          </p:cNvSpPr>
          <p:nvPr>
            <p:ph type="body" idx="1"/>
          </p:nvPr>
        </p:nvSpPr>
        <p:spPr/>
        <p:txBody>
          <a:bodyPr/>
          <a:lstStyle/>
          <a:p>
            <a:endParaRPr lang="en-CH"/>
          </a:p>
        </p:txBody>
      </p:sp>
      <p:sp>
        <p:nvSpPr>
          <p:cNvPr id="4" name="Slide Number Placeholder 3">
            <a:extLst>
              <a:ext uri="{FF2B5EF4-FFF2-40B4-BE49-F238E27FC236}">
                <a16:creationId xmlns:a16="http://schemas.microsoft.com/office/drawing/2014/main" id="{B23D506E-76D5-FC56-D3A7-7F4CC14AA53A}"/>
              </a:ext>
            </a:extLst>
          </p:cNvPr>
          <p:cNvSpPr>
            <a:spLocks noGrp="1"/>
          </p:cNvSpPr>
          <p:nvPr>
            <p:ph type="sldNum" sz="quarter" idx="5"/>
          </p:nvPr>
        </p:nvSpPr>
        <p:spPr/>
        <p:txBody>
          <a:bodyPr/>
          <a:lstStyle/>
          <a:p>
            <a:fld id="{F615DDFD-030C-4D5A-B33E-3A7E7538D2BE}" type="slidenum">
              <a:rPr lang="de-CH" smtClean="0"/>
              <a:t>33</a:t>
            </a:fld>
            <a:endParaRPr lang="de-CH"/>
          </a:p>
        </p:txBody>
      </p:sp>
    </p:spTree>
    <p:extLst>
      <p:ext uri="{BB962C8B-B14F-4D97-AF65-F5344CB8AC3E}">
        <p14:creationId xmlns:p14="http://schemas.microsoft.com/office/powerpoint/2010/main" val="28739250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E8BC0-7A35-5F01-02C3-43CC5793A9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2E7792-BBC5-2A65-63CE-3EDA79AF2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FEA02D-D479-E40F-6233-60571064495E}"/>
              </a:ext>
            </a:extLst>
          </p:cNvPr>
          <p:cNvSpPr>
            <a:spLocks noGrp="1"/>
          </p:cNvSpPr>
          <p:nvPr>
            <p:ph type="body" idx="1"/>
          </p:nvPr>
        </p:nvSpPr>
        <p:spPr/>
        <p:txBody>
          <a:bodyPr/>
          <a:lstStyle/>
          <a:p>
            <a:endParaRPr lang="en-CH"/>
          </a:p>
        </p:txBody>
      </p:sp>
      <p:sp>
        <p:nvSpPr>
          <p:cNvPr id="4" name="Slide Number Placeholder 3">
            <a:extLst>
              <a:ext uri="{FF2B5EF4-FFF2-40B4-BE49-F238E27FC236}">
                <a16:creationId xmlns:a16="http://schemas.microsoft.com/office/drawing/2014/main" id="{03837EC4-9CEA-9234-41AA-0D0E38D7DA20}"/>
              </a:ext>
            </a:extLst>
          </p:cNvPr>
          <p:cNvSpPr>
            <a:spLocks noGrp="1"/>
          </p:cNvSpPr>
          <p:nvPr>
            <p:ph type="sldNum" sz="quarter" idx="5"/>
          </p:nvPr>
        </p:nvSpPr>
        <p:spPr/>
        <p:txBody>
          <a:bodyPr/>
          <a:lstStyle/>
          <a:p>
            <a:fld id="{F615DDFD-030C-4D5A-B33E-3A7E7538D2BE}" type="slidenum">
              <a:rPr lang="de-CH" smtClean="0"/>
              <a:t>34</a:t>
            </a:fld>
            <a:endParaRPr lang="de-CH"/>
          </a:p>
        </p:txBody>
      </p:sp>
    </p:spTree>
    <p:extLst>
      <p:ext uri="{BB962C8B-B14F-4D97-AF65-F5344CB8AC3E}">
        <p14:creationId xmlns:p14="http://schemas.microsoft.com/office/powerpoint/2010/main" val="16110474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8BED6-8E39-4C89-3ED2-50BE74BEE6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7D36B8-F50D-C1B1-74AB-AEABF9C4E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E54DB-0C0B-287E-9F60-AA470923E5F4}"/>
              </a:ext>
            </a:extLst>
          </p:cNvPr>
          <p:cNvSpPr>
            <a:spLocks noGrp="1"/>
          </p:cNvSpPr>
          <p:nvPr>
            <p:ph type="body" idx="1"/>
          </p:nvPr>
        </p:nvSpPr>
        <p:spPr/>
        <p:txBody>
          <a:bodyPr/>
          <a:lstStyle/>
          <a:p>
            <a:endParaRPr lang="en-CH"/>
          </a:p>
        </p:txBody>
      </p:sp>
      <p:sp>
        <p:nvSpPr>
          <p:cNvPr id="4" name="Slide Number Placeholder 3">
            <a:extLst>
              <a:ext uri="{FF2B5EF4-FFF2-40B4-BE49-F238E27FC236}">
                <a16:creationId xmlns:a16="http://schemas.microsoft.com/office/drawing/2014/main" id="{53C3E597-2207-5389-E17B-7407F266F246}"/>
              </a:ext>
            </a:extLst>
          </p:cNvPr>
          <p:cNvSpPr>
            <a:spLocks noGrp="1"/>
          </p:cNvSpPr>
          <p:nvPr>
            <p:ph type="sldNum" sz="quarter" idx="5"/>
          </p:nvPr>
        </p:nvSpPr>
        <p:spPr/>
        <p:txBody>
          <a:bodyPr/>
          <a:lstStyle/>
          <a:p>
            <a:fld id="{F615DDFD-030C-4D5A-B33E-3A7E7538D2BE}" type="slidenum">
              <a:rPr lang="de-CH" smtClean="0"/>
              <a:t>37</a:t>
            </a:fld>
            <a:endParaRPr lang="de-CH"/>
          </a:p>
        </p:txBody>
      </p:sp>
    </p:spTree>
    <p:extLst>
      <p:ext uri="{BB962C8B-B14F-4D97-AF65-F5344CB8AC3E}">
        <p14:creationId xmlns:p14="http://schemas.microsoft.com/office/powerpoint/2010/main" val="15074843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771A2-1FBB-7F8A-1FFC-892C274AF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3E754-E26A-CD12-B9AE-78ACACA2A34A}"/>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7FE2CB1-FFDE-751B-17A1-97C13F3FB3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CH"/>
              </a:p>
              <a:p>
                <a:r>
                  <a:rPr lang="en-GB"/>
                  <a:t>A GP is specified by a </a:t>
                </a:r>
                <a:r>
                  <a:rPr lang="en-GB" b="1"/>
                  <a:t>mean function</a:t>
                </a:r>
                <a:r>
                  <a:rPr lang="en-GB"/>
                  <a:t>, which is our best guess, and here we just use zero,</a:t>
                </a:r>
              </a:p>
              <a:p>
                <a:endParaRPr lang="en-GB"/>
              </a:p>
              <a:p>
                <a:r>
                  <a:rPr lang="en-GB"/>
                  <a:t>and a </a:t>
                </a:r>
                <a:r>
                  <a:rPr lang="en-GB" b="1"/>
                  <a:t>kernel</a:t>
                </a:r>
                <a:r>
                  <a:rPr lang="en-GB"/>
                  <a:t> which determines how smooth the functions are and how correlated nearby points should be.</a:t>
                </a:r>
              </a:p>
              <a:p>
                <a:endParaRPr lang="en-GB"/>
              </a:p>
              <a:p>
                <a:r>
                  <a:rPr lang="en-GB"/>
                  <a:t>After we observe data , here we have these two observations, we can compute the </a:t>
                </a:r>
                <a:r>
                  <a:rPr lang="en-GB" b="1"/>
                  <a:t>posterior predictive distribution</a:t>
                </a:r>
                <a:r>
                  <a:rPr lang="en-GB" b="0"/>
                  <a:t>, so the </a:t>
                </a:r>
                <a:r>
                  <a:rPr lang="en-GB"/>
                  <a:t>orange shaded region showing our uncertainty. </a:t>
                </a:r>
              </a:p>
              <a:p>
                <a:endParaRPr lang="en-GB"/>
              </a:p>
              <a:p>
                <a:r>
                  <a:rPr lang="en-GB"/>
                  <a:t>For fixed hyperparameters, the PPD is </a:t>
                </a:r>
                <a:r>
                  <a:rPr lang="en-GB" b="1"/>
                  <a:t>tractable</a:t>
                </a:r>
                <a:r>
                  <a:rPr lang="en-GB" b="0"/>
                  <a:t>, so </a:t>
                </a:r>
                <a:r>
                  <a:rPr lang="en-GB"/>
                  <a:t>it has a closed form. </a:t>
                </a:r>
              </a:p>
              <a:p>
                <a:r>
                  <a:rPr lang="en-GB"/>
                  <a:t>But it's </a:t>
                </a:r>
                <a:r>
                  <a:rPr lang="en-GB" b="1"/>
                  <a:t>computationally expensive</a:t>
                </a:r>
                <a:r>
                  <a:rPr lang="en-GB"/>
                  <a:t>, especially for large datasets, because it involves inverting this nxn kernel matrix.</a:t>
                </a:r>
              </a:p>
              <a:p>
                <a:endParaRPr lang="en-CH"/>
              </a:p>
            </p:txBody>
          </p:sp>
        </mc:Choice>
        <mc:Fallback xmlns="">
          <p:sp>
            <p:nvSpPr>
              <p:cNvPr id="3" name="Notes Placeholder 2">
                <a:extLst>
                  <a:ext uri="{FF2B5EF4-FFF2-40B4-BE49-F238E27FC236}">
                    <a16:creationId xmlns:a16="http://schemas.microsoft.com/office/drawing/2014/main" id="{F7FE2CB1-FFDE-751B-17A1-97C13F3FB3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What’s nice about Bayesian inference methods is that they have this baked in uncertainty estimation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One classic Bayesian method that outputs uncertainty estimation are Gaussian Processes.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GPs are probablity distributions over functions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And they’re described by a mean vector and a kernel matrix</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So the kernel describes how correlated the function values are at two input points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And after seeing some data, we can update the prior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The nice thing is that, for fixed hyperparameters, the PPD is tractable, so we can compute it exactly.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And later we will see that this comes in handy if we want to compare the performance of the prior-fitted network against the ground truth.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But GPs tend to be computationally expensive since it involved inverting the kernel matrix</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		</a:t>
                </a:r>
              </a:p>
              <a:p>
                <a:endParaRPr lang="en-GB"/>
              </a:p>
              <a:p>
                <a:r>
                  <a:rPr lang="en-GB"/>
                  <a:t>the kernel </a:t>
                </a:r>
                <a:r>
                  <a:rPr lang="en-GB" sz="1200" i="0" kern="1200">
                    <a:solidFill>
                      <a:schemeClr val="tx1"/>
                    </a:solidFill>
                    <a:latin typeface="+mn-lt"/>
                    <a:ea typeface="+mn-ea"/>
                    <a:cs typeface="+mn-cs"/>
                  </a:rPr>
                  <a:t>𝑘</a:t>
                </a:r>
                <a:r>
                  <a:rPr lang="en-GB"/>
                  <a:t>encodes how correlated function values should be at two inputs. Bigger </a:t>
                </a:r>
                <a:r>
                  <a:rPr lang="en-GB" sz="1200" i="0" kern="1200">
                    <a:solidFill>
                      <a:schemeClr val="tx1"/>
                    </a:solidFill>
                    <a:latin typeface="+mn-lt"/>
                    <a:ea typeface="+mn-ea"/>
                    <a:cs typeface="+mn-cs"/>
                  </a:rPr>
                  <a:t>𝑘</a:t>
                </a:r>
                <a:r>
                  <a:rPr lang="ar-AE" sz="1200" i="0" kern="1200">
                    <a:solidFill>
                      <a:schemeClr val="tx1"/>
                    </a:solidFill>
                    <a:latin typeface="+mn-lt"/>
                    <a:ea typeface="+mn-ea"/>
                    <a:cs typeface="+mn-cs"/>
                  </a:rPr>
                  <a:t>(𝑥_𝑖ⓜ,𝑥_𝑗 )</a:t>
                </a:r>
                <a:r>
                  <a:rPr lang="en-GB"/>
                  <a:t>means </a:t>
                </a:r>
                <a:r>
                  <a:rPr lang="en-GB" sz="1200" i="0" kern="1200">
                    <a:solidFill>
                      <a:schemeClr val="tx1"/>
                    </a:solidFill>
                    <a:latin typeface="+mn-lt"/>
                    <a:ea typeface="+mn-ea"/>
                    <a:cs typeface="+mn-cs"/>
                  </a:rPr>
                  <a:t>𝑓</a:t>
                </a:r>
                <a:r>
                  <a:rPr lang="ar-AE" sz="1200" i="0" kern="1200">
                    <a:solidFill>
                      <a:schemeClr val="tx1"/>
                    </a:solidFill>
                    <a:latin typeface="+mn-lt"/>
                    <a:ea typeface="+mn-ea"/>
                    <a:cs typeface="+mn-cs"/>
                  </a:rPr>
                  <a:t>(𝑥_𝑖 )</a:t>
                </a:r>
                <a:r>
                  <a:rPr lang="en-GB"/>
                  <a:t>and </a:t>
                </a:r>
                <a:r>
                  <a:rPr lang="en-GB" sz="1200" i="0" kern="1200">
                    <a:solidFill>
                      <a:schemeClr val="tx1"/>
                    </a:solidFill>
                    <a:latin typeface="+mn-lt"/>
                    <a:ea typeface="+mn-ea"/>
                    <a:cs typeface="+mn-cs"/>
                  </a:rPr>
                  <a:t>𝑓</a:t>
                </a:r>
                <a:r>
                  <a:rPr lang="ar-AE" sz="1200" i="0" kern="1200">
                    <a:solidFill>
                      <a:schemeClr val="tx1"/>
                    </a:solidFill>
                    <a:latin typeface="+mn-lt"/>
                    <a:ea typeface="+mn-ea"/>
                    <a:cs typeface="+mn-cs"/>
                  </a:rPr>
                  <a:t>(𝑥_𝑗 )</a:t>
                </a:r>
                <a:r>
                  <a:rPr lang="en-GB"/>
                  <a:t>tend to be similar.</a:t>
                </a:r>
              </a:p>
              <a:p>
                <a:r>
                  <a:rPr lang="en-GB" sz="1200" b="0" i="0" kern="1200">
                    <a:solidFill>
                      <a:schemeClr val="tx1"/>
                    </a:solidFill>
                    <a:effectLst/>
                    <a:latin typeface="+mn-lt"/>
                    <a:ea typeface="+mn-ea"/>
                    <a:cs typeface="+mn-cs"/>
                  </a:rPr>
                  <a:t>The lines we sample from this </a:t>
                </a:r>
                <a:r>
                  <a:rPr lang="en-GB" sz="1200" b="0" i="0" u="none" strike="noStrike" kern="1200">
                    <a:solidFill>
                      <a:schemeClr val="tx1"/>
                    </a:solidFill>
                    <a:effectLst/>
                    <a:latin typeface="+mn-lt"/>
                    <a:ea typeface="+mn-ea"/>
                    <a:cs typeface="+mn-cs"/>
                  </a:rPr>
                  <a:t>GP</a:t>
                </a:r>
                <a:r>
                  <a:rPr lang="en-GB" sz="1200" b="0" i="0" kern="1200">
                    <a:solidFill>
                      <a:schemeClr val="tx1"/>
                    </a:solidFill>
                    <a:effectLst/>
                    <a:latin typeface="+mn-lt"/>
                    <a:ea typeface="+mn-ea"/>
                    <a:cs typeface="+mn-cs"/>
                  </a:rPr>
                  <a:t> are most likely to live in that shaded area.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RBF kernel: The closer x and x’, the more correlated f(x) and f(x’).</a:t>
                </a:r>
              </a:p>
              <a:p>
                <a:endParaRPr lang="en-GB"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To sample: Draw x’s , calculate kernel K, draw f(x) from N(0, 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H"/>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a:solidFill>
                      <a:schemeClr val="tx1"/>
                    </a:solidFill>
                    <a:effectLst/>
                    <a:latin typeface="+mn-lt"/>
                    <a:ea typeface="+mn-ea"/>
                    <a:cs typeface="+mn-cs"/>
                  </a:rPr>
                  <a:t>Given target inputs </a:t>
                </a:r>
                <a:r>
                  <a:rPr lang="en-GB" sz="1200" b="1" i="0" u="none" strike="noStrike" kern="1200">
                    <a:solidFill>
                      <a:schemeClr val="tx1"/>
                    </a:solidFill>
                    <a:effectLst/>
                    <a:latin typeface="+mn-lt"/>
                    <a:ea typeface="+mn-ea"/>
                    <a:cs typeface="+mn-cs"/>
                  </a:rPr>
                  <a:t>𝐱</a:t>
                </a:r>
                <a:r>
                  <a:rPr lang="en-GB" sz="1200" b="0" i="0" u="none" strike="noStrike" kern="1200">
                    <a:solidFill>
                      <a:schemeClr val="tx1"/>
                    </a:solidFill>
                    <a:effectLst/>
                    <a:latin typeface="+mn-lt"/>
                    <a:ea typeface="+mn-ea"/>
                    <a:cs typeface="+mn-cs"/>
                  </a:rPr>
                  <a:t></a:t>
                </a:r>
                <a:r>
                  <a:rPr lang="en-GB" sz="1200" b="0" i="0" kern="1200">
                    <a:solidFill>
                      <a:schemeClr val="tx1"/>
                    </a:solidFill>
                    <a:effectLst/>
                    <a:latin typeface="+mn-lt"/>
                    <a:ea typeface="+mn-ea"/>
                    <a:cs typeface="+mn-cs"/>
                  </a:rPr>
                  <a:t>, what we need is not a single prediction </a:t>
                </a:r>
                <a:r>
                  <a:rPr lang="en-GB" sz="1200" b="0" i="0" u="none" strike="noStrike" kern="1200">
                    <a:solidFill>
                      <a:schemeClr val="tx1"/>
                    </a:solidFill>
                    <a:effectLst/>
                    <a:latin typeface="+mn-lt"/>
                    <a:ea typeface="+mn-ea"/>
                    <a:cs typeface="+mn-cs"/>
                  </a:rPr>
                  <a:t>𝑓(</a:t>
                </a:r>
                <a:r>
                  <a:rPr lang="en-GB" sz="1200" b="1" i="0" u="none" strike="noStrike" kern="1200">
                    <a:solidFill>
                      <a:schemeClr val="tx1"/>
                    </a:solidFill>
                    <a:effectLst/>
                    <a:latin typeface="+mn-lt"/>
                    <a:ea typeface="+mn-ea"/>
                    <a:cs typeface="+mn-cs"/>
                  </a:rPr>
                  <a:t>𝐱</a:t>
                </a:r>
                <a:r>
                  <a:rPr lang="en-GB" sz="1200" b="0" i="0" u="none" strike="noStrike" kern="1200">
                    <a:solidFill>
                      <a:schemeClr val="tx1"/>
                    </a:solidFill>
                    <a:effectLst/>
                    <a:latin typeface="+mn-lt"/>
                    <a:ea typeface="+mn-ea"/>
                    <a:cs typeface="+mn-cs"/>
                  </a:rPr>
                  <a:t>;)</a:t>
                </a:r>
                <a:r>
                  <a:rPr lang="en-GB" sz="1200" b="0" i="0" kern="1200">
                    <a:solidFill>
                      <a:schemeClr val="tx1"/>
                    </a:solidFill>
                    <a:effectLst/>
                    <a:latin typeface="+mn-lt"/>
                    <a:ea typeface="+mn-ea"/>
                    <a:cs typeface="+mn-cs"/>
                  </a:rPr>
                  <a:t>, but rather a </a:t>
                </a:r>
                <a:r>
                  <a:rPr lang="en-GB" sz="1200" b="0" i="1" kern="1200">
                    <a:solidFill>
                      <a:schemeClr val="tx1"/>
                    </a:solidFill>
                    <a:effectLst/>
                    <a:latin typeface="+mn-lt"/>
                    <a:ea typeface="+mn-ea"/>
                    <a:cs typeface="+mn-cs"/>
                  </a:rPr>
                  <a:t>distribution over predictions</a:t>
                </a:r>
                <a:r>
                  <a:rPr lang="en-GB" sz="1200" b="0" i="0" kern="1200">
                    <a:solidFill>
                      <a:schemeClr val="tx1"/>
                    </a:solidFill>
                    <a:effectLst/>
                    <a:latin typeface="+mn-lt"/>
                    <a:ea typeface="+mn-ea"/>
                    <a:cs typeface="+mn-cs"/>
                  </a:rPr>
                  <a:t> </a:t>
                </a:r>
                <a:r>
                  <a:rPr lang="en-GB" sz="1200" b="0" i="0" u="none" strike="noStrike" kern="1200">
                    <a:solidFill>
                      <a:schemeClr val="tx1"/>
                    </a:solidFill>
                    <a:effectLst/>
                    <a:latin typeface="+mn-lt"/>
                    <a:ea typeface="+mn-ea"/>
                    <a:cs typeface="+mn-cs"/>
                  </a:rPr>
                  <a:t>𝑝(</a:t>
                </a:r>
                <a:r>
                  <a:rPr lang="en-GB" sz="1200" b="1" i="0" u="none" strike="noStrike" kern="1200">
                    <a:solidFill>
                      <a:schemeClr val="tx1"/>
                    </a:solidFill>
                    <a:effectLst/>
                    <a:latin typeface="+mn-lt"/>
                    <a:ea typeface="+mn-ea"/>
                    <a:cs typeface="+mn-cs"/>
                  </a:rPr>
                  <a:t>𝐲</a:t>
                </a:r>
                <a:r>
                  <a:rPr lang="en-GB" sz="1200" b="0" i="0" u="none" strike="noStrike" kern="1200">
                    <a:solidFill>
                      <a:schemeClr val="tx1"/>
                    </a:solidFill>
                    <a:effectLst/>
                    <a:latin typeface="+mn-lt"/>
                    <a:ea typeface="+mn-ea"/>
                    <a:cs typeface="+mn-cs"/>
                  </a:rPr>
                  <a:t>|</a:t>
                </a:r>
                <a:r>
                  <a:rPr lang="en-GB" sz="1200" b="1" i="0" u="none" strike="noStrike" kern="1200">
                    <a:solidFill>
                      <a:schemeClr val="tx1"/>
                    </a:solidFill>
                    <a:effectLst/>
                    <a:latin typeface="+mn-lt"/>
                    <a:ea typeface="+mn-ea"/>
                    <a:cs typeface="+mn-cs"/>
                  </a:rPr>
                  <a:t>𝐱</a:t>
                </a:r>
                <a:r>
                  <a:rPr lang="en-GB" sz="1200" b="0" i="0" u="none" strike="noStrike" kern="1200">
                    <a:solidFill>
                      <a:schemeClr val="tx1"/>
                    </a:solidFill>
                    <a:effectLst/>
                    <a:latin typeface="+mn-lt"/>
                    <a:ea typeface="+mn-ea"/>
                    <a:cs typeface="+mn-cs"/>
                  </a:rPr>
                  <a:t>;)</a:t>
                </a:r>
                <a:r>
                  <a:rPr lang="en-GB" sz="1200" b="0" i="0" kern="1200">
                    <a:solidFill>
                      <a:schemeClr val="tx1"/>
                    </a:solidFill>
                    <a:effectLst/>
                    <a:latin typeface="+mn-lt"/>
                    <a:ea typeface="+mn-ea"/>
                    <a:cs typeface="+mn-cs"/>
                  </a:rPr>
                  <a:t>. As long as these distributions are consistent with each other for different choices of </a:t>
                </a:r>
                <a:r>
                  <a:rPr lang="en-GB" sz="1200" b="1" i="0" u="none" strike="noStrike" kern="1200">
                    <a:solidFill>
                      <a:schemeClr val="tx1"/>
                    </a:solidFill>
                    <a:effectLst/>
                    <a:latin typeface="+mn-lt"/>
                    <a:ea typeface="+mn-ea"/>
                    <a:cs typeface="+mn-cs"/>
                  </a:rPr>
                  <a:t>𝐱</a:t>
                </a:r>
                <a:r>
                  <a:rPr lang="en-GB" sz="1200" b="0" i="0" u="none" strike="noStrike" kern="1200">
                    <a:solidFill>
                      <a:schemeClr val="tx1"/>
                    </a:solidFill>
                    <a:effectLst/>
                    <a:latin typeface="+mn-lt"/>
                    <a:ea typeface="+mn-ea"/>
                    <a:cs typeface="+mn-cs"/>
                  </a:rPr>
                  <a:t></a:t>
                </a:r>
                <a:r>
                  <a:rPr lang="en-GB" sz="1200" b="0" i="0" kern="1200">
                    <a:solidFill>
                      <a:schemeClr val="tx1"/>
                    </a:solidFill>
                    <a:effectLst/>
                    <a:latin typeface="+mn-lt"/>
                    <a:ea typeface="+mn-ea"/>
                    <a:cs typeface="+mn-cs"/>
                  </a:rPr>
                  <a:t>, this is actually equivalent to specifying a distribution over </a:t>
                </a:r>
                <a:r>
                  <a:rPr lang="en-GB" sz="1200" b="0" i="1" kern="1200">
                    <a:solidFill>
                      <a:schemeClr val="tx1"/>
                    </a:solidFill>
                    <a:effectLst/>
                    <a:latin typeface="+mn-lt"/>
                    <a:ea typeface="+mn-ea"/>
                    <a:cs typeface="+mn-cs"/>
                  </a:rPr>
                  <a:t>functions</a:t>
                </a:r>
                <a:r>
                  <a:rPr lang="en-GB" sz="1200" b="0" i="0" kern="1200">
                    <a:solidFill>
                      <a:schemeClr val="tx1"/>
                    </a:solidFill>
                    <a:effectLst/>
                    <a:latin typeface="+mn-lt"/>
                    <a:ea typeface="+mn-ea"/>
                    <a:cs typeface="+mn-cs"/>
                  </a:rPr>
                  <a:t>, </a:t>
                </a:r>
                <a:r>
                  <a:rPr lang="en-GB" sz="1200" b="0" i="0" u="none" strike="noStrike" kern="1200">
                    <a:solidFill>
                      <a:schemeClr val="tx1"/>
                    </a:solidFill>
                    <a:effectLst/>
                    <a:latin typeface="+mn-lt"/>
                    <a:ea typeface="+mn-ea"/>
                    <a:cs typeface="+mn-cs"/>
                  </a:rPr>
                  <a:t>𝑓(𝑥;)</a:t>
                </a:r>
                <a:r>
                  <a:rPr lang="en-GB" sz="1200" b="0" i="0" kern="1200">
                    <a:solidFill>
                      <a:schemeClr val="tx1"/>
                    </a:solidFill>
                    <a:effectLst/>
                    <a:latin typeface="+mn-lt"/>
                    <a:ea typeface="+mn-ea"/>
                    <a:cs typeface="+mn-cs"/>
                  </a:rPr>
                  <a:t>. In mathematics, this is known as a </a:t>
                </a:r>
                <a:r>
                  <a:rPr lang="en-GB" sz="1200" b="1" i="0" kern="1200">
                    <a:solidFill>
                      <a:schemeClr val="tx1"/>
                    </a:solidFill>
                    <a:effectLst/>
                    <a:latin typeface="+mn-lt"/>
                    <a:ea typeface="+mn-ea"/>
                    <a:cs typeface="+mn-cs"/>
                  </a:rPr>
                  <a:t>stochastic process</a:t>
                </a:r>
                <a:r>
                  <a:rPr lang="en-GB" sz="1200" b="0" i="0" kern="1200">
                    <a:solidFill>
                      <a:schemeClr val="tx1"/>
                    </a:solidFill>
                    <a:effectLst/>
                    <a:latin typeface="+mn-lt"/>
                    <a:ea typeface="+mn-ea"/>
                    <a:cs typeface="+mn-cs"/>
                  </a:rPr>
                  <a:t> (SP). Each predictor sampled from this distribution would represent a plausible interpolation of the data, and the diversity of the samples would reflect the </a:t>
                </a:r>
                <a:r>
                  <a:rPr lang="en-GB" sz="1200" b="0" i="1" kern="1200">
                    <a:solidFill>
                      <a:schemeClr val="tx1"/>
                    </a:solidFill>
                    <a:effectLst/>
                    <a:latin typeface="+mn-lt"/>
                    <a:ea typeface="+mn-ea"/>
                    <a:cs typeface="+mn-cs"/>
                  </a:rPr>
                  <a:t>uncertainty</a:t>
                </a:r>
                <a:r>
                  <a:rPr lang="en-GB" sz="1200" b="0" i="0" kern="1200">
                    <a:solidFill>
                      <a:schemeClr val="tx1"/>
                    </a:solidFill>
                    <a:effectLst/>
                    <a:latin typeface="+mn-lt"/>
                    <a:ea typeface="+mn-ea"/>
                    <a:cs typeface="+mn-cs"/>
                  </a:rPr>
                  <a:t> in our predictions</a:t>
                </a:r>
                <a:endParaRPr lang="en-CH"/>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a:solidFill>
                    <a:schemeClr val="tx1"/>
                  </a:solidFill>
                  <a:effectLst/>
                  <a:latin typeface="+mn-lt"/>
                  <a:ea typeface="+mn-ea"/>
                  <a:cs typeface="+mn-cs"/>
                </a:endParaRPr>
              </a:p>
              <a:p>
                <a:endParaRPr lang="en-CH"/>
              </a:p>
            </p:txBody>
          </p:sp>
        </mc:Fallback>
      </mc:AlternateContent>
      <p:sp>
        <p:nvSpPr>
          <p:cNvPr id="4" name="Slide Number Placeholder 3">
            <a:extLst>
              <a:ext uri="{FF2B5EF4-FFF2-40B4-BE49-F238E27FC236}">
                <a16:creationId xmlns:a16="http://schemas.microsoft.com/office/drawing/2014/main" id="{D630A947-BD1F-A970-80C4-3B6DF9E78AF0}"/>
              </a:ext>
            </a:extLst>
          </p:cNvPr>
          <p:cNvSpPr>
            <a:spLocks noGrp="1"/>
          </p:cNvSpPr>
          <p:nvPr>
            <p:ph type="sldNum" sz="quarter" idx="5"/>
          </p:nvPr>
        </p:nvSpPr>
        <p:spPr/>
        <p:txBody>
          <a:bodyPr/>
          <a:lstStyle/>
          <a:p>
            <a:fld id="{F615DDFD-030C-4D5A-B33E-3A7E7538D2BE}" type="slidenum">
              <a:rPr lang="de-CH" smtClean="0"/>
              <a:t>38</a:t>
            </a:fld>
            <a:endParaRPr lang="de-CH"/>
          </a:p>
        </p:txBody>
      </p:sp>
    </p:spTree>
    <p:extLst>
      <p:ext uri="{BB962C8B-B14F-4D97-AF65-F5344CB8AC3E}">
        <p14:creationId xmlns:p14="http://schemas.microsoft.com/office/powerpoint/2010/main" val="19871679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F615DDFD-030C-4D5A-B33E-3A7E7538D2BE}" type="slidenum">
              <a:rPr lang="de-CH" smtClean="0"/>
              <a:t>40</a:t>
            </a:fld>
            <a:endParaRPr lang="de-CH"/>
          </a:p>
        </p:txBody>
      </p:sp>
    </p:spTree>
    <p:extLst>
      <p:ext uri="{BB962C8B-B14F-4D97-AF65-F5344CB8AC3E}">
        <p14:creationId xmlns:p14="http://schemas.microsoft.com/office/powerpoint/2010/main" val="20208774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01">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731838" y="1016000"/>
            <a:ext cx="10728325" cy="5256000"/>
          </a:xfrm>
        </p:spPr>
        <p:txBody>
          <a:bodyPr lIns="5580000" tIns="0" rIns="0" anchor="ctr" anchorCtr="0"/>
          <a:lstStyle>
            <a:lvl1pPr marL="0" indent="0" algn="ctr">
              <a:buNone/>
              <a:defRPr/>
            </a:lvl1pPr>
          </a:lstStyle>
          <a:p>
            <a:r>
              <a:rPr lang="en-GB" noProof="0"/>
              <a:t>Click icon to add picture</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2772000"/>
          </a:xfrm>
          <a:solidFill>
            <a:schemeClr val="accent1"/>
          </a:solidFill>
        </p:spPr>
        <p:txBody>
          <a:bodyPr lIns="1080000" tIns="252000" anchor="t" anchorCtr="0"/>
          <a:lstStyle>
            <a:lvl1pPr algn="l">
              <a:lnSpc>
                <a:spcPct val="100000"/>
              </a:lnSpc>
              <a:defRPr sz="3600">
                <a:solidFill>
                  <a:schemeClr val="bg1"/>
                </a:solidFill>
              </a:defRPr>
            </a:lvl1pPr>
          </a:lstStyle>
          <a:p>
            <a:r>
              <a:rPr lang="en-GB" noProof="0"/>
              <a:t>Click to edit Master title style</a:t>
            </a:r>
            <a:endParaRPr lang="de-CH" noProof="0" dirty="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
        <p:nvSpPr>
          <p:cNvPr id="9" name="Bildplatzhalter 8">
            <a:extLst>
              <a:ext uri="{FF2B5EF4-FFF2-40B4-BE49-F238E27FC236}">
                <a16:creationId xmlns:a16="http://schemas.microsoft.com/office/drawing/2014/main" id="{C3C296D1-2CD0-479F-A866-6EC741D2293B}"/>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GB" noProof="0"/>
              <a:t>Click icon to add picture</a:t>
            </a:r>
            <a:endParaRPr lang="de-CH" noProof="0"/>
          </a:p>
        </p:txBody>
      </p:sp>
      <p:sp>
        <p:nvSpPr>
          <p:cNvPr id="4" name="Textplatzhalter 3">
            <a:extLst>
              <a:ext uri="{FF2B5EF4-FFF2-40B4-BE49-F238E27FC236}">
                <a16:creationId xmlns:a16="http://schemas.microsoft.com/office/drawing/2014/main" id="{EE41BE31-9613-4103-99FF-7DCFF643B329}"/>
              </a:ext>
            </a:extLst>
          </p:cNvPr>
          <p:cNvSpPr>
            <a:spLocks noGrp="1"/>
          </p:cNvSpPr>
          <p:nvPr>
            <p:ph type="body" sz="quarter" idx="13"/>
          </p:nvPr>
        </p:nvSpPr>
        <p:spPr>
          <a:xfrm>
            <a:off x="1078516" y="3860495"/>
            <a:ext cx="468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GB" noProof="0"/>
              <a:t>Click to edit Master text styles</a:t>
            </a:r>
          </a:p>
        </p:txBody>
      </p:sp>
      <p:sp>
        <p:nvSpPr>
          <p:cNvPr id="6" name="Textplatzhalter 5">
            <a:extLst>
              <a:ext uri="{FF2B5EF4-FFF2-40B4-BE49-F238E27FC236}">
                <a16:creationId xmlns:a16="http://schemas.microsoft.com/office/drawing/2014/main" id="{EDEB298C-798E-4D73-9DD6-F896C06530C1}"/>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4293381049"/>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640" userDrawn="1">
          <p15:clr>
            <a:srgbClr val="FBAE40"/>
          </p15:clr>
        </p15:guide>
        <p15:guide id="4" orient="horz" pos="3952" userDrawn="1">
          <p15:clr>
            <a:srgbClr val="FBAE40"/>
          </p15:clr>
        </p15:guide>
        <p15:guide id="5" pos="61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02">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8A01615F-450E-43D0-B554-DA3FBD48DF34}"/>
              </a:ext>
            </a:extLst>
          </p:cNvPr>
          <p:cNvSpPr>
            <a:spLocks noGrp="1"/>
          </p:cNvSpPr>
          <p:nvPr>
            <p:ph type="pic" sz="quarter" idx="11"/>
          </p:nvPr>
        </p:nvSpPr>
        <p:spPr>
          <a:xfrm>
            <a:off x="731838" y="1016000"/>
            <a:ext cx="10728325" cy="5256000"/>
          </a:xfrm>
        </p:spPr>
        <p:txBody>
          <a:bodyPr lIns="0" tIns="0" rIns="5580000" anchor="ctr" anchorCtr="0"/>
          <a:lstStyle>
            <a:lvl1pPr marL="0" indent="0" algn="ctr">
              <a:buNone/>
              <a:defRPr/>
            </a:lvl1pPr>
          </a:lstStyle>
          <a:p>
            <a:r>
              <a:rPr lang="en-GB" noProof="0"/>
              <a:t>Click icon to add picture</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6504000" y="2957494"/>
            <a:ext cx="5688000" cy="2268000"/>
          </a:xfrm>
          <a:solidFill>
            <a:schemeClr val="accent6"/>
          </a:solidFill>
        </p:spPr>
        <p:txBody>
          <a:bodyPr lIns="324000" tIns="252000" anchor="t" anchorCtr="0"/>
          <a:lstStyle>
            <a:lvl1pPr algn="l">
              <a:lnSpc>
                <a:spcPct val="100000"/>
              </a:lnSpc>
              <a:defRPr sz="3600">
                <a:solidFill>
                  <a:schemeClr val="bg1"/>
                </a:solidFill>
              </a:defRPr>
            </a:lvl1pPr>
          </a:lstStyle>
          <a:p>
            <a:r>
              <a:rPr lang="en-GB" noProof="0"/>
              <a:t>Click to edit Master title style</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
        <p:nvSpPr>
          <p:cNvPr id="9" name="Textplatzhalter 3">
            <a:extLst>
              <a:ext uri="{FF2B5EF4-FFF2-40B4-BE49-F238E27FC236}">
                <a16:creationId xmlns:a16="http://schemas.microsoft.com/office/drawing/2014/main" id="{003A487C-8977-4264-A8A1-D6C1DB604682}"/>
              </a:ext>
            </a:extLst>
          </p:cNvPr>
          <p:cNvSpPr>
            <a:spLocks noGrp="1"/>
          </p:cNvSpPr>
          <p:nvPr>
            <p:ph type="body" sz="quarter" idx="13"/>
          </p:nvPr>
        </p:nvSpPr>
        <p:spPr>
          <a:xfrm>
            <a:off x="6845210" y="4639666"/>
            <a:ext cx="4320000" cy="46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GB" noProof="0"/>
              <a:t>Click to edit Master text styles</a:t>
            </a:r>
          </a:p>
        </p:txBody>
      </p:sp>
      <p:sp>
        <p:nvSpPr>
          <p:cNvPr id="13" name="Bildplatzhalter 8">
            <a:extLst>
              <a:ext uri="{FF2B5EF4-FFF2-40B4-BE49-F238E27FC236}">
                <a16:creationId xmlns:a16="http://schemas.microsoft.com/office/drawing/2014/main" id="{E91D3734-CD8F-4F94-A813-570EF31C4732}"/>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GB" noProof="0"/>
              <a:t>Click icon to add picture</a:t>
            </a:r>
            <a:endParaRPr lang="de-CH" noProof="0"/>
          </a:p>
        </p:txBody>
      </p:sp>
      <p:sp>
        <p:nvSpPr>
          <p:cNvPr id="8" name="Textplatzhalter 5">
            <a:extLst>
              <a:ext uri="{FF2B5EF4-FFF2-40B4-BE49-F238E27FC236}">
                <a16:creationId xmlns:a16="http://schemas.microsoft.com/office/drawing/2014/main" id="{547D2927-4A99-4714-8EBA-F773EAA26308}"/>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100241141"/>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03">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62D94F76-218E-49F2-87F8-05982912ED18}"/>
              </a:ext>
            </a:extLst>
          </p:cNvPr>
          <p:cNvSpPr/>
          <p:nvPr userDrawn="1"/>
        </p:nvSpPr>
        <p:spPr>
          <a:xfrm>
            <a:off x="731838" y="1016000"/>
            <a:ext cx="10728325" cy="5257800"/>
          </a:xfrm>
          <a:prstGeom prst="rect">
            <a:avLst/>
          </a:prstGeom>
          <a:solidFill>
            <a:srgbClr val="8E67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1" y="1940405"/>
            <a:ext cx="10188000" cy="3420000"/>
          </a:xfrm>
          <a:solidFill>
            <a:schemeClr val="accent3"/>
          </a:solidFill>
          <a:ln>
            <a:noFill/>
          </a:ln>
        </p:spPr>
        <p:txBody>
          <a:bodyPr lIns="1080000" tIns="252000" anchor="t" anchorCtr="0"/>
          <a:lstStyle>
            <a:lvl1pPr algn="l">
              <a:lnSpc>
                <a:spcPct val="100000"/>
              </a:lnSpc>
              <a:defRPr sz="3600">
                <a:solidFill>
                  <a:schemeClr val="bg1"/>
                </a:solidFill>
              </a:defRPr>
            </a:lvl1pPr>
          </a:lstStyle>
          <a:p>
            <a:r>
              <a:rPr lang="en-GB" noProof="0"/>
              <a:t>Click to edit Master title style</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
        <p:nvSpPr>
          <p:cNvPr id="7" name="Textplatzhalter 3">
            <a:extLst>
              <a:ext uri="{FF2B5EF4-FFF2-40B4-BE49-F238E27FC236}">
                <a16:creationId xmlns:a16="http://schemas.microsoft.com/office/drawing/2014/main" id="{0503E57F-F89F-431B-8D38-7CC97B7C201A}"/>
              </a:ext>
            </a:extLst>
          </p:cNvPr>
          <p:cNvSpPr>
            <a:spLocks noGrp="1"/>
          </p:cNvSpPr>
          <p:nvPr>
            <p:ph type="body" sz="quarter" idx="13"/>
          </p:nvPr>
        </p:nvSpPr>
        <p:spPr>
          <a:xfrm>
            <a:off x="1078516" y="4217884"/>
            <a:ext cx="864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GB" noProof="0"/>
              <a:t>Click to edit Master text styles</a:t>
            </a:r>
          </a:p>
        </p:txBody>
      </p:sp>
      <p:sp>
        <p:nvSpPr>
          <p:cNvPr id="12" name="Bildplatzhalter 8">
            <a:extLst>
              <a:ext uri="{FF2B5EF4-FFF2-40B4-BE49-F238E27FC236}">
                <a16:creationId xmlns:a16="http://schemas.microsoft.com/office/drawing/2014/main" id="{1BEB6197-C509-4752-B57E-CEE955F5D926}"/>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GB" noProof="0"/>
              <a:t>Click icon to add picture</a:t>
            </a:r>
            <a:endParaRPr lang="de-CH" noProof="0"/>
          </a:p>
        </p:txBody>
      </p:sp>
      <p:sp>
        <p:nvSpPr>
          <p:cNvPr id="8" name="Textplatzhalter 5">
            <a:extLst>
              <a:ext uri="{FF2B5EF4-FFF2-40B4-BE49-F238E27FC236}">
                <a16:creationId xmlns:a16="http://schemas.microsoft.com/office/drawing/2014/main" id="{4ADF7DEC-21BD-45CA-9E91-B9F58A69F621}"/>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3924069494"/>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folie 0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731837" y="1016000"/>
            <a:ext cx="10728326" cy="5256000"/>
          </a:xfrm>
          <a:solidFill>
            <a:schemeClr val="accent6"/>
          </a:solidFill>
          <a:ln>
            <a:noFill/>
          </a:ln>
        </p:spPr>
        <p:txBody>
          <a:bodyPr lIns="324000" tIns="1152000" anchor="t" anchorCtr="0"/>
          <a:lstStyle>
            <a:lvl1pPr algn="l">
              <a:lnSpc>
                <a:spcPct val="100000"/>
              </a:lnSpc>
              <a:defRPr sz="3600">
                <a:solidFill>
                  <a:schemeClr val="bg1"/>
                </a:solidFill>
              </a:defRPr>
            </a:lvl1pPr>
          </a:lstStyle>
          <a:p>
            <a:r>
              <a:rPr lang="en-GB" noProof="0"/>
              <a:t>Click to edit Master title style</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
        <p:nvSpPr>
          <p:cNvPr id="6" name="Textplatzhalter 3">
            <a:extLst>
              <a:ext uri="{FF2B5EF4-FFF2-40B4-BE49-F238E27FC236}">
                <a16:creationId xmlns:a16="http://schemas.microsoft.com/office/drawing/2014/main" id="{5FCAD79B-EF47-46A0-9575-229F3DAA72F5}"/>
              </a:ext>
            </a:extLst>
          </p:cNvPr>
          <p:cNvSpPr>
            <a:spLocks noGrp="1"/>
          </p:cNvSpPr>
          <p:nvPr>
            <p:ph type="body" sz="quarter" idx="13"/>
          </p:nvPr>
        </p:nvSpPr>
        <p:spPr>
          <a:xfrm>
            <a:off x="1078515" y="5122625"/>
            <a:ext cx="10044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GB" noProof="0"/>
              <a:t>Click to edit Master text styles</a:t>
            </a:r>
          </a:p>
        </p:txBody>
      </p:sp>
      <p:sp>
        <p:nvSpPr>
          <p:cNvPr id="8" name="Bildplatzhalter 8">
            <a:extLst>
              <a:ext uri="{FF2B5EF4-FFF2-40B4-BE49-F238E27FC236}">
                <a16:creationId xmlns:a16="http://schemas.microsoft.com/office/drawing/2014/main" id="{72236FC6-C8FF-43C1-86B9-BF112345926F}"/>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GB" noProof="0"/>
              <a:t>Click icon to add picture</a:t>
            </a:r>
            <a:endParaRPr lang="de-CH" noProof="0"/>
          </a:p>
        </p:txBody>
      </p:sp>
      <p:sp>
        <p:nvSpPr>
          <p:cNvPr id="7" name="Textplatzhalter 5">
            <a:extLst>
              <a:ext uri="{FF2B5EF4-FFF2-40B4-BE49-F238E27FC236}">
                <a16:creationId xmlns:a16="http://schemas.microsoft.com/office/drawing/2014/main" id="{789A3267-E086-4EC3-A0BB-F8ECD01A5C7E}"/>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732532068"/>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folie 04 – Uni Zürich">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731838" y="1016000"/>
            <a:ext cx="10728325" cy="5256000"/>
          </a:xfrm>
        </p:spPr>
        <p:txBody>
          <a:bodyPr lIns="5580000" tIns="0" rIns="0" anchor="ctr" anchorCtr="0"/>
          <a:lstStyle>
            <a:lvl1pPr marL="0" indent="0" algn="ctr">
              <a:buNone/>
              <a:defRPr/>
            </a:lvl1pPr>
          </a:lstStyle>
          <a:p>
            <a:r>
              <a:rPr lang="en-GB" noProof="0"/>
              <a:t>Click icon to add picture</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2772000"/>
          </a:xfrm>
          <a:solidFill>
            <a:schemeClr val="accent2"/>
          </a:solidFill>
        </p:spPr>
        <p:txBody>
          <a:bodyPr lIns="1080000" tIns="252000" anchor="t" anchorCtr="0"/>
          <a:lstStyle>
            <a:lvl1pPr algn="l">
              <a:lnSpc>
                <a:spcPct val="100000"/>
              </a:lnSpc>
              <a:defRPr sz="3600">
                <a:solidFill>
                  <a:schemeClr val="bg1"/>
                </a:solidFill>
              </a:defRPr>
            </a:lvl1pPr>
          </a:lstStyle>
          <a:p>
            <a:r>
              <a:rPr lang="en-GB" noProof="0"/>
              <a:t>Click to edit Master title style</a:t>
            </a:r>
            <a:endParaRPr lang="de-CH" noProof="0"/>
          </a:p>
        </p:txBody>
      </p:sp>
      <p:pic>
        <p:nvPicPr>
          <p:cNvPr id="4" name="Grafik 3">
            <a:extLst>
              <a:ext uri="{FF2B5EF4-FFF2-40B4-BE49-F238E27FC236}">
                <a16:creationId xmlns:a16="http://schemas.microsoft.com/office/drawing/2014/main" id="{793E2EDD-B19F-478D-BB03-AD55EC1E86B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7672" y="228020"/>
            <a:ext cx="3679200" cy="552508"/>
          </a:xfrm>
          <a:prstGeom prst="rect">
            <a:avLst/>
          </a:prstGeom>
        </p:spPr>
      </p:pic>
      <p:sp>
        <p:nvSpPr>
          <p:cNvPr id="7" name="Textplatzhalter 3">
            <a:extLst>
              <a:ext uri="{FF2B5EF4-FFF2-40B4-BE49-F238E27FC236}">
                <a16:creationId xmlns:a16="http://schemas.microsoft.com/office/drawing/2014/main" id="{D364BCB8-820F-4C3A-BA37-7048A4C8D4C3}"/>
              </a:ext>
            </a:extLst>
          </p:cNvPr>
          <p:cNvSpPr>
            <a:spLocks noGrp="1"/>
          </p:cNvSpPr>
          <p:nvPr>
            <p:ph type="body" sz="quarter" idx="13"/>
          </p:nvPr>
        </p:nvSpPr>
        <p:spPr>
          <a:xfrm>
            <a:off x="1078516" y="3860495"/>
            <a:ext cx="468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GB" noProof="0"/>
              <a:t>Click to edit Master text styles</a:t>
            </a:r>
          </a:p>
        </p:txBody>
      </p:sp>
      <p:sp>
        <p:nvSpPr>
          <p:cNvPr id="11" name="Bildplatzhalter 8">
            <a:extLst>
              <a:ext uri="{FF2B5EF4-FFF2-40B4-BE49-F238E27FC236}">
                <a16:creationId xmlns:a16="http://schemas.microsoft.com/office/drawing/2014/main" id="{A73913C2-8DFE-4F15-B2DB-2A6D5C267009}"/>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GB" noProof="0"/>
              <a:t>Click icon to add picture</a:t>
            </a:r>
            <a:endParaRPr lang="de-CH" noProof="0"/>
          </a:p>
        </p:txBody>
      </p:sp>
      <p:sp>
        <p:nvSpPr>
          <p:cNvPr id="9" name="Textplatzhalter 5">
            <a:extLst>
              <a:ext uri="{FF2B5EF4-FFF2-40B4-BE49-F238E27FC236}">
                <a16:creationId xmlns:a16="http://schemas.microsoft.com/office/drawing/2014/main" id="{791A1AD7-DB7D-4C75-BEFB-EB6D34D3B2AB}"/>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2789257521"/>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GB"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lvl1pPr marL="539750" indent="-539750">
              <a:buFont typeface="+mj-lt"/>
              <a:buAutoNum type="arabicPeriod"/>
              <a:defRPr/>
            </a:lvl1pPr>
            <a:lvl2pPr marL="1079500" indent="-539750">
              <a:buFont typeface="+mj-lt"/>
              <a:buAutoNum type="arabicPeriod"/>
              <a:defRPr/>
            </a:lvl2pPr>
            <a:lvl3pPr marL="1612900" indent="-533400">
              <a:buFont typeface="+mj-lt"/>
              <a:buAutoNum type="arabicPeriod"/>
              <a:defRPr/>
            </a:lvl3pPr>
            <a:lvl4pPr marL="2152650" indent="-539750">
              <a:buFont typeface="+mj-lt"/>
              <a:buAutoNum type="arabicPeriod"/>
              <a:defRPr/>
            </a:lvl4pPr>
            <a:lvl5pPr marL="2692400" indent="-539750">
              <a:buFont typeface="+mj-lt"/>
              <a:buAutoNum type="arabicPeriod"/>
              <a:defRPr/>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1332D50A-E6CC-4D88-8908-F2129032F4C7}" type="datetime1">
              <a:rPr lang="de-CH" noProof="0" smtClean="0"/>
              <a:t>25.04.26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Tree>
    <p:extLst>
      <p:ext uri="{BB962C8B-B14F-4D97-AF65-F5344CB8AC3E}">
        <p14:creationId xmlns:p14="http://schemas.microsoft.com/office/powerpoint/2010/main" val="222159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GB"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11B96697-4585-4368-989A-16003D150648}" type="datetime1">
              <a:rPr lang="de-CH" noProof="0" smtClean="0"/>
              <a:t>25.04.26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Tree>
    <p:extLst>
      <p:ext uri="{BB962C8B-B14F-4D97-AF65-F5344CB8AC3E}">
        <p14:creationId xmlns:p14="http://schemas.microsoft.com/office/powerpoint/2010/main" val="1888753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 mit Fussno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GB"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7" y="1412875"/>
            <a:ext cx="10728325" cy="3960000"/>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3A01E762-278A-4155-9BEB-7C2CB2386E92}" type="datetime1">
              <a:rPr lang="de-CH" noProof="0" smtClean="0"/>
              <a:t>25.04.26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Textplatzhalter 10">
            <a:extLst>
              <a:ext uri="{FF2B5EF4-FFF2-40B4-BE49-F238E27FC236}">
                <a16:creationId xmlns:a16="http://schemas.microsoft.com/office/drawing/2014/main" id="{2F6D94FA-21C6-4AE0-AA4F-3A077810ED93}"/>
              </a:ext>
            </a:extLst>
          </p:cNvPr>
          <p:cNvSpPr>
            <a:spLocks noGrp="1"/>
          </p:cNvSpPr>
          <p:nvPr>
            <p:ph type="body" sz="quarter" idx="13"/>
          </p:nvPr>
        </p:nvSpPr>
        <p:spPr>
          <a:xfrm>
            <a:off x="731836" y="5570135"/>
            <a:ext cx="5364164" cy="721233"/>
          </a:xfrm>
        </p:spPr>
        <p:txBody>
          <a:bodyPr anchor="b" anchorCtr="0"/>
          <a:lstStyle>
            <a:lvl1pPr marL="179388" indent="-179388">
              <a:spcBef>
                <a:spcPts val="0"/>
              </a:spcBef>
              <a:buFont typeface="+mj-lt"/>
              <a:buAutoNum type="arabicPeriod"/>
              <a:defRPr sz="800"/>
            </a:lvl1pPr>
            <a:lvl2pPr marL="266700" indent="0">
              <a:buNone/>
              <a:defRPr sz="800"/>
            </a:lvl2pPr>
            <a:lvl3pPr marL="538163" indent="0">
              <a:buNone/>
              <a:defRPr sz="800"/>
            </a:lvl3pPr>
            <a:lvl4pPr marL="804862" indent="0">
              <a:buNone/>
              <a:defRPr sz="800"/>
            </a:lvl4pPr>
            <a:lvl5pPr marL="1076325" indent="0">
              <a:buNone/>
              <a:defRPr sz="800"/>
            </a:lvl5pPr>
          </a:lstStyle>
          <a:p>
            <a:pPr lvl="0"/>
            <a:r>
              <a:rPr lang="en-GB" noProof="0"/>
              <a:t>Click to edit Master text styles</a:t>
            </a:r>
          </a:p>
        </p:txBody>
      </p:sp>
    </p:spTree>
    <p:extLst>
      <p:ext uri="{BB962C8B-B14F-4D97-AF65-F5344CB8AC3E}">
        <p14:creationId xmlns:p14="http://schemas.microsoft.com/office/powerpoint/2010/main" val="426001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ischenslide">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a:xfrm>
            <a:off x="731837" y="2224781"/>
            <a:ext cx="10728325" cy="1260000"/>
          </a:xfrm>
        </p:spPr>
        <p:txBody>
          <a:bodyPr/>
          <a:lstStyle>
            <a:lvl1pPr>
              <a:lnSpc>
                <a:spcPct val="100000"/>
              </a:lnSpc>
              <a:defRPr sz="3600">
                <a:solidFill>
                  <a:schemeClr val="bg1"/>
                </a:solidFill>
              </a:defRPr>
            </a:lvl1pPr>
          </a:lstStyle>
          <a:p>
            <a:r>
              <a:rPr lang="en-GB" noProof="0"/>
              <a:t>Click to edit Master title style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lvl1pPr>
              <a:defRPr>
                <a:solidFill>
                  <a:schemeClr val="bg1"/>
                </a:solidFill>
              </a:defRPr>
            </a:lvl1pPr>
          </a:lstStyle>
          <a:p>
            <a:fld id="{6C4EAFE7-317E-4912-B75C-DD6945F82242}" type="datetime1">
              <a:rPr lang="de-CH" noProof="0" smtClean="0"/>
              <a:t>25.04.26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lvl1pPr>
              <a:defRPr>
                <a:solidFill>
                  <a:schemeClr val="bg1"/>
                </a:solidFill>
              </a:defRPr>
            </a:lvl1p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lvl1pPr>
              <a:defRPr>
                <a:solidFill>
                  <a:schemeClr val="bg1"/>
                </a:solidFill>
              </a:defRPr>
            </a:lvl1pPr>
          </a:lstStyle>
          <a:p>
            <a:fld id="{5ACA52AF-F19D-405C-AD5F-7D94B96A5CC3}" type="slidenum">
              <a:rPr lang="de-CH" noProof="0" smtClean="0"/>
              <a:pPr/>
              <a:t>‹#›</a:t>
            </a:fld>
            <a:endParaRPr lang="de-CH" noProof="0"/>
          </a:p>
        </p:txBody>
      </p:sp>
      <p:grpSp>
        <p:nvGrpSpPr>
          <p:cNvPr id="10" name="Grafik 6">
            <a:extLst>
              <a:ext uri="{FF2B5EF4-FFF2-40B4-BE49-F238E27FC236}">
                <a16:creationId xmlns:a16="http://schemas.microsoft.com/office/drawing/2014/main" id="{7F7C476A-2849-4D68-9FA2-3A5CFC13C833}"/>
              </a:ext>
            </a:extLst>
          </p:cNvPr>
          <p:cNvGrpSpPr/>
          <p:nvPr/>
        </p:nvGrpSpPr>
        <p:grpSpPr>
          <a:xfrm>
            <a:off x="731837" y="6507088"/>
            <a:ext cx="984462" cy="162000"/>
            <a:chOff x="731837" y="6507088"/>
            <a:chExt cx="984462" cy="162000"/>
          </a:xfrm>
          <a:solidFill>
            <a:schemeClr val="bg1"/>
          </a:solidFill>
        </p:grpSpPr>
        <p:grpSp>
          <p:nvGrpSpPr>
            <p:cNvPr id="12" name="Grafik 6">
              <a:extLst>
                <a:ext uri="{FF2B5EF4-FFF2-40B4-BE49-F238E27FC236}">
                  <a16:creationId xmlns:a16="http://schemas.microsoft.com/office/drawing/2014/main" id="{7F7C476A-2849-4D68-9FA2-3A5CFC13C833}"/>
                </a:ext>
              </a:extLst>
            </p:cNvPr>
            <p:cNvGrpSpPr/>
            <p:nvPr/>
          </p:nvGrpSpPr>
          <p:grpSpPr>
            <a:xfrm>
              <a:off x="1266489" y="6555186"/>
              <a:ext cx="197463" cy="110963"/>
              <a:chOff x="1266489" y="6555186"/>
              <a:chExt cx="197463" cy="110963"/>
            </a:xfrm>
            <a:grpFill/>
          </p:grpSpPr>
          <p:sp>
            <p:nvSpPr>
              <p:cNvPr id="13" name="Freihandform: Form 12">
                <a:extLst>
                  <a:ext uri="{FF2B5EF4-FFF2-40B4-BE49-F238E27FC236}">
                    <a16:creationId xmlns:a16="http://schemas.microsoft.com/office/drawing/2014/main" id="{18BB0752-F87C-44D9-A9A5-97AF1DEDA1AE}"/>
                  </a:ext>
                </a:extLst>
              </p:cNvPr>
              <p:cNvSpPr/>
              <p:nvPr/>
            </p:nvSpPr>
            <p:spPr>
              <a:xfrm>
                <a:off x="1266489" y="6556934"/>
                <a:ext cx="95902" cy="109216"/>
              </a:xfrm>
              <a:custGeom>
                <a:avLst/>
                <a:gdLst>
                  <a:gd name="connsiteX0" fmla="*/ 66742 w 95902"/>
                  <a:gd name="connsiteY0" fmla="*/ 65797 h 109216"/>
                  <a:gd name="connsiteX1" fmla="*/ 35339 w 95902"/>
                  <a:gd name="connsiteY1" fmla="*/ 95082 h 109216"/>
                  <a:gd name="connsiteX2" fmla="*/ 15953 w 95902"/>
                  <a:gd name="connsiteY2" fmla="*/ 79537 h 109216"/>
                  <a:gd name="connsiteX3" fmla="*/ 15899 w 95902"/>
                  <a:gd name="connsiteY3" fmla="*/ 76265 h 109216"/>
                  <a:gd name="connsiteX4" fmla="*/ 16896 w 95902"/>
                  <a:gd name="connsiteY4" fmla="*/ 66295 h 109216"/>
                  <a:gd name="connsiteX5" fmla="*/ 30230 w 95902"/>
                  <a:gd name="connsiteY5" fmla="*/ 0 h 109216"/>
                  <a:gd name="connsiteX6" fmla="*/ 30230 w 95902"/>
                  <a:gd name="connsiteY6" fmla="*/ 0 h 109216"/>
                  <a:gd name="connsiteX7" fmla="*/ 14528 w 95902"/>
                  <a:gd name="connsiteY7" fmla="*/ 0 h 109216"/>
                  <a:gd name="connsiteX8" fmla="*/ 1194 w 95902"/>
                  <a:gd name="connsiteY8" fmla="*/ 67791 h 109216"/>
                  <a:gd name="connsiteX9" fmla="*/ 1194 w 95902"/>
                  <a:gd name="connsiteY9" fmla="*/ 68788 h 109216"/>
                  <a:gd name="connsiteX10" fmla="*/ 73 w 95902"/>
                  <a:gd name="connsiteY10" fmla="*/ 78508 h 109216"/>
                  <a:gd name="connsiteX11" fmla="*/ 26638 w 95902"/>
                  <a:gd name="connsiteY11" fmla="*/ 109122 h 109216"/>
                  <a:gd name="connsiteX12" fmla="*/ 29980 w 95902"/>
                  <a:gd name="connsiteY12" fmla="*/ 109163 h 109216"/>
                  <a:gd name="connsiteX13" fmla="*/ 61384 w 95902"/>
                  <a:gd name="connsiteY13" fmla="*/ 96702 h 109216"/>
                  <a:gd name="connsiteX14" fmla="*/ 59265 w 95902"/>
                  <a:gd name="connsiteY14" fmla="*/ 107917 h 109216"/>
                  <a:gd name="connsiteX15" fmla="*/ 59265 w 95902"/>
                  <a:gd name="connsiteY15" fmla="*/ 107917 h 109216"/>
                  <a:gd name="connsiteX16" fmla="*/ 74842 w 95902"/>
                  <a:gd name="connsiteY16" fmla="*/ 107917 h 109216"/>
                  <a:gd name="connsiteX17" fmla="*/ 95902 w 95902"/>
                  <a:gd name="connsiteY17" fmla="*/ 0 h 109216"/>
                  <a:gd name="connsiteX18" fmla="*/ 95902 w 95902"/>
                  <a:gd name="connsiteY18" fmla="*/ 0 h 109216"/>
                  <a:gd name="connsiteX19" fmla="*/ 79951 w 95902"/>
                  <a:gd name="connsiteY19" fmla="*/ 0 h 109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5902" h="109216">
                    <a:moveTo>
                      <a:pt x="66742" y="65797"/>
                    </a:moveTo>
                    <a:cubicBezTo>
                      <a:pt x="65228" y="82115"/>
                      <a:pt x="51723" y="94709"/>
                      <a:pt x="35339" y="95082"/>
                    </a:cubicBezTo>
                    <a:cubicBezTo>
                      <a:pt x="25692" y="96142"/>
                      <a:pt x="17013" y="89183"/>
                      <a:pt x="15953" y="79537"/>
                    </a:cubicBezTo>
                    <a:cubicBezTo>
                      <a:pt x="15833" y="78450"/>
                      <a:pt x="15814" y="77355"/>
                      <a:pt x="15899" y="76265"/>
                    </a:cubicBezTo>
                    <a:cubicBezTo>
                      <a:pt x="15976" y="72921"/>
                      <a:pt x="16309" y="69588"/>
                      <a:pt x="16896" y="66295"/>
                    </a:cubicBezTo>
                    <a:lnTo>
                      <a:pt x="30230" y="0"/>
                    </a:lnTo>
                    <a:lnTo>
                      <a:pt x="30230" y="0"/>
                    </a:lnTo>
                    <a:lnTo>
                      <a:pt x="14528" y="0"/>
                    </a:lnTo>
                    <a:lnTo>
                      <a:pt x="1194" y="67791"/>
                    </a:lnTo>
                    <a:lnTo>
                      <a:pt x="1194" y="68788"/>
                    </a:lnTo>
                    <a:cubicBezTo>
                      <a:pt x="472" y="71978"/>
                      <a:pt x="95" y="75237"/>
                      <a:pt x="73" y="78508"/>
                    </a:cubicBezTo>
                    <a:cubicBezTo>
                      <a:pt x="-1045" y="94298"/>
                      <a:pt x="10848" y="108004"/>
                      <a:pt x="26638" y="109122"/>
                    </a:cubicBezTo>
                    <a:cubicBezTo>
                      <a:pt x="27751" y="109200"/>
                      <a:pt x="28866" y="109214"/>
                      <a:pt x="29980" y="109163"/>
                    </a:cubicBezTo>
                    <a:cubicBezTo>
                      <a:pt x="41760" y="109765"/>
                      <a:pt x="53221" y="105218"/>
                      <a:pt x="61384" y="96702"/>
                    </a:cubicBezTo>
                    <a:lnTo>
                      <a:pt x="59265" y="107917"/>
                    </a:lnTo>
                    <a:lnTo>
                      <a:pt x="59265" y="107917"/>
                    </a:lnTo>
                    <a:lnTo>
                      <a:pt x="74842" y="107917"/>
                    </a:lnTo>
                    <a:lnTo>
                      <a:pt x="95902" y="0"/>
                    </a:lnTo>
                    <a:lnTo>
                      <a:pt x="95902" y="0"/>
                    </a:lnTo>
                    <a:lnTo>
                      <a:pt x="79951" y="0"/>
                    </a:lnTo>
                    <a:close/>
                  </a:path>
                </a:pathLst>
              </a:custGeom>
              <a:grpFill/>
              <a:ln w="12419" cap="flat">
                <a:noFill/>
                <a:prstDash val="solid"/>
                <a:miter/>
              </a:ln>
            </p:spPr>
            <p:txBody>
              <a:bodyPr rtlCol="0" anchor="ctr"/>
              <a:lstStyle/>
              <a:p>
                <a:endParaRPr lang="de-CH" noProof="0"/>
              </a:p>
            </p:txBody>
          </p:sp>
          <p:sp>
            <p:nvSpPr>
              <p:cNvPr id="14" name="Freihandform: Form 13">
                <a:extLst>
                  <a:ext uri="{FF2B5EF4-FFF2-40B4-BE49-F238E27FC236}">
                    <a16:creationId xmlns:a16="http://schemas.microsoft.com/office/drawing/2014/main" id="{ED44DE23-7081-4AC9-BF06-502BEC71C004}"/>
                  </a:ext>
                </a:extLst>
              </p:cNvPr>
              <p:cNvSpPr/>
              <p:nvPr/>
            </p:nvSpPr>
            <p:spPr>
              <a:xfrm>
                <a:off x="1376472" y="6555186"/>
                <a:ext cx="87480" cy="109664"/>
              </a:xfrm>
              <a:custGeom>
                <a:avLst/>
                <a:gdLst>
                  <a:gd name="connsiteX0" fmla="*/ 64302 w 87480"/>
                  <a:gd name="connsiteY0" fmla="*/ 3 h 109664"/>
                  <a:gd name="connsiteX1" fmla="*/ 34518 w 87480"/>
                  <a:gd name="connsiteY1" fmla="*/ 14209 h 109664"/>
                  <a:gd name="connsiteX2" fmla="*/ 36886 w 87480"/>
                  <a:gd name="connsiteY2" fmla="*/ 1747 h 109664"/>
                  <a:gd name="connsiteX3" fmla="*/ 36886 w 87480"/>
                  <a:gd name="connsiteY3" fmla="*/ 1747 h 109664"/>
                  <a:gd name="connsiteX4" fmla="*/ 21434 w 87480"/>
                  <a:gd name="connsiteY4" fmla="*/ 1747 h 109664"/>
                  <a:gd name="connsiteX5" fmla="*/ 0 w 87480"/>
                  <a:gd name="connsiteY5" fmla="*/ 109664 h 109664"/>
                  <a:gd name="connsiteX6" fmla="*/ 0 w 87480"/>
                  <a:gd name="connsiteY6" fmla="*/ 109664 h 109664"/>
                  <a:gd name="connsiteX7" fmla="*/ 15826 w 87480"/>
                  <a:gd name="connsiteY7" fmla="*/ 109664 h 109664"/>
                  <a:gd name="connsiteX8" fmla="*/ 28288 w 87480"/>
                  <a:gd name="connsiteY8" fmla="*/ 43493 h 109664"/>
                  <a:gd name="connsiteX9" fmla="*/ 59940 w 87480"/>
                  <a:gd name="connsiteY9" fmla="*/ 14209 h 109664"/>
                  <a:gd name="connsiteX10" fmla="*/ 75019 w 87480"/>
                  <a:gd name="connsiteY10" fmla="*/ 21810 h 109664"/>
                  <a:gd name="connsiteX11" fmla="*/ 75019 w 87480"/>
                  <a:gd name="connsiteY11" fmla="*/ 21810 h 109664"/>
                  <a:gd name="connsiteX12" fmla="*/ 87480 w 87480"/>
                  <a:gd name="connsiteY12" fmla="*/ 10346 h 109664"/>
                  <a:gd name="connsiteX13" fmla="*/ 87480 w 87480"/>
                  <a:gd name="connsiteY13" fmla="*/ 10346 h 109664"/>
                  <a:gd name="connsiteX14" fmla="*/ 63928 w 87480"/>
                  <a:gd name="connsiteY14" fmla="*/ 252 h 10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480" h="109664">
                    <a:moveTo>
                      <a:pt x="64302" y="3"/>
                    </a:moveTo>
                    <a:cubicBezTo>
                      <a:pt x="52709" y="-136"/>
                      <a:pt x="41706" y="5111"/>
                      <a:pt x="34518" y="14209"/>
                    </a:cubicBezTo>
                    <a:lnTo>
                      <a:pt x="36886" y="1747"/>
                    </a:lnTo>
                    <a:lnTo>
                      <a:pt x="36886" y="1747"/>
                    </a:lnTo>
                    <a:lnTo>
                      <a:pt x="21434" y="1747"/>
                    </a:lnTo>
                    <a:lnTo>
                      <a:pt x="0" y="109664"/>
                    </a:lnTo>
                    <a:lnTo>
                      <a:pt x="0" y="109664"/>
                    </a:lnTo>
                    <a:lnTo>
                      <a:pt x="15826" y="109664"/>
                    </a:lnTo>
                    <a:lnTo>
                      <a:pt x="28288" y="43493"/>
                    </a:lnTo>
                    <a:cubicBezTo>
                      <a:pt x="30515" y="27438"/>
                      <a:pt x="43760" y="15183"/>
                      <a:pt x="59940" y="14209"/>
                    </a:cubicBezTo>
                    <a:cubicBezTo>
                      <a:pt x="65919" y="14072"/>
                      <a:pt x="71573" y="16922"/>
                      <a:pt x="75019" y="21810"/>
                    </a:cubicBezTo>
                    <a:lnTo>
                      <a:pt x="75019" y="21810"/>
                    </a:lnTo>
                    <a:lnTo>
                      <a:pt x="87480" y="10346"/>
                    </a:lnTo>
                    <a:lnTo>
                      <a:pt x="87480" y="10346"/>
                    </a:lnTo>
                    <a:cubicBezTo>
                      <a:pt x="81552" y="3603"/>
                      <a:pt x="72899" y="-105"/>
                      <a:pt x="63928" y="252"/>
                    </a:cubicBezTo>
                  </a:path>
                </a:pathLst>
              </a:custGeom>
              <a:grpFill/>
              <a:ln w="12419" cap="flat">
                <a:noFill/>
                <a:prstDash val="solid"/>
                <a:miter/>
              </a:ln>
            </p:spPr>
            <p:txBody>
              <a:bodyPr rtlCol="0" anchor="ctr"/>
              <a:lstStyle/>
              <a:p>
                <a:endParaRPr lang="de-CH" noProof="0"/>
              </a:p>
            </p:txBody>
          </p:sp>
        </p:grpSp>
        <p:sp>
          <p:nvSpPr>
            <p:cNvPr id="15" name="Freihandform: Form 14">
              <a:extLst>
                <a:ext uri="{FF2B5EF4-FFF2-40B4-BE49-F238E27FC236}">
                  <a16:creationId xmlns:a16="http://schemas.microsoft.com/office/drawing/2014/main" id="{18C24FD2-AEE2-43CA-8EB3-8E646C2E5E46}"/>
                </a:ext>
              </a:extLst>
            </p:cNvPr>
            <p:cNvSpPr/>
            <p:nvPr/>
          </p:nvSpPr>
          <p:spPr>
            <a:xfrm>
              <a:off x="1159517" y="6556560"/>
              <a:ext cx="96452" cy="108166"/>
            </a:xfrm>
            <a:custGeom>
              <a:avLst/>
              <a:gdLst>
                <a:gd name="connsiteX0" fmla="*/ 23303 w 96452"/>
                <a:gd name="connsiteY0" fmla="*/ 0 h 108166"/>
                <a:gd name="connsiteX1" fmla="*/ 20562 w 96452"/>
                <a:gd name="connsiteY1" fmla="*/ 13708 h 108166"/>
                <a:gd name="connsiteX2" fmla="*/ 20562 w 96452"/>
                <a:gd name="connsiteY2" fmla="*/ 13957 h 108166"/>
                <a:gd name="connsiteX3" fmla="*/ 74271 w 96452"/>
                <a:gd name="connsiteY3" fmla="*/ 13957 h 108166"/>
                <a:gd name="connsiteX4" fmla="*/ 2742 w 96452"/>
                <a:gd name="connsiteY4" fmla="*/ 94957 h 108166"/>
                <a:gd name="connsiteX5" fmla="*/ 2617 w 96452"/>
                <a:gd name="connsiteY5" fmla="*/ 94957 h 108166"/>
                <a:gd name="connsiteX6" fmla="*/ 0 w 96452"/>
                <a:gd name="connsiteY6" fmla="*/ 108166 h 108166"/>
                <a:gd name="connsiteX7" fmla="*/ 76265 w 96452"/>
                <a:gd name="connsiteY7" fmla="*/ 108166 h 108166"/>
                <a:gd name="connsiteX8" fmla="*/ 79006 w 96452"/>
                <a:gd name="connsiteY8" fmla="*/ 94209 h 108166"/>
                <a:gd name="connsiteX9" fmla="*/ 21932 w 96452"/>
                <a:gd name="connsiteY9" fmla="*/ 94209 h 108166"/>
                <a:gd name="connsiteX10" fmla="*/ 93835 w 96452"/>
                <a:gd name="connsiteY10" fmla="*/ 13209 h 108166"/>
                <a:gd name="connsiteX11" fmla="*/ 93835 w 96452"/>
                <a:gd name="connsiteY11" fmla="*/ 13209 h 108166"/>
                <a:gd name="connsiteX12" fmla="*/ 96452 w 96452"/>
                <a:gd name="connsiteY12" fmla="*/ 0 h 108166"/>
                <a:gd name="connsiteX13" fmla="*/ 23303 w 96452"/>
                <a:gd name="connsiteY13" fmla="*/ 0 h 10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6452" h="108166">
                  <a:moveTo>
                    <a:pt x="23303" y="0"/>
                  </a:moveTo>
                  <a:lnTo>
                    <a:pt x="20562" y="13708"/>
                  </a:lnTo>
                  <a:lnTo>
                    <a:pt x="20562" y="13957"/>
                  </a:lnTo>
                  <a:lnTo>
                    <a:pt x="74271" y="13957"/>
                  </a:lnTo>
                  <a:lnTo>
                    <a:pt x="2742" y="94957"/>
                  </a:lnTo>
                  <a:lnTo>
                    <a:pt x="2617" y="94957"/>
                  </a:lnTo>
                  <a:lnTo>
                    <a:pt x="0" y="108166"/>
                  </a:lnTo>
                  <a:lnTo>
                    <a:pt x="76265" y="108166"/>
                  </a:lnTo>
                  <a:lnTo>
                    <a:pt x="79006" y="94209"/>
                  </a:lnTo>
                  <a:lnTo>
                    <a:pt x="21932" y="94209"/>
                  </a:lnTo>
                  <a:lnTo>
                    <a:pt x="93835" y="13209"/>
                  </a:lnTo>
                  <a:lnTo>
                    <a:pt x="93835" y="13209"/>
                  </a:lnTo>
                  <a:lnTo>
                    <a:pt x="96452" y="0"/>
                  </a:lnTo>
                  <a:lnTo>
                    <a:pt x="23303" y="0"/>
                  </a:lnTo>
                  <a:close/>
                </a:path>
              </a:pathLst>
            </a:custGeom>
            <a:grpFill/>
            <a:ln w="12419" cap="flat">
              <a:noFill/>
              <a:prstDash val="solid"/>
              <a:miter/>
            </a:ln>
          </p:spPr>
          <p:txBody>
            <a:bodyPr rtlCol="0" anchor="ctr"/>
            <a:lstStyle/>
            <a:p>
              <a:endParaRPr lang="de-CH" noProof="0"/>
            </a:p>
          </p:txBody>
        </p:sp>
        <p:sp>
          <p:nvSpPr>
            <p:cNvPr id="16" name="Freihandform: Form 15">
              <a:extLst>
                <a:ext uri="{FF2B5EF4-FFF2-40B4-BE49-F238E27FC236}">
                  <a16:creationId xmlns:a16="http://schemas.microsoft.com/office/drawing/2014/main" id="{AEE7F6F4-4D2C-45B3-A061-9606B2BD36A7}"/>
                </a:ext>
              </a:extLst>
            </p:cNvPr>
            <p:cNvSpPr/>
            <p:nvPr/>
          </p:nvSpPr>
          <p:spPr>
            <a:xfrm>
              <a:off x="1466445" y="6556560"/>
              <a:ext cx="37259" cy="108166"/>
            </a:xfrm>
            <a:custGeom>
              <a:avLst/>
              <a:gdLst>
                <a:gd name="connsiteX0" fmla="*/ 21683 w 37259"/>
                <a:gd name="connsiteY0" fmla="*/ 0 h 108166"/>
                <a:gd name="connsiteX1" fmla="*/ 0 w 37259"/>
                <a:gd name="connsiteY1" fmla="*/ 107917 h 108166"/>
                <a:gd name="connsiteX2" fmla="*/ 0 w 37259"/>
                <a:gd name="connsiteY2" fmla="*/ 108166 h 108166"/>
                <a:gd name="connsiteX3" fmla="*/ 15702 w 37259"/>
                <a:gd name="connsiteY3" fmla="*/ 108166 h 108166"/>
                <a:gd name="connsiteX4" fmla="*/ 37260 w 37259"/>
                <a:gd name="connsiteY4" fmla="*/ 0 h 108166"/>
                <a:gd name="connsiteX5" fmla="*/ 21683 w 37259"/>
                <a:gd name="connsiteY5" fmla="*/ 0 h 10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59" h="108166">
                  <a:moveTo>
                    <a:pt x="21683" y="0"/>
                  </a:moveTo>
                  <a:lnTo>
                    <a:pt x="0" y="107917"/>
                  </a:lnTo>
                  <a:lnTo>
                    <a:pt x="0" y="108166"/>
                  </a:lnTo>
                  <a:lnTo>
                    <a:pt x="15702" y="108166"/>
                  </a:lnTo>
                  <a:lnTo>
                    <a:pt x="37260" y="0"/>
                  </a:lnTo>
                  <a:lnTo>
                    <a:pt x="21683" y="0"/>
                  </a:lnTo>
                  <a:close/>
                </a:path>
              </a:pathLst>
            </a:custGeom>
            <a:grpFill/>
            <a:ln w="12419" cap="flat">
              <a:noFill/>
              <a:prstDash val="solid"/>
              <a:miter/>
            </a:ln>
          </p:spPr>
          <p:txBody>
            <a:bodyPr rtlCol="0" anchor="ctr"/>
            <a:lstStyle/>
            <a:p>
              <a:endParaRPr lang="de-CH" noProof="0"/>
            </a:p>
          </p:txBody>
        </p:sp>
        <p:grpSp>
          <p:nvGrpSpPr>
            <p:cNvPr id="17" name="Grafik 6">
              <a:extLst>
                <a:ext uri="{FF2B5EF4-FFF2-40B4-BE49-F238E27FC236}">
                  <a16:creationId xmlns:a16="http://schemas.microsoft.com/office/drawing/2014/main" id="{7F7C476A-2849-4D68-9FA2-3A5CFC13C833}"/>
                </a:ext>
              </a:extLst>
            </p:cNvPr>
            <p:cNvGrpSpPr/>
            <p:nvPr/>
          </p:nvGrpSpPr>
          <p:grpSpPr>
            <a:xfrm>
              <a:off x="1518879" y="6507337"/>
              <a:ext cx="191395" cy="158803"/>
              <a:chOff x="1518879" y="6507337"/>
              <a:chExt cx="191395" cy="158803"/>
            </a:xfrm>
            <a:grpFill/>
          </p:grpSpPr>
          <p:sp>
            <p:nvSpPr>
              <p:cNvPr id="18" name="Freihandform: Form 17">
                <a:extLst>
                  <a:ext uri="{FF2B5EF4-FFF2-40B4-BE49-F238E27FC236}">
                    <a16:creationId xmlns:a16="http://schemas.microsoft.com/office/drawing/2014/main" id="{B2186F78-5D28-4695-8B1C-5A3F1A53AAB3}"/>
                  </a:ext>
                </a:extLst>
              </p:cNvPr>
              <p:cNvSpPr/>
              <p:nvPr/>
            </p:nvSpPr>
            <p:spPr>
              <a:xfrm>
                <a:off x="1614114" y="6507337"/>
                <a:ext cx="96160" cy="157638"/>
              </a:xfrm>
              <a:custGeom>
                <a:avLst/>
                <a:gdLst>
                  <a:gd name="connsiteX0" fmla="*/ 66046 w 96160"/>
                  <a:gd name="connsiteY0" fmla="*/ 47852 h 157638"/>
                  <a:gd name="connsiteX1" fmla="*/ 35142 w 96160"/>
                  <a:gd name="connsiteY1" fmla="*/ 60314 h 157638"/>
                  <a:gd name="connsiteX2" fmla="*/ 47603 w 96160"/>
                  <a:gd name="connsiteY2" fmla="*/ 0 h 157638"/>
                  <a:gd name="connsiteX3" fmla="*/ 31652 w 96160"/>
                  <a:gd name="connsiteY3" fmla="*/ 0 h 157638"/>
                  <a:gd name="connsiteX4" fmla="*/ 0 w 96160"/>
                  <a:gd name="connsiteY4" fmla="*/ 157389 h 157638"/>
                  <a:gd name="connsiteX5" fmla="*/ 15701 w 96160"/>
                  <a:gd name="connsiteY5" fmla="*/ 157389 h 157638"/>
                  <a:gd name="connsiteX6" fmla="*/ 28911 w 96160"/>
                  <a:gd name="connsiteY6" fmla="*/ 91218 h 157638"/>
                  <a:gd name="connsiteX7" fmla="*/ 60563 w 96160"/>
                  <a:gd name="connsiteY7" fmla="*/ 62058 h 157638"/>
                  <a:gd name="connsiteX8" fmla="*/ 79837 w 96160"/>
                  <a:gd name="connsiteY8" fmla="*/ 77742 h 157638"/>
                  <a:gd name="connsiteX9" fmla="*/ 79878 w 96160"/>
                  <a:gd name="connsiteY9" fmla="*/ 80875 h 157638"/>
                  <a:gd name="connsiteX10" fmla="*/ 78757 w 96160"/>
                  <a:gd name="connsiteY10" fmla="*/ 90969 h 157638"/>
                  <a:gd name="connsiteX11" fmla="*/ 65423 w 96160"/>
                  <a:gd name="connsiteY11" fmla="*/ 157638 h 157638"/>
                  <a:gd name="connsiteX12" fmla="*/ 81125 w 96160"/>
                  <a:gd name="connsiteY12" fmla="*/ 157638 h 157638"/>
                  <a:gd name="connsiteX13" fmla="*/ 94957 w 96160"/>
                  <a:gd name="connsiteY13" fmla="*/ 89474 h 157638"/>
                  <a:gd name="connsiteX14" fmla="*/ 96078 w 96160"/>
                  <a:gd name="connsiteY14" fmla="*/ 78757 h 157638"/>
                  <a:gd name="connsiteX15" fmla="*/ 69522 w 96160"/>
                  <a:gd name="connsiteY15" fmla="*/ 47902 h 157638"/>
                  <a:gd name="connsiteX16" fmla="*/ 66046 w 96160"/>
                  <a:gd name="connsiteY16" fmla="*/ 47852 h 1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6160" h="157638">
                    <a:moveTo>
                      <a:pt x="66046" y="47852"/>
                    </a:moveTo>
                    <a:cubicBezTo>
                      <a:pt x="54431" y="47363"/>
                      <a:pt x="43168" y="51904"/>
                      <a:pt x="35142" y="60314"/>
                    </a:cubicBezTo>
                    <a:lnTo>
                      <a:pt x="47603" y="0"/>
                    </a:lnTo>
                    <a:lnTo>
                      <a:pt x="31652" y="0"/>
                    </a:lnTo>
                    <a:lnTo>
                      <a:pt x="0" y="157389"/>
                    </a:lnTo>
                    <a:lnTo>
                      <a:pt x="15701" y="157389"/>
                    </a:lnTo>
                    <a:lnTo>
                      <a:pt x="28911" y="91218"/>
                    </a:lnTo>
                    <a:cubicBezTo>
                      <a:pt x="30603" y="74910"/>
                      <a:pt x="44170" y="62411"/>
                      <a:pt x="60563" y="62058"/>
                    </a:cubicBezTo>
                    <a:cubicBezTo>
                      <a:pt x="70216" y="61067"/>
                      <a:pt x="78845" y="68088"/>
                      <a:pt x="79837" y="77742"/>
                    </a:cubicBezTo>
                    <a:cubicBezTo>
                      <a:pt x="79945" y="78783"/>
                      <a:pt x="79958" y="79832"/>
                      <a:pt x="79878" y="80875"/>
                    </a:cubicBezTo>
                    <a:cubicBezTo>
                      <a:pt x="79822" y="84268"/>
                      <a:pt x="79446" y="87647"/>
                      <a:pt x="78757" y="90969"/>
                    </a:cubicBezTo>
                    <a:lnTo>
                      <a:pt x="65423" y="157638"/>
                    </a:lnTo>
                    <a:lnTo>
                      <a:pt x="81125" y="157638"/>
                    </a:lnTo>
                    <a:lnTo>
                      <a:pt x="94957" y="89474"/>
                    </a:lnTo>
                    <a:cubicBezTo>
                      <a:pt x="95657" y="85943"/>
                      <a:pt x="96034" y="82356"/>
                      <a:pt x="96078" y="78757"/>
                    </a:cubicBezTo>
                    <a:cubicBezTo>
                      <a:pt x="97265" y="62903"/>
                      <a:pt x="85375" y="49089"/>
                      <a:pt x="69522" y="47902"/>
                    </a:cubicBezTo>
                    <a:cubicBezTo>
                      <a:pt x="68365" y="47815"/>
                      <a:pt x="67205" y="47799"/>
                      <a:pt x="66046" y="47852"/>
                    </a:cubicBezTo>
                  </a:path>
                </a:pathLst>
              </a:custGeom>
              <a:grpFill/>
              <a:ln w="12419" cap="flat">
                <a:noFill/>
                <a:prstDash val="solid"/>
                <a:miter/>
              </a:ln>
            </p:spPr>
            <p:txBody>
              <a:bodyPr rtlCol="0" anchor="ctr"/>
              <a:lstStyle/>
              <a:p>
                <a:endParaRPr lang="de-CH" noProof="0"/>
              </a:p>
            </p:txBody>
          </p:sp>
          <p:sp>
            <p:nvSpPr>
              <p:cNvPr id="19" name="Freihandform: Form 18">
                <a:extLst>
                  <a:ext uri="{FF2B5EF4-FFF2-40B4-BE49-F238E27FC236}">
                    <a16:creationId xmlns:a16="http://schemas.microsoft.com/office/drawing/2014/main" id="{1FE5475E-83C3-4BE3-BBF1-FAE9A6986B3F}"/>
                  </a:ext>
                </a:extLst>
              </p:cNvPr>
              <p:cNvSpPr/>
              <p:nvPr/>
            </p:nvSpPr>
            <p:spPr>
              <a:xfrm>
                <a:off x="1518879" y="6555189"/>
                <a:ext cx="87882" cy="110951"/>
              </a:xfrm>
              <a:custGeom>
                <a:avLst/>
                <a:gdLst>
                  <a:gd name="connsiteX0" fmla="*/ 56853 w 87882"/>
                  <a:gd name="connsiteY0" fmla="*/ 0 h 110951"/>
                  <a:gd name="connsiteX1" fmla="*/ 1649 w 87882"/>
                  <a:gd name="connsiteY1" fmla="*/ 55329 h 110951"/>
                  <a:gd name="connsiteX2" fmla="*/ 153 w 87882"/>
                  <a:gd name="connsiteY2" fmla="*/ 71903 h 110951"/>
                  <a:gd name="connsiteX3" fmla="*/ 32484 w 87882"/>
                  <a:gd name="connsiteY3" fmla="*/ 110801 h 110951"/>
                  <a:gd name="connsiteX4" fmla="*/ 37538 w 87882"/>
                  <a:gd name="connsiteY4" fmla="*/ 110908 h 110951"/>
                  <a:gd name="connsiteX5" fmla="*/ 73552 w 87882"/>
                  <a:gd name="connsiteY5" fmla="*/ 95705 h 110951"/>
                  <a:gd name="connsiteX6" fmla="*/ 73552 w 87882"/>
                  <a:gd name="connsiteY6" fmla="*/ 95705 h 110951"/>
                  <a:gd name="connsiteX7" fmla="*/ 64455 w 87882"/>
                  <a:gd name="connsiteY7" fmla="*/ 84614 h 110951"/>
                  <a:gd name="connsiteX8" fmla="*/ 64455 w 87882"/>
                  <a:gd name="connsiteY8" fmla="*/ 84614 h 110951"/>
                  <a:gd name="connsiteX9" fmla="*/ 64455 w 87882"/>
                  <a:gd name="connsiteY9" fmla="*/ 84614 h 110951"/>
                  <a:gd name="connsiteX10" fmla="*/ 38535 w 87882"/>
                  <a:gd name="connsiteY10" fmla="*/ 97075 h 110951"/>
                  <a:gd name="connsiteX11" fmla="*/ 15233 w 87882"/>
                  <a:gd name="connsiteY11" fmla="*/ 75551 h 110951"/>
                  <a:gd name="connsiteX12" fmla="*/ 15356 w 87882"/>
                  <a:gd name="connsiteY12" fmla="*/ 72152 h 110951"/>
                  <a:gd name="connsiteX13" fmla="*/ 17101 w 87882"/>
                  <a:gd name="connsiteY13" fmla="*/ 55952 h 110951"/>
                  <a:gd name="connsiteX14" fmla="*/ 31058 w 87882"/>
                  <a:gd name="connsiteY14" fmla="*/ 25048 h 110951"/>
                  <a:gd name="connsiteX15" fmla="*/ 55233 w 87882"/>
                  <a:gd name="connsiteY15" fmla="*/ 14206 h 110951"/>
                  <a:gd name="connsiteX16" fmla="*/ 76293 w 87882"/>
                  <a:gd name="connsiteY16" fmla="*/ 26668 h 110951"/>
                  <a:gd name="connsiteX17" fmla="*/ 76293 w 87882"/>
                  <a:gd name="connsiteY17" fmla="*/ 26668 h 110951"/>
                  <a:gd name="connsiteX18" fmla="*/ 87883 w 87882"/>
                  <a:gd name="connsiteY18" fmla="*/ 16823 h 110951"/>
                  <a:gd name="connsiteX19" fmla="*/ 87883 w 87882"/>
                  <a:gd name="connsiteY19" fmla="*/ 16823 h 110951"/>
                  <a:gd name="connsiteX20" fmla="*/ 56729 w 87882"/>
                  <a:gd name="connsiteY20" fmla="*/ 748 h 11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7882" h="110951">
                    <a:moveTo>
                      <a:pt x="56853" y="0"/>
                    </a:moveTo>
                    <a:cubicBezTo>
                      <a:pt x="28192" y="0"/>
                      <a:pt x="8129" y="20188"/>
                      <a:pt x="1649" y="55329"/>
                    </a:cubicBezTo>
                    <a:cubicBezTo>
                      <a:pt x="671" y="60800"/>
                      <a:pt x="170" y="66345"/>
                      <a:pt x="153" y="71903"/>
                    </a:cubicBezTo>
                    <a:cubicBezTo>
                      <a:pt x="-1660" y="91572"/>
                      <a:pt x="12814" y="108987"/>
                      <a:pt x="32484" y="110801"/>
                    </a:cubicBezTo>
                    <a:cubicBezTo>
                      <a:pt x="34163" y="110955"/>
                      <a:pt x="35853" y="110991"/>
                      <a:pt x="37538" y="110908"/>
                    </a:cubicBezTo>
                    <a:cubicBezTo>
                      <a:pt x="51112" y="110955"/>
                      <a:pt x="64118" y="105465"/>
                      <a:pt x="73552" y="95705"/>
                    </a:cubicBezTo>
                    <a:lnTo>
                      <a:pt x="73552" y="95705"/>
                    </a:lnTo>
                    <a:lnTo>
                      <a:pt x="64455" y="84614"/>
                    </a:lnTo>
                    <a:lnTo>
                      <a:pt x="64455" y="84614"/>
                    </a:lnTo>
                    <a:lnTo>
                      <a:pt x="64455" y="84614"/>
                    </a:lnTo>
                    <a:cubicBezTo>
                      <a:pt x="58138" y="92466"/>
                      <a:pt x="48613" y="97045"/>
                      <a:pt x="38535" y="97075"/>
                    </a:cubicBezTo>
                    <a:cubicBezTo>
                      <a:pt x="26157" y="97566"/>
                      <a:pt x="15724" y="87929"/>
                      <a:pt x="15233" y="75551"/>
                    </a:cubicBezTo>
                    <a:cubicBezTo>
                      <a:pt x="15188" y="74416"/>
                      <a:pt x="15229" y="73280"/>
                      <a:pt x="15356" y="72152"/>
                    </a:cubicBezTo>
                    <a:cubicBezTo>
                      <a:pt x="15424" y="66709"/>
                      <a:pt x="16008" y="61285"/>
                      <a:pt x="17101" y="55952"/>
                    </a:cubicBezTo>
                    <a:cubicBezTo>
                      <a:pt x="18838" y="44568"/>
                      <a:pt x="23666" y="33878"/>
                      <a:pt x="31058" y="25048"/>
                    </a:cubicBezTo>
                    <a:cubicBezTo>
                      <a:pt x="37213" y="18167"/>
                      <a:pt x="46002" y="14225"/>
                      <a:pt x="55233" y="14206"/>
                    </a:cubicBezTo>
                    <a:cubicBezTo>
                      <a:pt x="64085" y="13892"/>
                      <a:pt x="72308" y="18758"/>
                      <a:pt x="76293" y="26668"/>
                    </a:cubicBezTo>
                    <a:lnTo>
                      <a:pt x="76293" y="26668"/>
                    </a:lnTo>
                    <a:lnTo>
                      <a:pt x="87883" y="16823"/>
                    </a:lnTo>
                    <a:lnTo>
                      <a:pt x="87883" y="16823"/>
                    </a:lnTo>
                    <a:cubicBezTo>
                      <a:pt x="81104" y="6298"/>
                      <a:pt x="69235" y="174"/>
                      <a:pt x="56729" y="748"/>
                    </a:cubicBezTo>
                  </a:path>
                </a:pathLst>
              </a:custGeom>
              <a:grpFill/>
              <a:ln w="12419" cap="flat">
                <a:noFill/>
                <a:prstDash val="solid"/>
                <a:miter/>
              </a:ln>
            </p:spPr>
            <p:txBody>
              <a:bodyPr rtlCol="0" anchor="ctr"/>
              <a:lstStyle/>
              <a:p>
                <a:endParaRPr lang="de-CH" noProof="0"/>
              </a:p>
            </p:txBody>
          </p:sp>
        </p:grpSp>
        <p:sp>
          <p:nvSpPr>
            <p:cNvPr id="20" name="Freihandform: Form 19">
              <a:extLst>
                <a:ext uri="{FF2B5EF4-FFF2-40B4-BE49-F238E27FC236}">
                  <a16:creationId xmlns:a16="http://schemas.microsoft.com/office/drawing/2014/main" id="{41B77B6E-E7CB-412B-95AC-A9322C6799BB}"/>
                </a:ext>
              </a:extLst>
            </p:cNvPr>
            <p:cNvSpPr/>
            <p:nvPr/>
          </p:nvSpPr>
          <p:spPr>
            <a:xfrm>
              <a:off x="1493985" y="6507088"/>
              <a:ext cx="19689" cy="19689"/>
            </a:xfrm>
            <a:custGeom>
              <a:avLst/>
              <a:gdLst>
                <a:gd name="connsiteX0" fmla="*/ 3988 w 19689"/>
                <a:gd name="connsiteY0" fmla="*/ 0 h 19689"/>
                <a:gd name="connsiteX1" fmla="*/ 0 w 19689"/>
                <a:gd name="connsiteY1" fmla="*/ 19689 h 19689"/>
                <a:gd name="connsiteX2" fmla="*/ 15826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826"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1" name="Freihandform: Form 20">
              <a:extLst>
                <a:ext uri="{FF2B5EF4-FFF2-40B4-BE49-F238E27FC236}">
                  <a16:creationId xmlns:a16="http://schemas.microsoft.com/office/drawing/2014/main" id="{832E5C1A-13CE-49A6-B590-B6EAA5F9E1AD}"/>
                </a:ext>
              </a:extLst>
            </p:cNvPr>
            <p:cNvSpPr/>
            <p:nvPr/>
          </p:nvSpPr>
          <p:spPr>
            <a:xfrm>
              <a:off x="1340708" y="6507088"/>
              <a:ext cx="19689" cy="19689"/>
            </a:xfrm>
            <a:custGeom>
              <a:avLst/>
              <a:gdLst>
                <a:gd name="connsiteX0" fmla="*/ 3988 w 19689"/>
                <a:gd name="connsiteY0" fmla="*/ 0 h 19689"/>
                <a:gd name="connsiteX1" fmla="*/ 0 w 19689"/>
                <a:gd name="connsiteY1" fmla="*/ 19689 h 19689"/>
                <a:gd name="connsiteX2" fmla="*/ 15826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826"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2" name="Freihandform: Form 21">
              <a:extLst>
                <a:ext uri="{FF2B5EF4-FFF2-40B4-BE49-F238E27FC236}">
                  <a16:creationId xmlns:a16="http://schemas.microsoft.com/office/drawing/2014/main" id="{63AE00B0-780F-4053-8FE9-B7D321217AFF}"/>
                </a:ext>
              </a:extLst>
            </p:cNvPr>
            <p:cNvSpPr/>
            <p:nvPr/>
          </p:nvSpPr>
          <p:spPr>
            <a:xfrm>
              <a:off x="1298712" y="6507088"/>
              <a:ext cx="19689" cy="19689"/>
            </a:xfrm>
            <a:custGeom>
              <a:avLst/>
              <a:gdLst>
                <a:gd name="connsiteX0" fmla="*/ 3988 w 19689"/>
                <a:gd name="connsiteY0" fmla="*/ 0 h 19689"/>
                <a:gd name="connsiteX1" fmla="*/ 0 w 19689"/>
                <a:gd name="connsiteY1" fmla="*/ 19689 h 19689"/>
                <a:gd name="connsiteX2" fmla="*/ 15702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702"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3" name="Freihandform: Form 22">
              <a:extLst>
                <a:ext uri="{FF2B5EF4-FFF2-40B4-BE49-F238E27FC236}">
                  <a16:creationId xmlns:a16="http://schemas.microsoft.com/office/drawing/2014/main" id="{2406CEAF-7399-4CCB-A322-03F0BA2532F5}"/>
                </a:ext>
              </a:extLst>
            </p:cNvPr>
            <p:cNvSpPr/>
            <p:nvPr/>
          </p:nvSpPr>
          <p:spPr>
            <a:xfrm>
              <a:off x="731837" y="6507088"/>
              <a:ext cx="417960" cy="157638"/>
            </a:xfrm>
            <a:custGeom>
              <a:avLst/>
              <a:gdLst>
                <a:gd name="connsiteX0" fmla="*/ 368612 w 417960"/>
                <a:gd name="connsiteY0" fmla="*/ 0 h 157638"/>
                <a:gd name="connsiteX1" fmla="*/ 356151 w 417960"/>
                <a:gd name="connsiteY1" fmla="*/ 61062 h 157638"/>
                <a:gd name="connsiteX2" fmla="*/ 320760 w 417960"/>
                <a:gd name="connsiteY2" fmla="*/ 61062 h 157638"/>
                <a:gd name="connsiteX3" fmla="*/ 333222 w 417960"/>
                <a:gd name="connsiteY3" fmla="*/ 0 h 157638"/>
                <a:gd name="connsiteX4" fmla="*/ 31652 w 417960"/>
                <a:gd name="connsiteY4" fmla="*/ 0 h 157638"/>
                <a:gd name="connsiteX5" fmla="*/ 0 w 417960"/>
                <a:gd name="connsiteY5" fmla="*/ 157638 h 157638"/>
                <a:gd name="connsiteX6" fmla="*/ 120254 w 417960"/>
                <a:gd name="connsiteY6" fmla="*/ 157638 h 157638"/>
                <a:gd name="connsiteX7" fmla="*/ 128105 w 417960"/>
                <a:gd name="connsiteY7" fmla="*/ 118260 h 157638"/>
                <a:gd name="connsiteX8" fmla="*/ 57074 w 417960"/>
                <a:gd name="connsiteY8" fmla="*/ 118260 h 157638"/>
                <a:gd name="connsiteX9" fmla="*/ 61435 w 417960"/>
                <a:gd name="connsiteY9" fmla="*/ 96577 h 157638"/>
                <a:gd name="connsiteX10" fmla="*/ 132342 w 417960"/>
                <a:gd name="connsiteY10" fmla="*/ 96577 h 157638"/>
                <a:gd name="connsiteX11" fmla="*/ 139569 w 417960"/>
                <a:gd name="connsiteY11" fmla="*/ 61062 h 157638"/>
                <a:gd name="connsiteX12" fmla="*/ 68538 w 417960"/>
                <a:gd name="connsiteY12" fmla="*/ 61062 h 157638"/>
                <a:gd name="connsiteX13" fmla="*/ 72900 w 417960"/>
                <a:gd name="connsiteY13" fmla="*/ 39378 h 157638"/>
                <a:gd name="connsiteX14" fmla="*/ 185303 w 417960"/>
                <a:gd name="connsiteY14" fmla="*/ 39378 h 157638"/>
                <a:gd name="connsiteX15" fmla="*/ 161626 w 417960"/>
                <a:gd name="connsiteY15" fmla="*/ 157638 h 157638"/>
                <a:gd name="connsiteX16" fmla="*/ 210849 w 417960"/>
                <a:gd name="connsiteY16" fmla="*/ 157638 h 157638"/>
                <a:gd name="connsiteX17" fmla="*/ 234651 w 417960"/>
                <a:gd name="connsiteY17" fmla="*/ 39378 h 157638"/>
                <a:gd name="connsiteX18" fmla="*/ 276023 w 417960"/>
                <a:gd name="connsiteY18" fmla="*/ 39378 h 157638"/>
                <a:gd name="connsiteX19" fmla="*/ 252222 w 417960"/>
                <a:gd name="connsiteY19" fmla="*/ 157638 h 157638"/>
                <a:gd name="connsiteX20" fmla="*/ 301569 w 417960"/>
                <a:gd name="connsiteY20" fmla="*/ 157638 h 157638"/>
                <a:gd name="connsiteX21" fmla="*/ 313657 w 417960"/>
                <a:gd name="connsiteY21" fmla="*/ 96577 h 157638"/>
                <a:gd name="connsiteX22" fmla="*/ 349172 w 417960"/>
                <a:gd name="connsiteY22" fmla="*/ 96577 h 157638"/>
                <a:gd name="connsiteX23" fmla="*/ 336960 w 417960"/>
                <a:gd name="connsiteY23" fmla="*/ 157638 h 157638"/>
                <a:gd name="connsiteX24" fmla="*/ 386308 w 417960"/>
                <a:gd name="connsiteY24" fmla="*/ 157638 h 157638"/>
                <a:gd name="connsiteX25" fmla="*/ 417960 w 417960"/>
                <a:gd name="connsiteY25" fmla="*/ 0 h 157638"/>
                <a:gd name="connsiteX26" fmla="*/ 368612 w 417960"/>
                <a:gd name="connsiteY26" fmla="*/ 0 h 1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17960" h="157638">
                  <a:moveTo>
                    <a:pt x="368612" y="0"/>
                  </a:moveTo>
                  <a:lnTo>
                    <a:pt x="356151" y="61062"/>
                  </a:lnTo>
                  <a:lnTo>
                    <a:pt x="320760" y="61062"/>
                  </a:lnTo>
                  <a:lnTo>
                    <a:pt x="333222" y="0"/>
                  </a:lnTo>
                  <a:lnTo>
                    <a:pt x="31652" y="0"/>
                  </a:lnTo>
                  <a:lnTo>
                    <a:pt x="0" y="157638"/>
                  </a:lnTo>
                  <a:lnTo>
                    <a:pt x="120254" y="157638"/>
                  </a:lnTo>
                  <a:lnTo>
                    <a:pt x="128105" y="118260"/>
                  </a:lnTo>
                  <a:lnTo>
                    <a:pt x="57074" y="118260"/>
                  </a:lnTo>
                  <a:lnTo>
                    <a:pt x="61435" y="96577"/>
                  </a:lnTo>
                  <a:lnTo>
                    <a:pt x="132342" y="96577"/>
                  </a:lnTo>
                  <a:lnTo>
                    <a:pt x="139569" y="61062"/>
                  </a:lnTo>
                  <a:lnTo>
                    <a:pt x="68538" y="61062"/>
                  </a:lnTo>
                  <a:lnTo>
                    <a:pt x="72900" y="39378"/>
                  </a:lnTo>
                  <a:lnTo>
                    <a:pt x="185303" y="39378"/>
                  </a:lnTo>
                  <a:lnTo>
                    <a:pt x="161626" y="157638"/>
                  </a:lnTo>
                  <a:lnTo>
                    <a:pt x="210849" y="157638"/>
                  </a:lnTo>
                  <a:lnTo>
                    <a:pt x="234651" y="39378"/>
                  </a:lnTo>
                  <a:lnTo>
                    <a:pt x="276023" y="39378"/>
                  </a:lnTo>
                  <a:lnTo>
                    <a:pt x="252222" y="157638"/>
                  </a:lnTo>
                  <a:lnTo>
                    <a:pt x="301569" y="157638"/>
                  </a:lnTo>
                  <a:lnTo>
                    <a:pt x="313657" y="96577"/>
                  </a:lnTo>
                  <a:lnTo>
                    <a:pt x="349172" y="96577"/>
                  </a:lnTo>
                  <a:lnTo>
                    <a:pt x="336960" y="157638"/>
                  </a:lnTo>
                  <a:lnTo>
                    <a:pt x="386308" y="157638"/>
                  </a:lnTo>
                  <a:lnTo>
                    <a:pt x="417960" y="0"/>
                  </a:lnTo>
                  <a:lnTo>
                    <a:pt x="368612" y="0"/>
                  </a:lnTo>
                  <a:close/>
                </a:path>
              </a:pathLst>
            </a:custGeom>
            <a:grpFill/>
            <a:ln w="12419" cap="flat">
              <a:noFill/>
              <a:prstDash val="solid"/>
              <a:miter/>
            </a:ln>
          </p:spPr>
          <p:txBody>
            <a:bodyPr rtlCol="0" anchor="ctr"/>
            <a:lstStyle/>
            <a:p>
              <a:endParaRPr lang="de-CH" noProof="0"/>
            </a:p>
          </p:txBody>
        </p:sp>
      </p:grpSp>
    </p:spTree>
    <p:extLst>
      <p:ext uri="{BB962C8B-B14F-4D97-AF65-F5344CB8AC3E}">
        <p14:creationId xmlns:p14="http://schemas.microsoft.com/office/powerpoint/2010/main" val="371683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lvl1pPr>
              <a:defRPr/>
            </a:lvl1pPr>
          </a:lstStyle>
          <a:p>
            <a:r>
              <a:rPr lang="en-GB" noProof="0"/>
              <a:t>Click to edit Master title style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C47C2547-0B26-4181-9958-0F74634B97A1}" type="datetime1">
              <a:rPr lang="de-CH" noProof="0" smtClean="0"/>
              <a:t>25.04.26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05941150-30DE-48F5-9038-0E82CD18DE28}"/>
              </a:ext>
            </a:extLst>
          </p:cNvPr>
          <p:cNvSpPr>
            <a:spLocks noGrp="1"/>
          </p:cNvSpPr>
          <p:nvPr>
            <p:ph type="pic" sz="quarter" idx="13"/>
          </p:nvPr>
        </p:nvSpPr>
        <p:spPr>
          <a:xfrm>
            <a:off x="731837" y="1412874"/>
            <a:ext cx="10728000" cy="4860000"/>
          </a:xfrm>
        </p:spPr>
        <p:txBody>
          <a:bodyPr tIns="1620000"/>
          <a:lstStyle>
            <a:lvl1pPr marL="0" indent="0" algn="ctr">
              <a:buNone/>
              <a:defRPr/>
            </a:lvl1pPr>
          </a:lstStyle>
          <a:p>
            <a:r>
              <a:rPr lang="en-GB" noProof="0"/>
              <a:t>Click icon to add picture</a:t>
            </a:r>
            <a:endParaRPr lang="de-CH" noProof="0"/>
          </a:p>
        </p:txBody>
      </p:sp>
    </p:spTree>
    <p:extLst>
      <p:ext uri="{BB962C8B-B14F-4D97-AF65-F5344CB8AC3E}">
        <p14:creationId xmlns:p14="http://schemas.microsoft.com/office/powerpoint/2010/main" val="943852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 full page">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4A533879-9C0F-4F94-919F-30B833E8871A}" type="datetime1">
              <a:rPr lang="de-CH" noProof="0" smtClean="0"/>
              <a:t>25.04.26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05941150-30DE-48F5-9038-0E82CD18DE28}"/>
              </a:ext>
            </a:extLst>
          </p:cNvPr>
          <p:cNvSpPr>
            <a:spLocks noGrp="1"/>
          </p:cNvSpPr>
          <p:nvPr>
            <p:ph type="pic" sz="quarter" idx="13"/>
          </p:nvPr>
        </p:nvSpPr>
        <p:spPr>
          <a:xfrm>
            <a:off x="731837" y="260350"/>
            <a:ext cx="10728000" cy="6012524"/>
          </a:xfrm>
        </p:spPr>
        <p:txBody>
          <a:bodyPr tIns="2160000"/>
          <a:lstStyle>
            <a:lvl1pPr marL="0" indent="0" algn="ctr">
              <a:buNone/>
              <a:defRPr/>
            </a:lvl1pPr>
          </a:lstStyle>
          <a:p>
            <a:r>
              <a:rPr lang="en-GB" noProof="0"/>
              <a:t>Click icon to add picture</a:t>
            </a:r>
            <a:endParaRPr lang="de-CH" noProof="0"/>
          </a:p>
        </p:txBody>
      </p:sp>
    </p:spTree>
    <p:extLst>
      <p:ext uri="{BB962C8B-B14F-4D97-AF65-F5344CB8AC3E}">
        <p14:creationId xmlns:p14="http://schemas.microsoft.com/office/powerpoint/2010/main" val="2842048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 zwei Spal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GB"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6204163" y="1412875"/>
            <a:ext cx="5256000" cy="4860000"/>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68EF82BE-DF56-4719-B180-C3B0D509F71F}" type="datetime1">
              <a:rPr lang="de-CH" noProof="0" smtClean="0"/>
              <a:t>25.04.26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5040000" cy="4860000"/>
          </a:xfrm>
        </p:spPr>
        <p:txBody>
          <a:bodyPr tIns="1620000"/>
          <a:lstStyle>
            <a:lvl1pPr marL="0" indent="0" algn="ctr">
              <a:buNone/>
              <a:defRPr/>
            </a:lvl1pPr>
          </a:lstStyle>
          <a:p>
            <a:r>
              <a:rPr lang="en-GB" noProof="0"/>
              <a:t>Click icon to add picture</a:t>
            </a:r>
            <a:endParaRPr lang="de-CH" noProof="0"/>
          </a:p>
        </p:txBody>
      </p:sp>
    </p:spTree>
    <p:extLst>
      <p:ext uri="{BB962C8B-B14F-4D97-AF65-F5344CB8AC3E}">
        <p14:creationId xmlns:p14="http://schemas.microsoft.com/office/powerpoint/2010/main" val="3996394784"/>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halt 2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GB"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6" y="5121800"/>
            <a:ext cx="5255999" cy="1152000"/>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3E1B9425-7348-43E2-B0E9-6A2A48F5FA8A}" type="datetime1">
              <a:rPr lang="de-CH" noProof="0" smtClean="0"/>
              <a:t>25.04.26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5256000" cy="3420000"/>
          </a:xfrm>
        </p:spPr>
        <p:txBody>
          <a:bodyPr tIns="900000"/>
          <a:lstStyle>
            <a:lvl1pPr marL="0" indent="0" algn="ctr">
              <a:buNone/>
              <a:defRPr/>
            </a:lvl1pPr>
          </a:lstStyle>
          <a:p>
            <a:r>
              <a:rPr lang="en-GB" noProof="0"/>
              <a:t>Click icon to add picture</a:t>
            </a:r>
            <a:endParaRPr lang="de-CH" noProof="0"/>
          </a:p>
        </p:txBody>
      </p:sp>
      <p:sp>
        <p:nvSpPr>
          <p:cNvPr id="9" name="Bildplatzhalter 10">
            <a:extLst>
              <a:ext uri="{FF2B5EF4-FFF2-40B4-BE49-F238E27FC236}">
                <a16:creationId xmlns:a16="http://schemas.microsoft.com/office/drawing/2014/main" id="{1AAB6914-2518-430D-BF4C-14EA51B61410}"/>
              </a:ext>
            </a:extLst>
          </p:cNvPr>
          <p:cNvSpPr>
            <a:spLocks noGrp="1"/>
          </p:cNvSpPr>
          <p:nvPr>
            <p:ph type="pic" sz="quarter" idx="14"/>
          </p:nvPr>
        </p:nvSpPr>
        <p:spPr>
          <a:xfrm>
            <a:off x="6204162" y="1412875"/>
            <a:ext cx="5256000" cy="3420000"/>
          </a:xfrm>
        </p:spPr>
        <p:txBody>
          <a:bodyPr tIns="900000"/>
          <a:lstStyle>
            <a:lvl1pPr marL="0" indent="0" algn="ctr">
              <a:buNone/>
              <a:defRPr/>
            </a:lvl1pPr>
          </a:lstStyle>
          <a:p>
            <a:r>
              <a:rPr lang="en-GB" noProof="0"/>
              <a:t>Click icon to add picture</a:t>
            </a:r>
            <a:endParaRPr lang="de-CH" noProof="0"/>
          </a:p>
        </p:txBody>
      </p:sp>
      <p:sp>
        <p:nvSpPr>
          <p:cNvPr id="12" name="Inhaltsplatzhalter 2">
            <a:extLst>
              <a:ext uri="{FF2B5EF4-FFF2-40B4-BE49-F238E27FC236}">
                <a16:creationId xmlns:a16="http://schemas.microsoft.com/office/drawing/2014/main" id="{5092EEFB-079B-4C38-A665-E52B9837601B}"/>
              </a:ext>
            </a:extLst>
          </p:cNvPr>
          <p:cNvSpPr>
            <a:spLocks noGrp="1"/>
          </p:cNvSpPr>
          <p:nvPr>
            <p:ph idx="15"/>
          </p:nvPr>
        </p:nvSpPr>
        <p:spPr>
          <a:xfrm>
            <a:off x="6204162" y="5121800"/>
            <a:ext cx="5256001" cy="1152000"/>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de-CH" noProof="0"/>
          </a:p>
        </p:txBody>
      </p:sp>
    </p:spTree>
    <p:extLst>
      <p:ext uri="{BB962C8B-B14F-4D97-AF65-F5344CB8AC3E}">
        <p14:creationId xmlns:p14="http://schemas.microsoft.com/office/powerpoint/2010/main" val="1085750778"/>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 3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GB"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6" y="4166439"/>
            <a:ext cx="10728327" cy="2124401"/>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0F7782B2-018B-4FD3-AD95-2F64EDE0E9D6}" type="datetime1">
              <a:rPr lang="de-CH" noProof="0" smtClean="0"/>
              <a:t>25.04.26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3420000" cy="2484000"/>
          </a:xfrm>
        </p:spPr>
        <p:txBody>
          <a:bodyPr tIns="360000"/>
          <a:lstStyle>
            <a:lvl1pPr marL="0" indent="0" algn="ctr">
              <a:buNone/>
              <a:defRPr/>
            </a:lvl1pPr>
          </a:lstStyle>
          <a:p>
            <a:r>
              <a:rPr lang="en-GB" noProof="0"/>
              <a:t>Click icon to add picture</a:t>
            </a:r>
            <a:endParaRPr lang="de-CH" noProof="0"/>
          </a:p>
        </p:txBody>
      </p:sp>
      <p:sp>
        <p:nvSpPr>
          <p:cNvPr id="13" name="Bildplatzhalter 10">
            <a:extLst>
              <a:ext uri="{FF2B5EF4-FFF2-40B4-BE49-F238E27FC236}">
                <a16:creationId xmlns:a16="http://schemas.microsoft.com/office/drawing/2014/main" id="{36793346-BF6B-42A8-ADE0-3AA3DC3B239A}"/>
              </a:ext>
            </a:extLst>
          </p:cNvPr>
          <p:cNvSpPr>
            <a:spLocks noGrp="1"/>
          </p:cNvSpPr>
          <p:nvPr>
            <p:ph type="pic" sz="quarter" idx="16"/>
          </p:nvPr>
        </p:nvSpPr>
        <p:spPr>
          <a:xfrm>
            <a:off x="8040162" y="1414800"/>
            <a:ext cx="3420000" cy="2484000"/>
          </a:xfrm>
        </p:spPr>
        <p:txBody>
          <a:bodyPr tIns="360000"/>
          <a:lstStyle>
            <a:lvl1pPr marL="0" indent="0" algn="ctr">
              <a:buNone/>
              <a:defRPr/>
            </a:lvl1pPr>
          </a:lstStyle>
          <a:p>
            <a:r>
              <a:rPr lang="en-GB" noProof="0"/>
              <a:t>Click icon to add picture</a:t>
            </a:r>
            <a:endParaRPr lang="de-CH" noProof="0"/>
          </a:p>
        </p:txBody>
      </p:sp>
      <p:sp>
        <p:nvSpPr>
          <p:cNvPr id="14" name="Bildplatzhalter 10">
            <a:extLst>
              <a:ext uri="{FF2B5EF4-FFF2-40B4-BE49-F238E27FC236}">
                <a16:creationId xmlns:a16="http://schemas.microsoft.com/office/drawing/2014/main" id="{FE637F68-618E-43EB-B240-4BFA26852FC5}"/>
              </a:ext>
            </a:extLst>
          </p:cNvPr>
          <p:cNvSpPr>
            <a:spLocks noGrp="1"/>
          </p:cNvSpPr>
          <p:nvPr>
            <p:ph type="pic" sz="quarter" idx="17"/>
          </p:nvPr>
        </p:nvSpPr>
        <p:spPr>
          <a:xfrm>
            <a:off x="4385999" y="1414800"/>
            <a:ext cx="3420000" cy="2484000"/>
          </a:xfrm>
        </p:spPr>
        <p:txBody>
          <a:bodyPr tIns="360000"/>
          <a:lstStyle>
            <a:lvl1pPr marL="0" indent="0" algn="ctr">
              <a:buNone/>
              <a:defRPr/>
            </a:lvl1pPr>
          </a:lstStyle>
          <a:p>
            <a:r>
              <a:rPr lang="en-GB" noProof="0"/>
              <a:t>Click icon to add picture</a:t>
            </a:r>
            <a:endParaRPr lang="de-CH" noProof="0"/>
          </a:p>
        </p:txBody>
      </p:sp>
    </p:spTree>
    <p:extLst>
      <p:ext uri="{BB962C8B-B14F-4D97-AF65-F5344CB8AC3E}">
        <p14:creationId xmlns:p14="http://schemas.microsoft.com/office/powerpoint/2010/main" val="2252988954"/>
      </p:ext>
    </p:extLst>
  </p:cSld>
  <p:clrMapOvr>
    <a:masterClrMapping/>
  </p:clrMapOvr>
  <p:extLst>
    <p:ext uri="{DCECCB84-F9BA-43D5-87BE-67443E8EF086}">
      <p15:sldGuideLst xmlns:p15="http://schemas.microsoft.com/office/powerpoint/2012/main">
        <p15:guide id="1" orient="horz" pos="39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 Tabel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GB"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7" y="1412875"/>
            <a:ext cx="10728325" cy="396000"/>
          </a:xfrm>
        </p:spPr>
        <p:txBody>
          <a:bodyPr/>
          <a:lstStyle>
            <a:lvl1pPr marL="0" indent="0">
              <a:buNone/>
              <a:defRPr b="1"/>
            </a:lvl1pPr>
            <a:lvl2pPr marL="266700" indent="0">
              <a:buNone/>
              <a:defRPr b="1"/>
            </a:lvl2pPr>
            <a:lvl3pPr marL="538163" indent="0">
              <a:buNone/>
              <a:defRPr b="1"/>
            </a:lvl3pPr>
            <a:lvl4pPr marL="804862" indent="0">
              <a:buNone/>
              <a:defRPr b="1"/>
            </a:lvl4pPr>
            <a:lvl5pPr marL="1076325" indent="0">
              <a:buNone/>
              <a:defRPr b="1"/>
            </a:lvl5pPr>
          </a:lstStyle>
          <a:p>
            <a:pPr lvl="0"/>
            <a:r>
              <a:rPr lang="en-GB" noProof="0"/>
              <a:t>Click to edit Master text styles</a:t>
            </a:r>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D0A0FED0-443D-411A-B8E4-0668A8890EE3}" type="datetime1">
              <a:rPr lang="de-CH" noProof="0" smtClean="0"/>
              <a:t>25.04.26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9" name="Tabellenplatzhalter 8">
            <a:extLst>
              <a:ext uri="{FF2B5EF4-FFF2-40B4-BE49-F238E27FC236}">
                <a16:creationId xmlns:a16="http://schemas.microsoft.com/office/drawing/2014/main" id="{A1D947E6-CC00-458E-BDE1-B0877E30333C}"/>
              </a:ext>
            </a:extLst>
          </p:cNvPr>
          <p:cNvSpPr>
            <a:spLocks noGrp="1"/>
          </p:cNvSpPr>
          <p:nvPr>
            <p:ph type="tbl" sz="quarter" idx="13"/>
          </p:nvPr>
        </p:nvSpPr>
        <p:spPr>
          <a:xfrm>
            <a:off x="731838" y="2061398"/>
            <a:ext cx="10728325" cy="4212401"/>
          </a:xfrm>
        </p:spPr>
        <p:txBody>
          <a:bodyPr tIns="1260000"/>
          <a:lstStyle>
            <a:lvl1pPr marL="0" indent="0" algn="ctr">
              <a:spcBef>
                <a:spcPts val="0"/>
              </a:spcBef>
              <a:buNone/>
              <a:defRPr sz="1400"/>
            </a:lvl1pPr>
          </a:lstStyle>
          <a:p>
            <a:r>
              <a:rPr lang="en-GB" noProof="0"/>
              <a:t>Click icon to add table</a:t>
            </a:r>
            <a:endParaRPr lang="de-CH" noProof="0"/>
          </a:p>
        </p:txBody>
      </p:sp>
    </p:spTree>
    <p:extLst>
      <p:ext uri="{BB962C8B-B14F-4D97-AF65-F5344CB8AC3E}">
        <p14:creationId xmlns:p14="http://schemas.microsoft.com/office/powerpoint/2010/main" val="2928661315"/>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chlussfolie">
    <p:bg>
      <p:bgPr>
        <a:solidFill>
          <a:schemeClr val="bg1"/>
        </a:solidFill>
        <a:effectLst/>
      </p:bgPr>
    </p:bg>
    <p:spTree>
      <p:nvGrpSpPr>
        <p:cNvPr id="1" name=""/>
        <p:cNvGrpSpPr/>
        <p:nvPr/>
      </p:nvGrpSpPr>
      <p:grpSpPr>
        <a:xfrm>
          <a:off x="0" y="0"/>
          <a:ext cx="0" cy="0"/>
          <a:chOff x="0" y="0"/>
          <a:chExt cx="0" cy="0"/>
        </a:xfrm>
      </p:grpSpPr>
      <p:sp>
        <p:nvSpPr>
          <p:cNvPr id="20" name="Inhaltsplatzhalter 2">
            <a:extLst>
              <a:ext uri="{FF2B5EF4-FFF2-40B4-BE49-F238E27FC236}">
                <a16:creationId xmlns:a16="http://schemas.microsoft.com/office/drawing/2014/main" id="{394B20FF-3667-40DF-92A1-C6CF3BBCA26D}"/>
              </a:ext>
            </a:extLst>
          </p:cNvPr>
          <p:cNvSpPr>
            <a:spLocks noGrp="1"/>
          </p:cNvSpPr>
          <p:nvPr>
            <p:ph idx="1"/>
          </p:nvPr>
        </p:nvSpPr>
        <p:spPr>
          <a:xfrm>
            <a:off x="731837" y="2135492"/>
            <a:ext cx="10728325" cy="3960000"/>
          </a:xfrm>
        </p:spPr>
        <p:txBody>
          <a:bodyPr/>
          <a:lstStyle>
            <a:lvl1pPr marL="0" indent="0">
              <a:spcBef>
                <a:spcPts val="0"/>
              </a:spcBef>
              <a:buNone/>
              <a:defRPr>
                <a:solidFill>
                  <a:schemeClr val="tx1"/>
                </a:solidFill>
              </a:defRPr>
            </a:lvl1pPr>
            <a:lvl2pPr marL="266700" indent="0">
              <a:buNone/>
              <a:defRPr>
                <a:solidFill>
                  <a:schemeClr val="bg1"/>
                </a:solidFill>
              </a:defRPr>
            </a:lvl2pPr>
            <a:lvl3pPr marL="540000" indent="0">
              <a:buNone/>
              <a:defRPr>
                <a:solidFill>
                  <a:schemeClr val="bg1"/>
                </a:solidFill>
              </a:defRPr>
            </a:lvl3pPr>
            <a:lvl4pPr marL="808537" indent="0">
              <a:buNone/>
              <a:defRPr>
                <a:solidFill>
                  <a:schemeClr val="bg1"/>
                </a:solidFill>
              </a:defRPr>
            </a:lvl4pPr>
            <a:lvl5pPr marL="1080000" indent="0">
              <a:buNone/>
              <a:defRPr>
                <a:solidFill>
                  <a:schemeClr val="bg1"/>
                </a:solidFill>
              </a:defRPr>
            </a:lvl5pPr>
          </a:lstStyle>
          <a:p>
            <a:pPr lvl="0"/>
            <a:r>
              <a:rPr lang="en-GB" noProof="0"/>
              <a:t>Click to edit Master text styles</a:t>
            </a:r>
          </a:p>
        </p:txBody>
      </p:sp>
      <p:sp>
        <p:nvSpPr>
          <p:cNvPr id="21" name="Bildplatzhalter 8">
            <a:extLst>
              <a:ext uri="{FF2B5EF4-FFF2-40B4-BE49-F238E27FC236}">
                <a16:creationId xmlns:a16="http://schemas.microsoft.com/office/drawing/2014/main" id="{794484F1-3B7F-46CE-AD0B-2310A557A990}"/>
              </a:ext>
            </a:extLst>
          </p:cNvPr>
          <p:cNvSpPr>
            <a:spLocks noGrp="1"/>
          </p:cNvSpPr>
          <p:nvPr>
            <p:ph type="pic" sz="quarter" idx="12"/>
          </p:nvPr>
        </p:nvSpPr>
        <p:spPr>
          <a:xfrm>
            <a:off x="10200163" y="6489088"/>
            <a:ext cx="1260000" cy="180000"/>
          </a:xfrm>
        </p:spPr>
        <p:txBody>
          <a:bodyPr/>
          <a:lstStyle>
            <a:lvl1pPr marL="0" indent="0" algn="l">
              <a:buNone/>
              <a:defRPr sz="700">
                <a:solidFill>
                  <a:schemeClr val="tx1"/>
                </a:solidFill>
              </a:defRPr>
            </a:lvl1pPr>
          </a:lstStyle>
          <a:p>
            <a:r>
              <a:rPr lang="en-GB" noProof="0"/>
              <a:t>Click icon to add picture</a:t>
            </a:r>
            <a:endParaRPr lang="de-CH" noProof="0"/>
          </a:p>
        </p:txBody>
      </p:sp>
      <p:pic>
        <p:nvPicPr>
          <p:cNvPr id="22" name="Grafik 21">
            <a:extLst>
              <a:ext uri="{FF2B5EF4-FFF2-40B4-BE49-F238E27FC236}">
                <a16:creationId xmlns:a16="http://schemas.microsoft.com/office/drawing/2014/main" id="{F900572E-A73E-42BE-96FA-38ADC4E79FD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Tree>
    <p:extLst>
      <p:ext uri="{BB962C8B-B14F-4D97-AF65-F5344CB8AC3E}">
        <p14:creationId xmlns:p14="http://schemas.microsoft.com/office/powerpoint/2010/main" val="1752670339"/>
      </p:ext>
    </p:extLst>
  </p:cSld>
  <p:clrMapOvr>
    <a:masterClrMapping/>
  </p:clrMapOvr>
  <p:extLst>
    <p:ext uri="{DCECCB84-F9BA-43D5-87BE-67443E8EF086}">
      <p15:sldGuideLst xmlns:p15="http://schemas.microsoft.com/office/powerpoint/2012/main">
        <p15:guide id="1" pos="6698">
          <p15:clr>
            <a:srgbClr val="FBAE40"/>
          </p15:clr>
        </p15:guide>
        <p15:guide id="3" orient="horz" pos="640">
          <p15:clr>
            <a:srgbClr val="FBAE40"/>
          </p15:clr>
        </p15:guide>
        <p15:guide id="4" orient="horz" pos="39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731837" y="260351"/>
            <a:ext cx="10728325" cy="900000"/>
          </a:xfrm>
          <a:prstGeom prst="rect">
            <a:avLst/>
          </a:prstGeom>
        </p:spPr>
        <p:txBody>
          <a:bodyPr vert="horz" lIns="0" tIns="0" rIns="0" bIns="0" rtlCol="0" anchor="t" anchorCtr="0">
            <a:noAutofit/>
          </a:bodyPr>
          <a:lstStyle/>
          <a:p>
            <a:r>
              <a:rPr lang="de-CH"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731837" y="1412875"/>
            <a:ext cx="10728325" cy="4680000"/>
          </a:xfrm>
          <a:prstGeom prst="rect">
            <a:avLst/>
          </a:prstGeom>
        </p:spPr>
        <p:txBody>
          <a:bodyPr vert="horz" lIns="0" tIns="0" rIns="0" bIns="0" rtlCol="0">
            <a:noAutofit/>
          </a:bodyPr>
          <a:lstStyle/>
          <a:p>
            <a:pPr lvl="0"/>
            <a:r>
              <a:rPr lang="de-CH" noProof="0"/>
              <a:t>Mastertextformat bearbeiten</a:t>
            </a:r>
          </a:p>
          <a:p>
            <a:pPr lvl="1"/>
            <a:r>
              <a:rPr lang="de-CH" noProof="0"/>
              <a:t>Zweite Ebene</a:t>
            </a:r>
          </a:p>
          <a:p>
            <a:pPr lvl="2"/>
            <a:r>
              <a:rPr lang="de-CH" noProof="0"/>
              <a:t>Dritte Ebene</a:t>
            </a:r>
          </a:p>
          <a:p>
            <a:pPr lvl="3"/>
            <a:r>
              <a:rPr lang="de-CH" noProof="0"/>
              <a:t>Vierte Ebene</a:t>
            </a:r>
          </a:p>
          <a:p>
            <a:pPr lvl="4"/>
            <a:r>
              <a:rPr lang="de-CH" noProof="0"/>
              <a:t>Fünfte Ebene</a:t>
            </a:r>
          </a:p>
        </p:txBody>
      </p:sp>
      <p:sp>
        <p:nvSpPr>
          <p:cNvPr id="4" name="Datumsplatzhalter 3">
            <a:extLst>
              <a:ext uri="{FF2B5EF4-FFF2-40B4-BE49-F238E27FC236}">
                <a16:creationId xmlns:a16="http://schemas.microsoft.com/office/drawing/2014/main" id="{37C96E51-36C9-4BEE-A761-33378A0DF03D}"/>
              </a:ext>
            </a:extLst>
          </p:cNvPr>
          <p:cNvSpPr>
            <a:spLocks noGrp="1"/>
          </p:cNvSpPr>
          <p:nvPr>
            <p:ph type="dt" sz="half" idx="2"/>
          </p:nvPr>
        </p:nvSpPr>
        <p:spPr>
          <a:xfrm>
            <a:off x="10473692" y="6522444"/>
            <a:ext cx="612000" cy="216000"/>
          </a:xfrm>
          <a:prstGeom prst="rect">
            <a:avLst/>
          </a:prstGeom>
        </p:spPr>
        <p:txBody>
          <a:bodyPr vert="horz" lIns="0" tIns="0" rIns="0" bIns="0" rtlCol="0" anchor="ctr"/>
          <a:lstStyle>
            <a:lvl1pPr algn="l">
              <a:defRPr sz="800">
                <a:solidFill>
                  <a:schemeClr val="tx1"/>
                </a:solidFill>
              </a:defRPr>
            </a:lvl1pPr>
          </a:lstStyle>
          <a:p>
            <a:fld id="{4A358CF3-A22A-46C1-A4E5-5810212466EF}" type="datetime1">
              <a:rPr lang="de-CH" noProof="0" smtClean="0"/>
              <a:t>25.04.26</a:t>
            </a:fld>
            <a:endParaRPr lang="de-CH" noProof="0"/>
          </a:p>
        </p:txBody>
      </p:sp>
      <p:sp>
        <p:nvSpPr>
          <p:cNvPr id="5" name="Fußzeilenplatzhalter 4">
            <a:extLst>
              <a:ext uri="{FF2B5EF4-FFF2-40B4-BE49-F238E27FC236}">
                <a16:creationId xmlns:a16="http://schemas.microsoft.com/office/drawing/2014/main" id="{411EC403-6E63-4450-AFDD-66CA49D6CCBE}"/>
              </a:ext>
            </a:extLst>
          </p:cNvPr>
          <p:cNvSpPr>
            <a:spLocks noGrp="1"/>
          </p:cNvSpPr>
          <p:nvPr>
            <p:ph type="ftr" sz="quarter" idx="3"/>
          </p:nvPr>
        </p:nvSpPr>
        <p:spPr>
          <a:xfrm>
            <a:off x="2171700" y="6522444"/>
            <a:ext cx="5400000" cy="216000"/>
          </a:xfrm>
          <a:prstGeom prst="rect">
            <a:avLst/>
          </a:prstGeom>
        </p:spPr>
        <p:txBody>
          <a:bodyPr vert="horz" lIns="0" tIns="0" rIns="0" bIns="0" rtlCol="0" anchor="ctr"/>
          <a:lstStyle>
            <a:lvl1pPr algn="l">
              <a:defRPr sz="800">
                <a:solidFill>
                  <a:schemeClr val="tx1"/>
                </a:solidFill>
              </a:defRPr>
            </a:lvl1p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7FDFCC57-7DDC-4B2C-A6BE-862DAF9C9F11}"/>
              </a:ext>
            </a:extLst>
          </p:cNvPr>
          <p:cNvSpPr>
            <a:spLocks noGrp="1"/>
          </p:cNvSpPr>
          <p:nvPr>
            <p:ph type="sldNum" sz="quarter" idx="4"/>
          </p:nvPr>
        </p:nvSpPr>
        <p:spPr>
          <a:xfrm>
            <a:off x="11137585" y="6522444"/>
            <a:ext cx="322577" cy="216000"/>
          </a:xfrm>
          <a:prstGeom prst="rect">
            <a:avLst/>
          </a:prstGeom>
        </p:spPr>
        <p:txBody>
          <a:bodyPr vert="horz" lIns="0" tIns="0" rIns="0" bIns="0" rtlCol="0" anchor="ctr"/>
          <a:lstStyle>
            <a:lvl1pPr algn="r">
              <a:defRPr sz="800">
                <a:solidFill>
                  <a:schemeClr val="tx1"/>
                </a:solidFill>
              </a:defRPr>
            </a:lvl1pPr>
          </a:lstStyle>
          <a:p>
            <a:fld id="{5ACA52AF-F19D-405C-AD5F-7D94B96A5CC3}" type="slidenum">
              <a:rPr lang="de-CH" noProof="0" smtClean="0"/>
              <a:pPr/>
              <a:t>‹#›</a:t>
            </a:fld>
            <a:endParaRPr lang="de-CH" noProof="0"/>
          </a:p>
        </p:txBody>
      </p:sp>
    </p:spTree>
    <p:extLst>
      <p:ext uri="{BB962C8B-B14F-4D97-AF65-F5344CB8AC3E}">
        <p14:creationId xmlns:p14="http://schemas.microsoft.com/office/powerpoint/2010/main" val="40960627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0"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61" userDrawn="1">
          <p15:clr>
            <a:srgbClr val="F26B43"/>
          </p15:clr>
        </p15:guide>
        <p15:guide id="3" pos="7219" userDrawn="1">
          <p15:clr>
            <a:srgbClr val="F26B43"/>
          </p15:clr>
        </p15:guide>
        <p15:guide id="4" orient="horz" pos="164" userDrawn="1">
          <p15:clr>
            <a:srgbClr val="F26B43"/>
          </p15:clr>
        </p15:guide>
        <p15:guide id="5" orient="horz" pos="890" userDrawn="1">
          <p15:clr>
            <a:srgbClr val="F26B43"/>
          </p15:clr>
        </p15:guide>
        <p15:guide id="6" orient="horz" pos="420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2.sv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png"/><Relationship Id="rId18" Type="http://schemas.openxmlformats.org/officeDocument/2006/relationships/image" Target="../media/image23.sv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svg"/><Relationship Id="rId17" Type="http://schemas.openxmlformats.org/officeDocument/2006/relationships/image" Target="../media/image22.png"/><Relationship Id="rId2" Type="http://schemas.openxmlformats.org/officeDocument/2006/relationships/notesSlide" Target="../notesSlides/notesSlide4.xml"/><Relationship Id="rId16" Type="http://schemas.openxmlformats.org/officeDocument/2006/relationships/image" Target="../media/image21.svg"/><Relationship Id="rId20" Type="http://schemas.openxmlformats.org/officeDocument/2006/relationships/image" Target="../media/image25.svg"/><Relationship Id="rId1" Type="http://schemas.openxmlformats.org/officeDocument/2006/relationships/slideLayout" Target="../slideLayouts/slideLayout6.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svg"/><Relationship Id="rId19" Type="http://schemas.openxmlformats.org/officeDocument/2006/relationships/image" Target="../media/image24.png"/><Relationship Id="rId4" Type="http://schemas.openxmlformats.org/officeDocument/2006/relationships/image" Target="../media/image9.svg"/><Relationship Id="rId9" Type="http://schemas.openxmlformats.org/officeDocument/2006/relationships/image" Target="../media/image14.png"/><Relationship Id="rId14" Type="http://schemas.openxmlformats.org/officeDocument/2006/relationships/image" Target="../media/image19.svg"/><Relationship Id="rId22" Type="http://schemas.openxmlformats.org/officeDocument/2006/relationships/image" Target="../media/image27.svg"/></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30.png"/><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3.png"/><Relationship Id="rId3" Type="http://schemas.openxmlformats.org/officeDocument/2006/relationships/image" Target="../media/image34.png"/><Relationship Id="rId7" Type="http://schemas.openxmlformats.org/officeDocument/2006/relationships/image" Target="../media/image38.svg"/><Relationship Id="rId12"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37.png"/><Relationship Id="rId11" Type="http://schemas.openxmlformats.org/officeDocument/2006/relationships/image" Target="../media/image42.sv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svg"/><Relationship Id="rId14" Type="http://schemas.openxmlformats.org/officeDocument/2006/relationships/image" Target="../media/image44.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11.sv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3.tiff"/><Relationship Id="rId18" Type="http://schemas.openxmlformats.org/officeDocument/2006/relationships/image" Target="../media/image43.png"/><Relationship Id="rId3" Type="http://schemas.openxmlformats.org/officeDocument/2006/relationships/image" Target="../media/image46.png"/><Relationship Id="rId21" Type="http://schemas.openxmlformats.org/officeDocument/2006/relationships/image" Target="../media/image550.png"/><Relationship Id="rId7" Type="http://schemas.openxmlformats.org/officeDocument/2006/relationships/image" Target="../media/image48.gif"/><Relationship Id="rId12" Type="http://schemas.openxmlformats.org/officeDocument/2006/relationships/image" Target="../media/image490.png"/><Relationship Id="rId17" Type="http://schemas.openxmlformats.org/officeDocument/2006/relationships/image" Target="../media/image55.png"/><Relationship Id="rId2" Type="http://schemas.openxmlformats.org/officeDocument/2006/relationships/notesSlide" Target="../notesSlides/notesSlide14.xml"/><Relationship Id="rId16" Type="http://schemas.openxmlformats.org/officeDocument/2006/relationships/image" Target="../media/image510.png"/><Relationship Id="rId20" Type="http://schemas.openxmlformats.org/officeDocument/2006/relationships/image" Target="../media/image56.png"/><Relationship Id="rId1" Type="http://schemas.openxmlformats.org/officeDocument/2006/relationships/slideLayout" Target="../slideLayouts/slideLayout6.xml"/><Relationship Id="rId6" Type="http://schemas.openxmlformats.org/officeDocument/2006/relationships/image" Target="../media/image47.gif"/><Relationship Id="rId11" Type="http://schemas.openxmlformats.org/officeDocument/2006/relationships/image" Target="../media/image52.tiff"/><Relationship Id="rId5" Type="http://schemas.openxmlformats.org/officeDocument/2006/relationships/image" Target="../media/image11.svg"/><Relationship Id="rId15" Type="http://schemas.openxmlformats.org/officeDocument/2006/relationships/image" Target="../media/image52.png"/><Relationship Id="rId10" Type="http://schemas.openxmlformats.org/officeDocument/2006/relationships/image" Target="../media/image51.png"/><Relationship Id="rId19" Type="http://schemas.openxmlformats.org/officeDocument/2006/relationships/image" Target="../media/image44.svg"/><Relationship Id="rId4" Type="http://schemas.openxmlformats.org/officeDocument/2006/relationships/image" Target="../media/image10.png"/><Relationship Id="rId9" Type="http://schemas.openxmlformats.org/officeDocument/2006/relationships/image" Target="../media/image50.png"/><Relationship Id="rId14" Type="http://schemas.openxmlformats.org/officeDocument/2006/relationships/image" Target="../media/image54.png"/></Relationships>
</file>

<file path=ppt/slides/_rels/slide16.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1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64.png"/><Relationship Id="rId4" Type="http://schemas.openxmlformats.org/officeDocument/2006/relationships/image" Target="../media/image63.png"/></Relationships>
</file>

<file path=ppt/slides/_rels/slide1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6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2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76.png"/></Relationships>
</file>

<file path=ppt/slides/_rels/slide2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3" Type="http://schemas.openxmlformats.org/officeDocument/2006/relationships/image" Target="../media/image82.svg"/><Relationship Id="rId3" Type="http://schemas.openxmlformats.org/officeDocument/2006/relationships/image" Target="../media/image78.png"/><Relationship Id="rId12" Type="http://schemas.openxmlformats.org/officeDocument/2006/relationships/image" Target="../media/image81.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microsoft.com/office/2007/relationships/hdphoto" Target="../media/hdphoto1.wdp"/><Relationship Id="rId11" Type="http://schemas.openxmlformats.org/officeDocument/2006/relationships/image" Target="../media/image790.png"/><Relationship Id="rId5" Type="http://schemas.openxmlformats.org/officeDocument/2006/relationships/image" Target="../media/image80.png"/><Relationship Id="rId10" Type="http://schemas.openxmlformats.org/officeDocument/2006/relationships/image" Target="../media/image780.png"/><Relationship Id="rId4" Type="http://schemas.openxmlformats.org/officeDocument/2006/relationships/image" Target="../media/image79.png"/><Relationship Id="rId9" Type="http://schemas.openxmlformats.org/officeDocument/2006/relationships/image" Target="../media/image105.png"/><Relationship Id="rId14" Type="http://schemas.openxmlformats.org/officeDocument/2006/relationships/image" Target="../media/image83.png"/></Relationships>
</file>

<file path=ppt/slides/_rels/slide2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8" Type="http://schemas.openxmlformats.org/officeDocument/2006/relationships/image" Target="../media/image841.png"/><Relationship Id="rId13" Type="http://schemas.openxmlformats.org/officeDocument/2006/relationships/image" Target="../media/image89.png"/><Relationship Id="rId3" Type="http://schemas.openxmlformats.org/officeDocument/2006/relationships/image" Target="../media/image85.png"/><Relationship Id="rId7" Type="http://schemas.openxmlformats.org/officeDocument/2006/relationships/image" Target="../media/image830.png"/><Relationship Id="rId12" Type="http://schemas.openxmlformats.org/officeDocument/2006/relationships/image" Target="../media/image88.png"/><Relationship Id="rId2" Type="http://schemas.openxmlformats.org/officeDocument/2006/relationships/notesSlide" Target="../notesSlides/notesSlide31.xml"/><Relationship Id="rId16" Type="http://schemas.openxmlformats.org/officeDocument/2006/relationships/image" Target="../media/image890.png"/><Relationship Id="rId1" Type="http://schemas.openxmlformats.org/officeDocument/2006/relationships/slideLayout" Target="../slideLayouts/slideLayout6.xml"/><Relationship Id="rId6" Type="http://schemas.openxmlformats.org/officeDocument/2006/relationships/image" Target="../media/image82.png"/><Relationship Id="rId11" Type="http://schemas.openxmlformats.org/officeDocument/2006/relationships/image" Target="../media/image87.png"/><Relationship Id="rId5" Type="http://schemas.openxmlformats.org/officeDocument/2006/relationships/image" Target="../media/image810.png"/><Relationship Id="rId15" Type="http://schemas.openxmlformats.org/officeDocument/2006/relationships/image" Target="../media/image90.png"/><Relationship Id="rId10" Type="http://schemas.openxmlformats.org/officeDocument/2006/relationships/image" Target="../media/image86.png"/><Relationship Id="rId4" Type="http://schemas.openxmlformats.org/officeDocument/2006/relationships/image" Target="../media/image800.png"/><Relationship Id="rId9" Type="http://schemas.openxmlformats.org/officeDocument/2006/relationships/image" Target="../media/image850.png"/><Relationship Id="rId14" Type="http://schemas.openxmlformats.org/officeDocument/2006/relationships/image" Target="../media/image880.png"/></Relationships>
</file>

<file path=ppt/slides/_rels/slide3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2.xml"/><Relationship Id="rId1" Type="http://schemas.openxmlformats.org/officeDocument/2006/relationships/slideLayout" Target="../slideLayouts/slideLayout6.xml"/><Relationship Id="rId5" Type="http://schemas.openxmlformats.org/officeDocument/2006/relationships/image" Target="../media/image93.png"/><Relationship Id="rId4" Type="http://schemas.openxmlformats.org/officeDocument/2006/relationships/image" Target="../media/image92.png"/></Relationships>
</file>

<file path=ppt/slides/_rels/slide39.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840.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95.png"/></Relationships>
</file>

<file path=ppt/slides/_rels/slide4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860.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4AA67-F36F-59D8-2657-0F0BE7CA8F6F}"/>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F1CB977A-2FE3-54FC-C9A2-51559C5D1E71}"/>
              </a:ext>
            </a:extLst>
          </p:cNvPr>
          <p:cNvPicPr>
            <a:picLocks noChangeAspect="1"/>
          </p:cNvPicPr>
          <p:nvPr/>
        </p:nvPicPr>
        <p:blipFill>
          <a:blip r:embed="rId3" cstate="screen">
            <a:alphaModFix/>
            <a:extLst>
              <a:ext uri="{28A0092B-C50C-407E-A947-70E740481C1C}">
                <a14:useLocalDpi xmlns:a14="http://schemas.microsoft.com/office/drawing/2010/main"/>
              </a:ext>
            </a:extLst>
          </a:blip>
          <a:srcRect/>
          <a:stretch>
            <a:fillRect/>
          </a:stretch>
        </p:blipFill>
        <p:spPr>
          <a:xfrm>
            <a:off x="698887" y="125506"/>
            <a:ext cx="10859770" cy="5246381"/>
          </a:xfrm>
          <a:prstGeom prst="rect">
            <a:avLst/>
          </a:prstGeom>
        </p:spPr>
      </p:pic>
      <p:sp>
        <p:nvSpPr>
          <p:cNvPr id="5" name="Textplatzhalter 4">
            <a:extLst>
              <a:ext uri="{FF2B5EF4-FFF2-40B4-BE49-F238E27FC236}">
                <a16:creationId xmlns:a16="http://schemas.microsoft.com/office/drawing/2014/main" id="{1E22CF07-98B7-C444-2FF5-A66D3C619613}"/>
              </a:ext>
            </a:extLst>
          </p:cNvPr>
          <p:cNvSpPr>
            <a:spLocks noGrp="1"/>
          </p:cNvSpPr>
          <p:nvPr>
            <p:ph type="body" sz="quarter" idx="13"/>
          </p:nvPr>
        </p:nvSpPr>
        <p:spPr>
          <a:xfrm>
            <a:off x="1078515" y="5675291"/>
            <a:ext cx="6597933" cy="504864"/>
          </a:xfrm>
        </p:spPr>
        <p:txBody>
          <a:bodyPr/>
          <a:lstStyle/>
          <a:p>
            <a:endParaRPr lang="de-DE" dirty="0">
              <a:solidFill>
                <a:schemeClr val="tx1"/>
              </a:solidFill>
            </a:endParaRPr>
          </a:p>
          <a:p>
            <a:r>
              <a:rPr lang="de-DE" dirty="0">
                <a:solidFill>
                  <a:schemeClr val="tx1"/>
                </a:solidFill>
              </a:rPr>
              <a:t>Presented by </a:t>
            </a:r>
            <a:r>
              <a:rPr lang="de-DE" b="1" dirty="0">
                <a:solidFill>
                  <a:schemeClr val="tx1"/>
                </a:solidFill>
              </a:rPr>
              <a:t>Sophie Haldemann</a:t>
            </a:r>
          </a:p>
        </p:txBody>
      </p:sp>
      <p:sp>
        <p:nvSpPr>
          <p:cNvPr id="6" name="Textplatzhalter 4">
            <a:extLst>
              <a:ext uri="{FF2B5EF4-FFF2-40B4-BE49-F238E27FC236}">
                <a16:creationId xmlns:a16="http://schemas.microsoft.com/office/drawing/2014/main" id="{24E73812-11E6-CE7E-3762-C675BC2A2605}"/>
              </a:ext>
            </a:extLst>
          </p:cNvPr>
          <p:cNvSpPr txBox="1">
            <a:spLocks/>
          </p:cNvSpPr>
          <p:nvPr/>
        </p:nvSpPr>
        <p:spPr>
          <a:xfrm>
            <a:off x="1073999" y="4742384"/>
            <a:ext cx="10039485" cy="100800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bg1"/>
                </a:solidFill>
                <a:latin typeface="+mn-lt"/>
                <a:ea typeface="+mn-ea"/>
                <a:cs typeface="+mn-cs"/>
              </a:defRPr>
            </a:lvl1pPr>
            <a:lvl2pPr marL="266700" indent="0" algn="l" defTabSz="914400" rtl="0" eaLnBrk="1" latinLnBrk="0" hangingPunct="1">
              <a:lnSpc>
                <a:spcPct val="100000"/>
              </a:lnSpc>
              <a:spcBef>
                <a:spcPts val="0"/>
              </a:spcBef>
              <a:buFont typeface="Symbol" panose="05050102010706020507" pitchFamily="18" charset="2"/>
              <a:buNone/>
              <a:defRPr sz="1800" kern="1200">
                <a:solidFill>
                  <a:schemeClr val="bg1"/>
                </a:solidFill>
                <a:latin typeface="+mn-lt"/>
                <a:ea typeface="+mn-ea"/>
                <a:cs typeface="+mn-cs"/>
              </a:defRPr>
            </a:lvl2pPr>
            <a:lvl3pPr marL="538163" indent="0" algn="l" defTabSz="914400" rtl="0" eaLnBrk="1" latinLnBrk="0" hangingPunct="1">
              <a:lnSpc>
                <a:spcPct val="100000"/>
              </a:lnSpc>
              <a:spcBef>
                <a:spcPts val="0"/>
              </a:spcBef>
              <a:buFont typeface="Symbol" panose="05050102010706020507" pitchFamily="18" charset="2"/>
              <a:buNone/>
              <a:defRPr sz="1800" kern="1200">
                <a:solidFill>
                  <a:schemeClr val="bg1"/>
                </a:solidFill>
                <a:latin typeface="+mn-lt"/>
                <a:ea typeface="+mn-ea"/>
                <a:cs typeface="+mn-cs"/>
              </a:defRPr>
            </a:lvl3pPr>
            <a:lvl4pPr marL="804862" indent="0" algn="l" defTabSz="914400" rtl="0" eaLnBrk="1" latinLnBrk="0" hangingPunct="1">
              <a:lnSpc>
                <a:spcPct val="100000"/>
              </a:lnSpc>
              <a:spcBef>
                <a:spcPts val="0"/>
              </a:spcBef>
              <a:buFont typeface="Symbol" panose="05050102010706020507" pitchFamily="18" charset="2"/>
              <a:buNone/>
              <a:defRPr sz="1800" kern="1200">
                <a:solidFill>
                  <a:schemeClr val="bg1"/>
                </a:solidFill>
                <a:latin typeface="+mn-lt"/>
                <a:ea typeface="+mn-ea"/>
                <a:cs typeface="+mn-cs"/>
              </a:defRPr>
            </a:lvl4pPr>
            <a:lvl5pPr marL="1076325" indent="0" algn="l" defTabSz="914400" rtl="0" eaLnBrk="1" latinLnBrk="0" hangingPunct="1">
              <a:lnSpc>
                <a:spcPct val="100000"/>
              </a:lnSpc>
              <a:spcBef>
                <a:spcPts val="0"/>
              </a:spcBef>
              <a:buFont typeface="Symbol" panose="05050102010706020507" pitchFamily="18" charset="2"/>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solidFill>
                  <a:schemeClr val="tx2"/>
                </a:solidFill>
              </a:rPr>
              <a:t>Müller</a:t>
            </a:r>
            <a:r>
              <a:rPr lang="en-GB" dirty="0">
                <a:solidFill>
                  <a:schemeClr val="tx2"/>
                </a:solidFill>
              </a:rPr>
              <a:t>, S., </a:t>
            </a:r>
            <a:r>
              <a:rPr lang="en-GB" b="1" dirty="0">
                <a:solidFill>
                  <a:schemeClr val="tx2"/>
                </a:solidFill>
              </a:rPr>
              <a:t>Hollmann</a:t>
            </a:r>
            <a:r>
              <a:rPr lang="en-GB" dirty="0">
                <a:solidFill>
                  <a:schemeClr val="tx2"/>
                </a:solidFill>
              </a:rPr>
              <a:t>, N., </a:t>
            </a:r>
            <a:r>
              <a:rPr lang="en-GB" b="1" dirty="0">
                <a:solidFill>
                  <a:schemeClr val="tx2"/>
                </a:solidFill>
              </a:rPr>
              <a:t>Pineda</a:t>
            </a:r>
            <a:r>
              <a:rPr lang="en-GB" dirty="0">
                <a:solidFill>
                  <a:schemeClr val="tx2"/>
                </a:solidFill>
              </a:rPr>
              <a:t>, S., </a:t>
            </a:r>
            <a:r>
              <a:rPr lang="en-GB" b="1" dirty="0">
                <a:solidFill>
                  <a:schemeClr val="tx2"/>
                </a:solidFill>
              </a:rPr>
              <a:t>Grabocka</a:t>
            </a:r>
            <a:r>
              <a:rPr lang="en-GB" dirty="0">
                <a:solidFill>
                  <a:schemeClr val="tx2"/>
                </a:solidFill>
              </a:rPr>
              <a:t>, J., </a:t>
            </a:r>
            <a:r>
              <a:rPr lang="en-GB" b="1" dirty="0">
                <a:solidFill>
                  <a:schemeClr val="tx2"/>
                </a:solidFill>
              </a:rPr>
              <a:t>Hutter</a:t>
            </a:r>
            <a:r>
              <a:rPr lang="en-GB" dirty="0">
                <a:solidFill>
                  <a:schemeClr val="tx2"/>
                </a:solidFill>
              </a:rPr>
              <a:t>, F.</a:t>
            </a:r>
          </a:p>
          <a:p>
            <a:r>
              <a:rPr lang="en-GB" dirty="0">
                <a:solidFill>
                  <a:schemeClr val="tx2"/>
                </a:solidFill>
              </a:rPr>
              <a:t>University of Freiburg, Charité Berlin, Bosch </a:t>
            </a:r>
            <a:r>
              <a:rPr lang="en-GB" dirty="0" err="1">
                <a:solidFill>
                  <a:schemeClr val="tx2"/>
                </a:solidFill>
              </a:rPr>
              <a:t>Center</a:t>
            </a:r>
            <a:r>
              <a:rPr lang="en-GB" dirty="0">
                <a:solidFill>
                  <a:schemeClr val="tx2"/>
                </a:solidFill>
              </a:rPr>
              <a:t> for AI. Published at ICLR 2022.</a:t>
            </a:r>
            <a:endParaRPr lang="en-CH" dirty="0">
              <a:solidFill>
                <a:schemeClr val="tx2"/>
              </a:solidFill>
            </a:endParaRPr>
          </a:p>
        </p:txBody>
      </p:sp>
      <p:sp>
        <p:nvSpPr>
          <p:cNvPr id="3" name="Textplatzhalter 4">
            <a:extLst>
              <a:ext uri="{FF2B5EF4-FFF2-40B4-BE49-F238E27FC236}">
                <a16:creationId xmlns:a16="http://schemas.microsoft.com/office/drawing/2014/main" id="{F16E1E7F-6BC9-1687-CAB9-3E1866A8A884}"/>
              </a:ext>
            </a:extLst>
          </p:cNvPr>
          <p:cNvSpPr txBox="1">
            <a:spLocks/>
          </p:cNvSpPr>
          <p:nvPr/>
        </p:nvSpPr>
        <p:spPr>
          <a:xfrm>
            <a:off x="1074000" y="3738214"/>
            <a:ext cx="10044000" cy="114879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bg1"/>
                </a:solidFill>
                <a:latin typeface="+mn-lt"/>
                <a:ea typeface="+mn-ea"/>
                <a:cs typeface="+mn-cs"/>
              </a:defRPr>
            </a:lvl1pPr>
            <a:lvl2pPr marL="266700" indent="0" algn="l" defTabSz="914400" rtl="0" eaLnBrk="1" latinLnBrk="0" hangingPunct="1">
              <a:lnSpc>
                <a:spcPct val="100000"/>
              </a:lnSpc>
              <a:spcBef>
                <a:spcPts val="0"/>
              </a:spcBef>
              <a:buFont typeface="Symbol" panose="05050102010706020507" pitchFamily="18" charset="2"/>
              <a:buNone/>
              <a:defRPr sz="1800" kern="1200">
                <a:solidFill>
                  <a:schemeClr val="bg1"/>
                </a:solidFill>
                <a:latin typeface="+mn-lt"/>
                <a:ea typeface="+mn-ea"/>
                <a:cs typeface="+mn-cs"/>
              </a:defRPr>
            </a:lvl2pPr>
            <a:lvl3pPr marL="538163" indent="0" algn="l" defTabSz="914400" rtl="0" eaLnBrk="1" latinLnBrk="0" hangingPunct="1">
              <a:lnSpc>
                <a:spcPct val="100000"/>
              </a:lnSpc>
              <a:spcBef>
                <a:spcPts val="0"/>
              </a:spcBef>
              <a:buFont typeface="Symbol" panose="05050102010706020507" pitchFamily="18" charset="2"/>
              <a:buNone/>
              <a:defRPr sz="1800" kern="1200">
                <a:solidFill>
                  <a:schemeClr val="bg1"/>
                </a:solidFill>
                <a:latin typeface="+mn-lt"/>
                <a:ea typeface="+mn-ea"/>
                <a:cs typeface="+mn-cs"/>
              </a:defRPr>
            </a:lvl3pPr>
            <a:lvl4pPr marL="804862" indent="0" algn="l" defTabSz="914400" rtl="0" eaLnBrk="1" latinLnBrk="0" hangingPunct="1">
              <a:lnSpc>
                <a:spcPct val="100000"/>
              </a:lnSpc>
              <a:spcBef>
                <a:spcPts val="0"/>
              </a:spcBef>
              <a:buFont typeface="Symbol" panose="05050102010706020507" pitchFamily="18" charset="2"/>
              <a:buNone/>
              <a:defRPr sz="1800" kern="1200">
                <a:solidFill>
                  <a:schemeClr val="bg1"/>
                </a:solidFill>
                <a:latin typeface="+mn-lt"/>
                <a:ea typeface="+mn-ea"/>
                <a:cs typeface="+mn-cs"/>
              </a:defRPr>
            </a:lvl4pPr>
            <a:lvl5pPr marL="1076325" indent="0" algn="l" defTabSz="914400" rtl="0" eaLnBrk="1" latinLnBrk="0" hangingPunct="1">
              <a:lnSpc>
                <a:spcPct val="100000"/>
              </a:lnSpc>
              <a:spcBef>
                <a:spcPts val="0"/>
              </a:spcBef>
              <a:buFont typeface="Symbol" panose="05050102010706020507" pitchFamily="18" charset="2"/>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3600" b="1">
                <a:solidFill>
                  <a:schemeClr val="tx1"/>
                </a:solidFill>
              </a:rPr>
              <a:t>Transformers </a:t>
            </a:r>
            <a:r>
              <a:rPr lang="de-DE" sz="3600" b="1" err="1">
                <a:solidFill>
                  <a:schemeClr val="tx1"/>
                </a:solidFill>
              </a:rPr>
              <a:t>can</a:t>
            </a:r>
            <a:r>
              <a:rPr lang="de-DE" sz="3600" b="1">
                <a:solidFill>
                  <a:schemeClr val="tx1"/>
                </a:solidFill>
              </a:rPr>
              <a:t> do </a:t>
            </a:r>
            <a:r>
              <a:rPr lang="de-DE" sz="3600" b="1" err="1">
                <a:solidFill>
                  <a:schemeClr val="tx1"/>
                </a:solidFill>
              </a:rPr>
              <a:t>Bayesian</a:t>
            </a:r>
            <a:r>
              <a:rPr lang="de-DE" sz="3600" b="1">
                <a:solidFill>
                  <a:schemeClr val="tx1"/>
                </a:solidFill>
              </a:rPr>
              <a:t> </a:t>
            </a:r>
            <a:r>
              <a:rPr lang="de-DE" sz="3600" b="1" err="1">
                <a:solidFill>
                  <a:schemeClr val="tx1"/>
                </a:solidFill>
              </a:rPr>
              <a:t>inference</a:t>
            </a:r>
            <a:endParaRPr lang="de-DE" sz="3600" b="1">
              <a:solidFill>
                <a:schemeClr val="tx1"/>
              </a:solidFill>
            </a:endParaRPr>
          </a:p>
        </p:txBody>
      </p:sp>
      <p:sp>
        <p:nvSpPr>
          <p:cNvPr id="7" name="Date Placeholder 3">
            <a:extLst>
              <a:ext uri="{FF2B5EF4-FFF2-40B4-BE49-F238E27FC236}">
                <a16:creationId xmlns:a16="http://schemas.microsoft.com/office/drawing/2014/main" id="{89458DDA-B2B8-60E5-F4BE-D3E7D9AC90D0}"/>
              </a:ext>
            </a:extLst>
          </p:cNvPr>
          <p:cNvSpPr txBox="1">
            <a:spLocks/>
          </p:cNvSpPr>
          <p:nvPr/>
        </p:nvSpPr>
        <p:spPr>
          <a:xfrm>
            <a:off x="10958875" y="6316683"/>
            <a:ext cx="681191" cy="18659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a:t>13.12.25</a:t>
            </a:r>
          </a:p>
        </p:txBody>
      </p:sp>
      <p:pic>
        <p:nvPicPr>
          <p:cNvPr id="2" name="Grafik 9">
            <a:extLst>
              <a:ext uri="{FF2B5EF4-FFF2-40B4-BE49-F238E27FC236}">
                <a16:creationId xmlns:a16="http://schemas.microsoft.com/office/drawing/2014/main" id="{5287171A-D4FA-F7C3-35BC-31713B7D48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1838" y="360538"/>
            <a:ext cx="1765565" cy="288000"/>
          </a:xfrm>
          <a:prstGeom prst="rect">
            <a:avLst/>
          </a:prstGeom>
        </p:spPr>
      </p:pic>
      <p:sp>
        <p:nvSpPr>
          <p:cNvPr id="9" name="Date Placeholder 3">
            <a:extLst>
              <a:ext uri="{FF2B5EF4-FFF2-40B4-BE49-F238E27FC236}">
                <a16:creationId xmlns:a16="http://schemas.microsoft.com/office/drawing/2014/main" id="{8ABC5F8C-488E-87D5-B0CE-BDF246D23345}"/>
              </a:ext>
            </a:extLst>
          </p:cNvPr>
          <p:cNvSpPr txBox="1">
            <a:spLocks/>
          </p:cNvSpPr>
          <p:nvPr/>
        </p:nvSpPr>
        <p:spPr>
          <a:xfrm>
            <a:off x="8349917" y="6316683"/>
            <a:ext cx="2486530" cy="18659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800"/>
              <a:t>Seminar in Advanced Topics in </a:t>
            </a:r>
            <a:r>
              <a:rPr lang="de-DE" sz="800" err="1"/>
              <a:t>Machine</a:t>
            </a:r>
            <a:r>
              <a:rPr lang="de-DE" sz="800"/>
              <a:t> Learning</a:t>
            </a:r>
            <a:endParaRPr lang="de-CH" sz="800"/>
          </a:p>
        </p:txBody>
      </p:sp>
    </p:spTree>
    <p:extLst>
      <p:ext uri="{BB962C8B-B14F-4D97-AF65-F5344CB8AC3E}">
        <p14:creationId xmlns:p14="http://schemas.microsoft.com/office/powerpoint/2010/main" val="1149612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BD20AE-8B0E-4CBD-5551-FF8900C5C474}"/>
              </a:ext>
            </a:extLst>
          </p:cNvPr>
          <p:cNvSpPr>
            <a:spLocks noGrp="1"/>
          </p:cNvSpPr>
          <p:nvPr>
            <p:ph idx="1"/>
          </p:nvPr>
        </p:nvSpPr>
        <p:spPr/>
        <p:txBody>
          <a:bodyPr/>
          <a:lstStyle/>
          <a:p>
            <a:endParaRPr lang="en-CH"/>
          </a:p>
          <a:p>
            <a:endParaRPr lang="en-CH"/>
          </a:p>
          <a:p>
            <a:r>
              <a:rPr lang="en-CH"/>
              <a:t>Motivation</a:t>
            </a:r>
          </a:p>
          <a:p>
            <a:r>
              <a:rPr lang="en-CH"/>
              <a:t>Method</a:t>
            </a:r>
          </a:p>
          <a:p>
            <a:r>
              <a:rPr lang="en-CH"/>
              <a:t>Results</a:t>
            </a:r>
          </a:p>
          <a:p>
            <a:r>
              <a:rPr lang="en-CH"/>
              <a:t>Discussion</a:t>
            </a:r>
          </a:p>
          <a:p>
            <a:r>
              <a:rPr lang="de-CH"/>
              <a:t>Take-home messages</a:t>
            </a:r>
            <a:endParaRPr lang="en-CH"/>
          </a:p>
          <a:p>
            <a:endParaRPr lang="en-CH"/>
          </a:p>
          <a:p>
            <a:endParaRPr lang="en-CH"/>
          </a:p>
        </p:txBody>
      </p:sp>
      <p:sp>
        <p:nvSpPr>
          <p:cNvPr id="6" name="Slide Number Placeholder 5">
            <a:extLst>
              <a:ext uri="{FF2B5EF4-FFF2-40B4-BE49-F238E27FC236}">
                <a16:creationId xmlns:a16="http://schemas.microsoft.com/office/drawing/2014/main" id="{334A6A79-8920-2C2E-1E0E-7B15D0F04FF6}"/>
              </a:ext>
            </a:extLst>
          </p:cNvPr>
          <p:cNvSpPr>
            <a:spLocks noGrp="1"/>
          </p:cNvSpPr>
          <p:nvPr>
            <p:ph type="sldNum" sz="quarter" idx="12"/>
          </p:nvPr>
        </p:nvSpPr>
        <p:spPr/>
        <p:txBody>
          <a:bodyPr/>
          <a:lstStyle/>
          <a:p>
            <a:fld id="{5ACA52AF-F19D-405C-AD5F-7D94B96A5CC3}" type="slidenum">
              <a:rPr lang="de-CH" noProof="0" smtClean="0"/>
              <a:t>2</a:t>
            </a:fld>
            <a:endParaRPr lang="de-CH" noProof="0"/>
          </a:p>
        </p:txBody>
      </p:sp>
      <p:sp>
        <p:nvSpPr>
          <p:cNvPr id="10" name="Google Shape;187;p21">
            <a:extLst>
              <a:ext uri="{FF2B5EF4-FFF2-40B4-BE49-F238E27FC236}">
                <a16:creationId xmlns:a16="http://schemas.microsoft.com/office/drawing/2014/main" id="{23C6C751-C824-EA38-BDE7-4451AEE5333D}"/>
              </a:ext>
            </a:extLst>
          </p:cNvPr>
          <p:cNvSpPr txBox="1"/>
          <p:nvPr/>
        </p:nvSpPr>
        <p:spPr>
          <a:xfrm>
            <a:off x="627923" y="576000"/>
            <a:ext cx="7667400" cy="513000"/>
          </a:xfrm>
          <a:prstGeom prst="rect">
            <a:avLst/>
          </a:prstGeom>
          <a:noFill/>
          <a:ln>
            <a:noFill/>
          </a:ln>
        </p:spPr>
        <p:txBody>
          <a:bodyPr spcFirstLastPara="1" wrap="square" lIns="118900" tIns="118900" rIns="118900" bIns="118900" anchor="b" anchorCtr="0">
            <a:noAutofit/>
          </a:bodyPr>
          <a:lstStyle/>
          <a:p>
            <a:pPr marL="0" lvl="0" indent="0" algn="l" rtl="0">
              <a:spcBef>
                <a:spcPts val="0"/>
              </a:spcBef>
              <a:spcAft>
                <a:spcPts val="0"/>
              </a:spcAft>
              <a:buNone/>
            </a:pPr>
            <a:r>
              <a:rPr lang="de-CH" sz="3200" b="1">
                <a:solidFill>
                  <a:schemeClr val="dk1"/>
                </a:solidFill>
              </a:rPr>
              <a:t>Outline</a:t>
            </a:r>
            <a:endParaRPr sz="3200" b="1">
              <a:solidFill>
                <a:schemeClr val="dk1"/>
              </a:solidFill>
            </a:endParaRPr>
          </a:p>
        </p:txBody>
      </p:sp>
    </p:spTree>
    <p:extLst>
      <p:ext uri="{BB962C8B-B14F-4D97-AF65-F5344CB8AC3E}">
        <p14:creationId xmlns:p14="http://schemas.microsoft.com/office/powerpoint/2010/main" val="4229261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9868B-954A-5408-A3C2-172AFFBDBD63}"/>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B31D463-3C00-81B0-7137-10F88DB1B413}"/>
              </a:ext>
            </a:extLst>
          </p:cNvPr>
          <p:cNvSpPr>
            <a:spLocks noGrp="1"/>
          </p:cNvSpPr>
          <p:nvPr>
            <p:ph type="sldNum" sz="quarter" idx="12"/>
          </p:nvPr>
        </p:nvSpPr>
        <p:spPr/>
        <p:txBody>
          <a:bodyPr/>
          <a:lstStyle/>
          <a:p>
            <a:fld id="{5ACA52AF-F19D-405C-AD5F-7D94B96A5CC3}" type="slidenum">
              <a:rPr lang="de-CH" noProof="0" smtClean="0"/>
              <a:t>3</a:t>
            </a:fld>
            <a:endParaRPr lang="de-CH" noProof="0"/>
          </a:p>
        </p:txBody>
      </p:sp>
      <p:sp>
        <p:nvSpPr>
          <p:cNvPr id="9" name="Google Shape;187;p21">
            <a:extLst>
              <a:ext uri="{FF2B5EF4-FFF2-40B4-BE49-F238E27FC236}">
                <a16:creationId xmlns:a16="http://schemas.microsoft.com/office/drawing/2014/main" id="{EBD980F2-8861-BE67-09B3-4AF38A00A6C0}"/>
              </a:ext>
            </a:extLst>
          </p:cNvPr>
          <p:cNvSpPr txBox="1"/>
          <p:nvPr/>
        </p:nvSpPr>
        <p:spPr>
          <a:xfrm>
            <a:off x="627923" y="576000"/>
            <a:ext cx="7667400" cy="513000"/>
          </a:xfrm>
          <a:prstGeom prst="rect">
            <a:avLst/>
          </a:prstGeom>
          <a:noFill/>
          <a:ln>
            <a:noFill/>
          </a:ln>
        </p:spPr>
        <p:txBody>
          <a:bodyPr spcFirstLastPara="1" wrap="square" lIns="118900" tIns="118900" rIns="118900" bIns="118900" anchor="b" anchorCtr="0">
            <a:noAutofit/>
          </a:bodyPr>
          <a:lstStyle/>
          <a:p>
            <a:pPr marL="0" lvl="0" indent="0" algn="l" rtl="0">
              <a:spcBef>
                <a:spcPts val="0"/>
              </a:spcBef>
              <a:spcAft>
                <a:spcPts val="0"/>
              </a:spcAft>
              <a:buNone/>
            </a:pPr>
            <a:r>
              <a:rPr lang="de-CH" sz="3200" b="1">
                <a:solidFill>
                  <a:schemeClr val="dk1"/>
                </a:solidFill>
              </a:rPr>
              <a:t>Motivation</a:t>
            </a:r>
            <a:endParaRPr sz="3200" b="1">
              <a:solidFill>
                <a:schemeClr val="dk1"/>
              </a:solidFill>
            </a:endParaRPr>
          </a:p>
        </p:txBody>
      </p:sp>
    </p:spTree>
    <p:extLst>
      <p:ext uri="{BB962C8B-B14F-4D97-AF65-F5344CB8AC3E}">
        <p14:creationId xmlns:p14="http://schemas.microsoft.com/office/powerpoint/2010/main" val="2483074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05D9B-240E-1B4B-D685-B6D2930D1E6D}"/>
            </a:ext>
          </a:extLst>
        </p:cNvPr>
        <p:cNvGrpSpPr/>
        <p:nvPr/>
      </p:nvGrpSpPr>
      <p:grpSpPr>
        <a:xfrm>
          <a:off x="0" y="0"/>
          <a:ext cx="0" cy="0"/>
          <a:chOff x="0" y="0"/>
          <a:chExt cx="0" cy="0"/>
        </a:xfrm>
      </p:grpSpPr>
      <p:sp>
        <p:nvSpPr>
          <p:cNvPr id="32" name="Oval 31">
            <a:extLst>
              <a:ext uri="{FF2B5EF4-FFF2-40B4-BE49-F238E27FC236}">
                <a16:creationId xmlns:a16="http://schemas.microsoft.com/office/drawing/2014/main" id="{8C9651CC-4AD2-A224-81F1-0E9B7FC67526}"/>
              </a:ext>
            </a:extLst>
          </p:cNvPr>
          <p:cNvSpPr>
            <a:spLocks/>
          </p:cNvSpPr>
          <p:nvPr/>
        </p:nvSpPr>
        <p:spPr>
          <a:xfrm>
            <a:off x="855820" y="1746911"/>
            <a:ext cx="3749945" cy="3749945"/>
          </a:xfrm>
          <a:prstGeom prst="ellipse">
            <a:avLst/>
          </a:prstGeom>
          <a:solidFill>
            <a:srgbClr val="E1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 name="Slide Number Placeholder 5">
            <a:extLst>
              <a:ext uri="{FF2B5EF4-FFF2-40B4-BE49-F238E27FC236}">
                <a16:creationId xmlns:a16="http://schemas.microsoft.com/office/drawing/2014/main" id="{AD9B8458-9130-3428-9394-06E6F006AB51}"/>
              </a:ext>
            </a:extLst>
          </p:cNvPr>
          <p:cNvSpPr>
            <a:spLocks noGrp="1"/>
          </p:cNvSpPr>
          <p:nvPr>
            <p:ph type="sldNum" sz="quarter" idx="12"/>
          </p:nvPr>
        </p:nvSpPr>
        <p:spPr/>
        <p:txBody>
          <a:bodyPr/>
          <a:lstStyle/>
          <a:p>
            <a:fld id="{5ACA52AF-F19D-405C-AD5F-7D94B96A5CC3}" type="slidenum">
              <a:rPr lang="de-CH" noProof="0" smtClean="0"/>
              <a:t>4</a:t>
            </a:fld>
            <a:endParaRPr lang="de-CH" noProof="0"/>
          </a:p>
        </p:txBody>
      </p:sp>
      <p:sp>
        <p:nvSpPr>
          <p:cNvPr id="8" name="Google Shape;187;p21">
            <a:extLst>
              <a:ext uri="{FF2B5EF4-FFF2-40B4-BE49-F238E27FC236}">
                <a16:creationId xmlns:a16="http://schemas.microsoft.com/office/drawing/2014/main" id="{1F93209C-7033-D085-2928-93A62E8C0BF3}"/>
              </a:ext>
            </a:extLst>
          </p:cNvPr>
          <p:cNvSpPr txBox="1"/>
          <p:nvPr/>
        </p:nvSpPr>
        <p:spPr>
          <a:xfrm>
            <a:off x="627922" y="576000"/>
            <a:ext cx="10832239" cy="513000"/>
          </a:xfrm>
          <a:prstGeom prst="rect">
            <a:avLst/>
          </a:prstGeom>
          <a:noFill/>
          <a:ln>
            <a:noFill/>
          </a:ln>
        </p:spPr>
        <p:txBody>
          <a:bodyPr spcFirstLastPara="1" wrap="square" lIns="118900" tIns="118900" rIns="118900" bIns="118900" anchor="b" anchorCtr="0">
            <a:noAutofit/>
          </a:bodyPr>
          <a:lstStyle/>
          <a:p>
            <a:r>
              <a:rPr lang="en-GB" sz="3200"/>
              <a:t>Meta-Learning is useful for small-data problems</a:t>
            </a:r>
            <a:endParaRPr lang="en-CH" sz="3200"/>
          </a:p>
        </p:txBody>
      </p:sp>
      <p:sp>
        <p:nvSpPr>
          <p:cNvPr id="2" name="Footer Placeholder 4">
            <a:extLst>
              <a:ext uri="{FF2B5EF4-FFF2-40B4-BE49-F238E27FC236}">
                <a16:creationId xmlns:a16="http://schemas.microsoft.com/office/drawing/2014/main" id="{87D53960-3679-6ED8-DB48-94E8D58DBEB2}"/>
              </a:ext>
            </a:extLst>
          </p:cNvPr>
          <p:cNvSpPr txBox="1">
            <a:spLocks/>
          </p:cNvSpPr>
          <p:nvPr/>
        </p:nvSpPr>
        <p:spPr>
          <a:xfrm>
            <a:off x="5723751" y="6522444"/>
            <a:ext cx="744495" cy="216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a:t>Motivation</a:t>
            </a:r>
            <a:endParaRPr lang="de-CH"/>
          </a:p>
        </p:txBody>
      </p:sp>
      <p:pic>
        <p:nvPicPr>
          <p:cNvPr id="29" name="Graphic 28" descr="Graduation cap outline">
            <a:extLst>
              <a:ext uri="{FF2B5EF4-FFF2-40B4-BE49-F238E27FC236}">
                <a16:creationId xmlns:a16="http://schemas.microsoft.com/office/drawing/2014/main" id="{9B799EDF-CF8A-3586-E1DC-5D9B05F8A7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09180" y="2619492"/>
            <a:ext cx="1695952" cy="1695952"/>
          </a:xfrm>
          <a:prstGeom prst="rect">
            <a:avLst/>
          </a:prstGeom>
        </p:spPr>
      </p:pic>
      <p:pic>
        <p:nvPicPr>
          <p:cNvPr id="37" name="Graphic 36" descr="Arrow Right outline">
            <a:extLst>
              <a:ext uri="{FF2B5EF4-FFF2-40B4-BE49-F238E27FC236}">
                <a16:creationId xmlns:a16="http://schemas.microsoft.com/office/drawing/2014/main" id="{1FC07C8A-49EC-AD0C-793C-804DF0CA27C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24564" y="3077064"/>
            <a:ext cx="914400" cy="914400"/>
          </a:xfrm>
          <a:prstGeom prst="rect">
            <a:avLst/>
          </a:prstGeom>
        </p:spPr>
      </p:pic>
      <p:pic>
        <p:nvPicPr>
          <p:cNvPr id="38" name="Graphic 37" descr="Arrow Right outline">
            <a:extLst>
              <a:ext uri="{FF2B5EF4-FFF2-40B4-BE49-F238E27FC236}">
                <a16:creationId xmlns:a16="http://schemas.microsoft.com/office/drawing/2014/main" id="{144355C8-0CAC-1969-B157-74238F06C8E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32942" y="3090127"/>
            <a:ext cx="914400" cy="914400"/>
          </a:xfrm>
          <a:prstGeom prst="rect">
            <a:avLst/>
          </a:prstGeom>
        </p:spPr>
      </p:pic>
      <p:pic>
        <p:nvPicPr>
          <p:cNvPr id="4" name="Graphic 3" descr="Guitar outline">
            <a:extLst>
              <a:ext uri="{FF2B5EF4-FFF2-40B4-BE49-F238E27FC236}">
                <a16:creationId xmlns:a16="http://schemas.microsoft.com/office/drawing/2014/main" id="{D5934BBF-D845-6CF6-0D1C-79C6BCD4524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214397" flipH="1">
            <a:off x="3070811" y="3660257"/>
            <a:ext cx="1156425" cy="1156425"/>
          </a:xfrm>
          <a:prstGeom prst="rect">
            <a:avLst/>
          </a:prstGeom>
        </p:spPr>
      </p:pic>
      <p:pic>
        <p:nvPicPr>
          <p:cNvPr id="7" name="Graphic 6" descr="Violin outline">
            <a:extLst>
              <a:ext uri="{FF2B5EF4-FFF2-40B4-BE49-F238E27FC236}">
                <a16:creationId xmlns:a16="http://schemas.microsoft.com/office/drawing/2014/main" id="{E526DF2C-5303-C66D-E654-FB48644D007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458391" y="2633227"/>
            <a:ext cx="1591545" cy="1591545"/>
          </a:xfrm>
          <a:prstGeom prst="rect">
            <a:avLst/>
          </a:prstGeom>
        </p:spPr>
      </p:pic>
      <p:pic>
        <p:nvPicPr>
          <p:cNvPr id="10" name="Graphic 9" descr="Piano keys outline">
            <a:extLst>
              <a:ext uri="{FF2B5EF4-FFF2-40B4-BE49-F238E27FC236}">
                <a16:creationId xmlns:a16="http://schemas.microsoft.com/office/drawing/2014/main" id="{1CD66898-77FD-BB46-14C0-20AFC70AD98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18940" y="2744140"/>
            <a:ext cx="914400" cy="914400"/>
          </a:xfrm>
          <a:prstGeom prst="rect">
            <a:avLst/>
          </a:prstGeom>
        </p:spPr>
      </p:pic>
      <p:pic>
        <p:nvPicPr>
          <p:cNvPr id="15" name="Graphic 14" descr="Drum outline">
            <a:extLst>
              <a:ext uri="{FF2B5EF4-FFF2-40B4-BE49-F238E27FC236}">
                <a16:creationId xmlns:a16="http://schemas.microsoft.com/office/drawing/2014/main" id="{9502BC13-46A5-BA55-2CBE-5165E44D45E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289328" y="2439272"/>
            <a:ext cx="914400" cy="914400"/>
          </a:xfrm>
          <a:prstGeom prst="rect">
            <a:avLst/>
          </a:prstGeom>
        </p:spPr>
      </p:pic>
      <p:pic>
        <p:nvPicPr>
          <p:cNvPr id="17" name="Graphic 16" descr="Saxophone outline">
            <a:extLst>
              <a:ext uri="{FF2B5EF4-FFF2-40B4-BE49-F238E27FC236}">
                <a16:creationId xmlns:a16="http://schemas.microsoft.com/office/drawing/2014/main" id="{10E7DC05-5A77-BDBF-E9A5-121986FB27E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42064" y="3648413"/>
            <a:ext cx="1152719" cy="1152719"/>
          </a:xfrm>
          <a:prstGeom prst="rect">
            <a:avLst/>
          </a:prstGeom>
        </p:spPr>
      </p:pic>
      <p:pic>
        <p:nvPicPr>
          <p:cNvPr id="20" name="Graphic 19" descr="Trumpet outline">
            <a:extLst>
              <a:ext uri="{FF2B5EF4-FFF2-40B4-BE49-F238E27FC236}">
                <a16:creationId xmlns:a16="http://schemas.microsoft.com/office/drawing/2014/main" id="{A0B72C6F-C8A7-A9A8-ECD0-1CB684B8A355}"/>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rot="20686243">
            <a:off x="2421260" y="1904792"/>
            <a:ext cx="1087535" cy="1087535"/>
          </a:xfrm>
          <a:prstGeom prst="rect">
            <a:avLst/>
          </a:prstGeom>
        </p:spPr>
      </p:pic>
      <p:pic>
        <p:nvPicPr>
          <p:cNvPr id="23" name="Graphic 22" descr="Xylophone outline">
            <a:extLst>
              <a:ext uri="{FF2B5EF4-FFF2-40B4-BE49-F238E27FC236}">
                <a16:creationId xmlns:a16="http://schemas.microsoft.com/office/drawing/2014/main" id="{9F67653B-4394-A785-74BC-0B9E510202B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353010" y="4475263"/>
            <a:ext cx="914400" cy="914400"/>
          </a:xfrm>
          <a:prstGeom prst="rect">
            <a:avLst/>
          </a:prstGeom>
        </p:spPr>
      </p:pic>
      <p:pic>
        <p:nvPicPr>
          <p:cNvPr id="30" name="Graphic 29" descr="Banjo outline">
            <a:extLst>
              <a:ext uri="{FF2B5EF4-FFF2-40B4-BE49-F238E27FC236}">
                <a16:creationId xmlns:a16="http://schemas.microsoft.com/office/drawing/2014/main" id="{E633B4AC-E788-1728-F724-6AD89911D90E}"/>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203728" y="3011463"/>
            <a:ext cx="1145810" cy="1145810"/>
          </a:xfrm>
          <a:prstGeom prst="rect">
            <a:avLst/>
          </a:prstGeom>
        </p:spPr>
      </p:pic>
    </p:spTree>
    <p:extLst>
      <p:ext uri="{BB962C8B-B14F-4D97-AF65-F5344CB8AC3E}">
        <p14:creationId xmlns:p14="http://schemas.microsoft.com/office/powerpoint/2010/main" val="3985725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B0F40-6509-4A60-5DDD-6C930627F43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3A32113-B21F-765C-B7D6-B8E17685B77A}"/>
              </a:ext>
            </a:extLst>
          </p:cNvPr>
          <p:cNvSpPr>
            <a:spLocks noGrp="1"/>
          </p:cNvSpPr>
          <p:nvPr>
            <p:ph type="sldNum" sz="quarter" idx="12"/>
          </p:nvPr>
        </p:nvSpPr>
        <p:spPr/>
        <p:txBody>
          <a:bodyPr/>
          <a:lstStyle/>
          <a:p>
            <a:fld id="{5ACA52AF-F19D-405C-AD5F-7D94B96A5CC3}" type="slidenum">
              <a:rPr lang="de-CH" noProof="0" smtClean="0"/>
              <a:t>5</a:t>
            </a:fld>
            <a:endParaRPr lang="de-CH" noProof="0"/>
          </a:p>
        </p:txBody>
      </p:sp>
      <p:pic>
        <p:nvPicPr>
          <p:cNvPr id="10" name="Picture 9">
            <a:extLst>
              <a:ext uri="{FF2B5EF4-FFF2-40B4-BE49-F238E27FC236}">
                <a16:creationId xmlns:a16="http://schemas.microsoft.com/office/drawing/2014/main" id="{A7263205-BC37-4AFB-6A98-809AEAA1566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486916" y="2920947"/>
            <a:ext cx="4356645" cy="957141"/>
          </a:xfrm>
          <a:prstGeom prst="rect">
            <a:avLst/>
          </a:prstGeom>
        </p:spPr>
      </p:pic>
      <p:sp>
        <p:nvSpPr>
          <p:cNvPr id="11" name="Footer Placeholder 4">
            <a:extLst>
              <a:ext uri="{FF2B5EF4-FFF2-40B4-BE49-F238E27FC236}">
                <a16:creationId xmlns:a16="http://schemas.microsoft.com/office/drawing/2014/main" id="{5EA3FB52-4E9E-067F-7EF9-0735D1656F1F}"/>
              </a:ext>
            </a:extLst>
          </p:cNvPr>
          <p:cNvSpPr txBox="1">
            <a:spLocks/>
          </p:cNvSpPr>
          <p:nvPr/>
        </p:nvSpPr>
        <p:spPr>
          <a:xfrm>
            <a:off x="5723751" y="6522444"/>
            <a:ext cx="744495" cy="216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a:t>Motivation</a:t>
            </a:r>
            <a:endParaRPr lang="de-CH"/>
          </a:p>
        </p:txBody>
      </p:sp>
      <p:sp>
        <p:nvSpPr>
          <p:cNvPr id="15" name="TextBox 14">
            <a:extLst>
              <a:ext uri="{FF2B5EF4-FFF2-40B4-BE49-F238E27FC236}">
                <a16:creationId xmlns:a16="http://schemas.microsoft.com/office/drawing/2014/main" id="{41CA50BB-EB31-1562-394F-C39D7023CC7B}"/>
              </a:ext>
            </a:extLst>
          </p:cNvPr>
          <p:cNvSpPr txBox="1"/>
          <p:nvPr/>
        </p:nvSpPr>
        <p:spPr>
          <a:xfrm>
            <a:off x="2671790" y="2150605"/>
            <a:ext cx="7019141" cy="523220"/>
          </a:xfrm>
          <a:prstGeom prst="rect">
            <a:avLst/>
          </a:prstGeom>
          <a:noFill/>
        </p:spPr>
        <p:txBody>
          <a:bodyPr wrap="square">
            <a:spAutoFit/>
          </a:bodyPr>
          <a:lstStyle/>
          <a:p>
            <a:r>
              <a:rPr lang="en-GB" sz="2800" b="1" i="0">
                <a:solidFill>
                  <a:srgbClr val="FB9D00"/>
                </a:solidFill>
                <a:effectLst/>
              </a:rPr>
              <a:t>Posterior Predictive Distribution (PPD)</a:t>
            </a:r>
            <a:endParaRPr lang="en-CH" sz="2800" b="1">
              <a:solidFill>
                <a:srgbClr val="FB9D00"/>
              </a:solidFill>
            </a:endParaRPr>
          </a:p>
        </p:txBody>
      </p:sp>
      <p:sp>
        <p:nvSpPr>
          <p:cNvPr id="22" name="Google Shape;187;p21">
            <a:extLst>
              <a:ext uri="{FF2B5EF4-FFF2-40B4-BE49-F238E27FC236}">
                <a16:creationId xmlns:a16="http://schemas.microsoft.com/office/drawing/2014/main" id="{20415026-57E5-74ED-18DF-7242192CC561}"/>
              </a:ext>
            </a:extLst>
          </p:cNvPr>
          <p:cNvSpPr txBox="1"/>
          <p:nvPr/>
        </p:nvSpPr>
        <p:spPr>
          <a:xfrm>
            <a:off x="627922" y="576000"/>
            <a:ext cx="11106878" cy="513000"/>
          </a:xfrm>
          <a:prstGeom prst="rect">
            <a:avLst/>
          </a:prstGeom>
          <a:noFill/>
          <a:ln>
            <a:noFill/>
          </a:ln>
        </p:spPr>
        <p:txBody>
          <a:bodyPr spcFirstLastPara="1" wrap="square" lIns="118900" tIns="118900" rIns="118900" bIns="118900" anchor="b" anchorCtr="0">
            <a:noAutofit/>
          </a:bodyPr>
          <a:lstStyle/>
          <a:p>
            <a:r>
              <a:rPr lang="en-GB" sz="3200"/>
              <a:t>Uncertainty estimation is particularly important for small data</a:t>
            </a:r>
            <a:endParaRPr lang="en-CH" sz="3200"/>
          </a:p>
        </p:txBody>
      </p:sp>
      <p:pic>
        <p:nvPicPr>
          <p:cNvPr id="26" name="Picture 25">
            <a:extLst>
              <a:ext uri="{FF2B5EF4-FFF2-40B4-BE49-F238E27FC236}">
                <a16:creationId xmlns:a16="http://schemas.microsoft.com/office/drawing/2014/main" id="{B4B6A96A-D37E-3EC3-A724-FBA69E94D754}"/>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3731372" y="3839583"/>
            <a:ext cx="4175413" cy="2255997"/>
          </a:xfrm>
          <a:prstGeom prst="rect">
            <a:avLst/>
          </a:prstGeom>
        </p:spPr>
      </p:pic>
      <p:sp>
        <p:nvSpPr>
          <p:cNvPr id="2" name="TextBox 1">
            <a:extLst>
              <a:ext uri="{FF2B5EF4-FFF2-40B4-BE49-F238E27FC236}">
                <a16:creationId xmlns:a16="http://schemas.microsoft.com/office/drawing/2014/main" id="{F5D9BCE7-88A7-DC20-ACE7-EAE3965DDBB5}"/>
              </a:ext>
            </a:extLst>
          </p:cNvPr>
          <p:cNvSpPr txBox="1"/>
          <p:nvPr/>
        </p:nvSpPr>
        <p:spPr>
          <a:xfrm>
            <a:off x="7767409" y="5296692"/>
            <a:ext cx="472775" cy="400110"/>
          </a:xfrm>
          <a:prstGeom prst="rect">
            <a:avLst/>
          </a:prstGeom>
          <a:noFill/>
        </p:spPr>
        <p:txBody>
          <a:bodyPr wrap="square">
            <a:spAutoFit/>
          </a:bodyPr>
          <a:lstStyle/>
          <a:p>
            <a:r>
              <a:rPr lang="en-GB" sz="2000" b="1" i="0">
                <a:effectLst/>
              </a:rPr>
              <a:t>y</a:t>
            </a:r>
            <a:endParaRPr lang="en-CH" sz="2000" b="1"/>
          </a:p>
        </p:txBody>
      </p:sp>
      <p:pic>
        <p:nvPicPr>
          <p:cNvPr id="3" name="Picture 2">
            <a:extLst>
              <a:ext uri="{FF2B5EF4-FFF2-40B4-BE49-F238E27FC236}">
                <a16:creationId xmlns:a16="http://schemas.microsoft.com/office/drawing/2014/main" id="{2A61D0A7-8C73-C824-4861-E1FDC4811B2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893934" y="3205453"/>
            <a:ext cx="346504" cy="306676"/>
          </a:xfrm>
          <a:prstGeom prst="rect">
            <a:avLst/>
          </a:prstGeom>
        </p:spPr>
      </p:pic>
    </p:spTree>
    <p:extLst>
      <p:ext uri="{BB962C8B-B14F-4D97-AF65-F5344CB8AC3E}">
        <p14:creationId xmlns:p14="http://schemas.microsoft.com/office/powerpoint/2010/main" val="3692068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AA656-3807-94ED-20C2-E89E838F2C6B}"/>
            </a:ext>
          </a:extLst>
        </p:cNvPr>
        <p:cNvGrpSpPr/>
        <p:nvPr/>
      </p:nvGrpSpPr>
      <p:grpSpPr>
        <a:xfrm>
          <a:off x="0" y="0"/>
          <a:ext cx="0" cy="0"/>
          <a:chOff x="0" y="0"/>
          <a:chExt cx="0" cy="0"/>
        </a:xfrm>
      </p:grpSpPr>
      <p:sp>
        <p:nvSpPr>
          <p:cNvPr id="4" name="Google Shape;187;p21">
            <a:extLst>
              <a:ext uri="{FF2B5EF4-FFF2-40B4-BE49-F238E27FC236}">
                <a16:creationId xmlns:a16="http://schemas.microsoft.com/office/drawing/2014/main" id="{DE199649-F376-A5BC-9860-07BE0621DFFB}"/>
              </a:ext>
            </a:extLst>
          </p:cNvPr>
          <p:cNvSpPr txBox="1"/>
          <p:nvPr/>
        </p:nvSpPr>
        <p:spPr>
          <a:xfrm>
            <a:off x="627921" y="1096427"/>
            <a:ext cx="7906479" cy="3395631"/>
          </a:xfrm>
          <a:prstGeom prst="rect">
            <a:avLst/>
          </a:prstGeom>
          <a:noFill/>
          <a:ln>
            <a:noFill/>
          </a:ln>
        </p:spPr>
        <p:txBody>
          <a:bodyPr spcFirstLastPara="1" wrap="square" lIns="118900" tIns="118900" rIns="118900" bIns="118900" anchor="t" anchorCtr="0">
            <a:noAutofit/>
          </a:bodyPr>
          <a:lstStyle/>
          <a:p>
            <a:br>
              <a:rPr lang="en-GB">
                <a:sym typeface="Wingdings" pitchFamily="2" charset="2"/>
              </a:rPr>
            </a:br>
            <a:endParaRPr lang="en-GB">
              <a:sym typeface="Wingdings" pitchFamily="2" charset="2"/>
            </a:endParaRPr>
          </a:p>
          <a:p>
            <a:pPr marL="285750" indent="-285750">
              <a:buFont typeface="Arial" panose="020B0604020202020204" pitchFamily="34" charset="0"/>
              <a:buChar char="•"/>
            </a:pPr>
            <a:r>
              <a:rPr lang="en-GB">
                <a:sym typeface="Wingdings" pitchFamily="2" charset="2"/>
              </a:rPr>
              <a:t>The </a:t>
            </a:r>
            <a:r>
              <a:rPr lang="en-GB" b="1">
                <a:solidFill>
                  <a:srgbClr val="FB9D00"/>
                </a:solidFill>
                <a:sym typeface="Wingdings" pitchFamily="2" charset="2"/>
              </a:rPr>
              <a:t>PPD</a:t>
            </a:r>
            <a:r>
              <a:rPr lang="en-GB">
                <a:sym typeface="Wingdings" pitchFamily="2" charset="2"/>
              </a:rPr>
              <a:t> requires integration over an </a:t>
            </a:r>
            <a:r>
              <a:rPr lang="en-GB" b="1">
                <a:solidFill>
                  <a:schemeClr val="accent6"/>
                </a:solidFill>
                <a:sym typeface="Wingdings" pitchFamily="2" charset="2"/>
              </a:rPr>
              <a:t>intractable posterior</a:t>
            </a:r>
            <a:r>
              <a:rPr lang="en-GB">
                <a:sym typeface="Wingdings" pitchFamily="2" charset="2"/>
              </a:rPr>
              <a:t>:</a:t>
            </a:r>
            <a:br>
              <a:rPr lang="en-GB">
                <a:sym typeface="Wingdings" pitchFamily="2" charset="2"/>
              </a:rPr>
            </a:br>
            <a:br>
              <a:rPr lang="en-GB">
                <a:sym typeface="Wingdings" pitchFamily="2" charset="2"/>
              </a:rPr>
            </a:br>
            <a:br>
              <a:rPr lang="en-GB">
                <a:sym typeface="Wingdings" pitchFamily="2" charset="2"/>
              </a:rPr>
            </a:br>
            <a:br>
              <a:rPr lang="en-GB">
                <a:sym typeface="Wingdings" pitchFamily="2" charset="2"/>
              </a:rPr>
            </a:br>
            <a:br>
              <a:rPr lang="en-GB">
                <a:sym typeface="Wingdings" pitchFamily="2" charset="2"/>
              </a:rPr>
            </a:br>
            <a:endParaRPr lang="en-GB">
              <a:sym typeface="Wingdings" pitchFamily="2" charset="2"/>
            </a:endParaRPr>
          </a:p>
          <a:p>
            <a:pPr marL="285750" indent="-285750">
              <a:buFont typeface="Arial" panose="020B0604020202020204" pitchFamily="34" charset="0"/>
              <a:buChar char="•"/>
            </a:pPr>
            <a:r>
              <a:rPr lang="en-GB">
                <a:sym typeface="Wingdings" pitchFamily="2" charset="2"/>
              </a:rPr>
              <a:t>Approximating methods like MCMC or VI tend to be </a:t>
            </a:r>
            <a:br>
              <a:rPr lang="en-GB">
                <a:sym typeface="Wingdings" pitchFamily="2" charset="2"/>
              </a:rPr>
            </a:br>
            <a:r>
              <a:rPr lang="en-GB" b="1">
                <a:sym typeface="Wingdings" pitchFamily="2" charset="2"/>
              </a:rPr>
              <a:t>slow</a:t>
            </a:r>
            <a:r>
              <a:rPr lang="en-GB">
                <a:sym typeface="Wingdings" pitchFamily="2" charset="2"/>
              </a:rPr>
              <a:t> and </a:t>
            </a:r>
            <a:r>
              <a:rPr lang="en-GB" b="1">
                <a:sym typeface="Wingdings" pitchFamily="2" charset="2"/>
              </a:rPr>
              <a:t>expensive</a:t>
            </a:r>
            <a:endParaRPr lang="en-GB">
              <a:sym typeface="Wingdings" pitchFamily="2" charset="2"/>
            </a:endParaRPr>
          </a:p>
        </p:txBody>
      </p:sp>
      <p:sp>
        <p:nvSpPr>
          <p:cNvPr id="6" name="Slide Number Placeholder 5">
            <a:extLst>
              <a:ext uri="{FF2B5EF4-FFF2-40B4-BE49-F238E27FC236}">
                <a16:creationId xmlns:a16="http://schemas.microsoft.com/office/drawing/2014/main" id="{7B61F4C2-84DE-2BB6-E33C-0C41290620ED}"/>
              </a:ext>
            </a:extLst>
          </p:cNvPr>
          <p:cNvSpPr>
            <a:spLocks noGrp="1"/>
          </p:cNvSpPr>
          <p:nvPr>
            <p:ph type="sldNum" sz="quarter" idx="12"/>
          </p:nvPr>
        </p:nvSpPr>
        <p:spPr/>
        <p:txBody>
          <a:bodyPr/>
          <a:lstStyle/>
          <a:p>
            <a:fld id="{5ACA52AF-F19D-405C-AD5F-7D94B96A5CC3}" type="slidenum">
              <a:rPr lang="de-CH" noProof="0" smtClean="0"/>
              <a:t>6</a:t>
            </a:fld>
            <a:endParaRPr lang="de-CH" noProof="0"/>
          </a:p>
        </p:txBody>
      </p:sp>
      <p:sp>
        <p:nvSpPr>
          <p:cNvPr id="10" name="Google Shape;187;p21">
            <a:extLst>
              <a:ext uri="{FF2B5EF4-FFF2-40B4-BE49-F238E27FC236}">
                <a16:creationId xmlns:a16="http://schemas.microsoft.com/office/drawing/2014/main" id="{9B078484-1B40-C6EA-DEE1-26C720E20B3A}"/>
              </a:ext>
            </a:extLst>
          </p:cNvPr>
          <p:cNvSpPr txBox="1"/>
          <p:nvPr/>
        </p:nvSpPr>
        <p:spPr>
          <a:xfrm>
            <a:off x="627923" y="576000"/>
            <a:ext cx="7261368" cy="513000"/>
          </a:xfrm>
          <a:prstGeom prst="rect">
            <a:avLst/>
          </a:prstGeom>
          <a:noFill/>
          <a:ln>
            <a:noFill/>
          </a:ln>
        </p:spPr>
        <p:txBody>
          <a:bodyPr spcFirstLastPara="1" wrap="square" lIns="118900" tIns="118900" rIns="118900" bIns="118900" anchor="b" anchorCtr="0">
            <a:noAutofit/>
          </a:bodyPr>
          <a:lstStyle/>
          <a:p>
            <a:r>
              <a:rPr lang="en-GB" sz="3200"/>
              <a:t>Bayesian Neural Networks (BNN)</a:t>
            </a:r>
            <a:endParaRPr lang="en-CH" sz="3200"/>
          </a:p>
        </p:txBody>
      </p:sp>
      <p:sp>
        <p:nvSpPr>
          <p:cNvPr id="11" name="Footer Placeholder 4">
            <a:extLst>
              <a:ext uri="{FF2B5EF4-FFF2-40B4-BE49-F238E27FC236}">
                <a16:creationId xmlns:a16="http://schemas.microsoft.com/office/drawing/2014/main" id="{C53105CD-C85B-5050-4A05-8ADED4A218B6}"/>
              </a:ext>
            </a:extLst>
          </p:cNvPr>
          <p:cNvSpPr>
            <a:spLocks noGrp="1"/>
          </p:cNvSpPr>
          <p:nvPr>
            <p:ph type="ftr" sz="quarter" idx="11"/>
          </p:nvPr>
        </p:nvSpPr>
        <p:spPr>
          <a:xfrm>
            <a:off x="5723751" y="6522444"/>
            <a:ext cx="744495" cy="216000"/>
          </a:xfrm>
        </p:spPr>
        <p:txBody>
          <a:bodyPr/>
          <a:lstStyle/>
          <a:p>
            <a:pPr algn="ctr"/>
            <a:r>
              <a:rPr lang="de-DE" noProof="0"/>
              <a:t>Motivation</a:t>
            </a:r>
            <a:endParaRPr lang="de-CH" noProof="0"/>
          </a:p>
        </p:txBody>
      </p:sp>
      <p:sp>
        <p:nvSpPr>
          <p:cNvPr id="22" name="Google Shape;187;p21">
            <a:extLst>
              <a:ext uri="{FF2B5EF4-FFF2-40B4-BE49-F238E27FC236}">
                <a16:creationId xmlns:a16="http://schemas.microsoft.com/office/drawing/2014/main" id="{D72D6FB8-5BC9-1A12-0F3B-B8BD1F7DFAB7}"/>
              </a:ext>
            </a:extLst>
          </p:cNvPr>
          <p:cNvSpPr txBox="1"/>
          <p:nvPr/>
        </p:nvSpPr>
        <p:spPr>
          <a:xfrm>
            <a:off x="8623867" y="731933"/>
            <a:ext cx="2934429" cy="570564"/>
          </a:xfrm>
          <a:prstGeom prst="rect">
            <a:avLst/>
          </a:prstGeom>
          <a:noFill/>
          <a:ln>
            <a:noFill/>
          </a:ln>
        </p:spPr>
        <p:txBody>
          <a:bodyPr spcFirstLastPara="1" wrap="square" lIns="118900" tIns="118900" rIns="118900" bIns="118900" anchor="t" anchorCtr="0">
            <a:noAutofit/>
          </a:bodyPr>
          <a:lstStyle/>
          <a:p>
            <a:r>
              <a:rPr lang="de-CH">
                <a:sym typeface="Wingdings" pitchFamily="2" charset="2"/>
              </a:rPr>
              <a:t>Bayesian Neural Network</a:t>
            </a:r>
            <a:endParaRPr lang="en-GB">
              <a:sym typeface="Wingdings" pitchFamily="2" charset="2"/>
            </a:endParaRPr>
          </a:p>
        </p:txBody>
      </p:sp>
      <p:sp>
        <p:nvSpPr>
          <p:cNvPr id="23" name="Google Shape;187;p21">
            <a:extLst>
              <a:ext uri="{FF2B5EF4-FFF2-40B4-BE49-F238E27FC236}">
                <a16:creationId xmlns:a16="http://schemas.microsoft.com/office/drawing/2014/main" id="{51DA26B9-62ED-C4C4-503E-48C496456692}"/>
              </a:ext>
            </a:extLst>
          </p:cNvPr>
          <p:cNvSpPr txBox="1"/>
          <p:nvPr/>
        </p:nvSpPr>
        <p:spPr>
          <a:xfrm>
            <a:off x="8623867" y="3738063"/>
            <a:ext cx="2934429" cy="570564"/>
          </a:xfrm>
          <a:prstGeom prst="rect">
            <a:avLst/>
          </a:prstGeom>
          <a:noFill/>
          <a:ln>
            <a:noFill/>
          </a:ln>
        </p:spPr>
        <p:txBody>
          <a:bodyPr spcFirstLastPara="1" wrap="square" lIns="118900" tIns="118900" rIns="118900" bIns="118900" anchor="t" anchorCtr="0">
            <a:noAutofit/>
          </a:bodyPr>
          <a:lstStyle/>
          <a:p>
            <a:r>
              <a:rPr lang="de-CH">
                <a:sym typeface="Wingdings" pitchFamily="2" charset="2"/>
              </a:rPr>
              <a:t>Standard Neural Network</a:t>
            </a:r>
            <a:endParaRPr lang="en-GB">
              <a:sym typeface="Wingdings" pitchFamily="2" charset="2"/>
            </a:endParaRPr>
          </a:p>
        </p:txBody>
      </p:sp>
      <p:grpSp>
        <p:nvGrpSpPr>
          <p:cNvPr id="7" name="Group 6">
            <a:extLst>
              <a:ext uri="{FF2B5EF4-FFF2-40B4-BE49-F238E27FC236}">
                <a16:creationId xmlns:a16="http://schemas.microsoft.com/office/drawing/2014/main" id="{B2CB2CC4-8E5F-E5F5-55D3-388EE6545721}"/>
              </a:ext>
            </a:extLst>
          </p:cNvPr>
          <p:cNvGrpSpPr/>
          <p:nvPr/>
        </p:nvGrpSpPr>
        <p:grpSpPr>
          <a:xfrm>
            <a:off x="8754497" y="4281541"/>
            <a:ext cx="2711627" cy="2080602"/>
            <a:chOff x="514445" y="1374385"/>
            <a:chExt cx="3579217" cy="2746293"/>
          </a:xfrm>
        </p:grpSpPr>
        <p:pic>
          <p:nvPicPr>
            <p:cNvPr id="39" name="Picture 38">
              <a:extLst>
                <a:ext uri="{FF2B5EF4-FFF2-40B4-BE49-F238E27FC236}">
                  <a16:creationId xmlns:a16="http://schemas.microsoft.com/office/drawing/2014/main" id="{E8678941-3587-6ABB-5B4A-D49579ECCA93}"/>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514445" y="1374385"/>
              <a:ext cx="3562760" cy="2746293"/>
            </a:xfrm>
            <a:prstGeom prst="rect">
              <a:avLst/>
            </a:prstGeom>
          </p:spPr>
        </p:pic>
        <p:sp>
          <p:nvSpPr>
            <p:cNvPr id="40" name="TextBox 39">
              <a:extLst>
                <a:ext uri="{FF2B5EF4-FFF2-40B4-BE49-F238E27FC236}">
                  <a16:creationId xmlns:a16="http://schemas.microsoft.com/office/drawing/2014/main" id="{CB24E91B-4A09-B122-05D4-AC7C189139A4}"/>
                </a:ext>
              </a:extLst>
            </p:cNvPr>
            <p:cNvSpPr txBox="1"/>
            <p:nvPr/>
          </p:nvSpPr>
          <p:spPr>
            <a:xfrm>
              <a:off x="3563448" y="2564718"/>
              <a:ext cx="530214" cy="365625"/>
            </a:xfrm>
            <a:prstGeom prst="rect">
              <a:avLst/>
            </a:prstGeom>
            <a:noFill/>
          </p:spPr>
          <p:txBody>
            <a:bodyPr wrap="square" rtlCol="0">
              <a:spAutoFit/>
            </a:bodyPr>
            <a:lstStyle/>
            <a:p>
              <a:r>
                <a:rPr lang="en-CH" sz="1200">
                  <a:solidFill>
                    <a:srgbClr val="FB9D00"/>
                  </a:solidFill>
                </a:rPr>
                <a:t>3.7</a:t>
              </a:r>
            </a:p>
          </p:txBody>
        </p:sp>
        <p:sp>
          <p:nvSpPr>
            <p:cNvPr id="25" name="TextBox 24">
              <a:extLst>
                <a:ext uri="{FF2B5EF4-FFF2-40B4-BE49-F238E27FC236}">
                  <a16:creationId xmlns:a16="http://schemas.microsoft.com/office/drawing/2014/main" id="{EE394D74-E05E-20DD-FB83-A44014997D02}"/>
                </a:ext>
              </a:extLst>
            </p:cNvPr>
            <p:cNvSpPr txBox="1"/>
            <p:nvPr/>
          </p:nvSpPr>
          <p:spPr>
            <a:xfrm>
              <a:off x="1077575" y="1976747"/>
              <a:ext cx="635268" cy="365625"/>
            </a:xfrm>
            <a:prstGeom prst="rect">
              <a:avLst/>
            </a:prstGeom>
            <a:noFill/>
          </p:spPr>
          <p:txBody>
            <a:bodyPr wrap="square" rtlCol="0">
              <a:spAutoFit/>
            </a:bodyPr>
            <a:lstStyle/>
            <a:p>
              <a:r>
                <a:rPr lang="en-CH" sz="1200">
                  <a:solidFill>
                    <a:schemeClr val="accent6"/>
                  </a:solidFill>
                </a:rPr>
                <a:t>0.4</a:t>
              </a:r>
            </a:p>
          </p:txBody>
        </p:sp>
        <p:sp>
          <p:nvSpPr>
            <p:cNvPr id="27" name="TextBox 26">
              <a:extLst>
                <a:ext uri="{FF2B5EF4-FFF2-40B4-BE49-F238E27FC236}">
                  <a16:creationId xmlns:a16="http://schemas.microsoft.com/office/drawing/2014/main" id="{DBD09B6E-0868-AAEF-19F0-6235A6D833C7}"/>
                </a:ext>
              </a:extLst>
            </p:cNvPr>
            <p:cNvSpPr txBox="1"/>
            <p:nvPr/>
          </p:nvSpPr>
          <p:spPr>
            <a:xfrm>
              <a:off x="2021524" y="2030122"/>
              <a:ext cx="635268" cy="365625"/>
            </a:xfrm>
            <a:prstGeom prst="rect">
              <a:avLst/>
            </a:prstGeom>
            <a:noFill/>
          </p:spPr>
          <p:txBody>
            <a:bodyPr wrap="square" rtlCol="0">
              <a:spAutoFit/>
            </a:bodyPr>
            <a:lstStyle/>
            <a:p>
              <a:r>
                <a:rPr lang="en-CH" sz="1200">
                  <a:solidFill>
                    <a:schemeClr val="accent6"/>
                  </a:solidFill>
                </a:rPr>
                <a:t>0.6</a:t>
              </a:r>
            </a:p>
          </p:txBody>
        </p:sp>
        <p:sp>
          <p:nvSpPr>
            <p:cNvPr id="28" name="TextBox 27">
              <a:extLst>
                <a:ext uri="{FF2B5EF4-FFF2-40B4-BE49-F238E27FC236}">
                  <a16:creationId xmlns:a16="http://schemas.microsoft.com/office/drawing/2014/main" id="{0FB680E6-1A2F-5E87-5DD4-AF05A9332E97}"/>
                </a:ext>
              </a:extLst>
            </p:cNvPr>
            <p:cNvSpPr txBox="1"/>
            <p:nvPr/>
          </p:nvSpPr>
          <p:spPr>
            <a:xfrm>
              <a:off x="2213977" y="1663214"/>
              <a:ext cx="635268" cy="365625"/>
            </a:xfrm>
            <a:prstGeom prst="rect">
              <a:avLst/>
            </a:prstGeom>
            <a:noFill/>
          </p:spPr>
          <p:txBody>
            <a:bodyPr wrap="square" rtlCol="0">
              <a:spAutoFit/>
            </a:bodyPr>
            <a:lstStyle/>
            <a:p>
              <a:r>
                <a:rPr lang="en-CH" sz="1200">
                  <a:solidFill>
                    <a:schemeClr val="accent6"/>
                  </a:solidFill>
                </a:rPr>
                <a:t>0.1</a:t>
              </a:r>
            </a:p>
          </p:txBody>
        </p:sp>
        <p:sp>
          <p:nvSpPr>
            <p:cNvPr id="29" name="TextBox 28">
              <a:extLst>
                <a:ext uri="{FF2B5EF4-FFF2-40B4-BE49-F238E27FC236}">
                  <a16:creationId xmlns:a16="http://schemas.microsoft.com/office/drawing/2014/main" id="{6C838E0B-378B-DDD6-C583-2A6371836E9A}"/>
                </a:ext>
              </a:extLst>
            </p:cNvPr>
            <p:cNvSpPr txBox="1"/>
            <p:nvPr/>
          </p:nvSpPr>
          <p:spPr>
            <a:xfrm>
              <a:off x="1077575" y="2485453"/>
              <a:ext cx="635268" cy="365625"/>
            </a:xfrm>
            <a:prstGeom prst="rect">
              <a:avLst/>
            </a:prstGeom>
            <a:noFill/>
          </p:spPr>
          <p:txBody>
            <a:bodyPr wrap="square" rtlCol="0">
              <a:spAutoFit/>
            </a:bodyPr>
            <a:lstStyle/>
            <a:p>
              <a:r>
                <a:rPr lang="en-CH" sz="1200">
                  <a:solidFill>
                    <a:schemeClr val="accent6"/>
                  </a:solidFill>
                </a:rPr>
                <a:t>0.3</a:t>
              </a:r>
            </a:p>
          </p:txBody>
        </p:sp>
        <p:sp>
          <p:nvSpPr>
            <p:cNvPr id="30" name="TextBox 29">
              <a:extLst>
                <a:ext uri="{FF2B5EF4-FFF2-40B4-BE49-F238E27FC236}">
                  <a16:creationId xmlns:a16="http://schemas.microsoft.com/office/drawing/2014/main" id="{E2C666D5-DB06-1F69-F3A7-A73ADCE62C66}"/>
                </a:ext>
              </a:extLst>
            </p:cNvPr>
            <p:cNvSpPr txBox="1"/>
            <p:nvPr/>
          </p:nvSpPr>
          <p:spPr>
            <a:xfrm>
              <a:off x="1043420" y="3100604"/>
              <a:ext cx="635268" cy="365625"/>
            </a:xfrm>
            <a:prstGeom prst="rect">
              <a:avLst/>
            </a:prstGeom>
            <a:noFill/>
          </p:spPr>
          <p:txBody>
            <a:bodyPr wrap="square" rtlCol="0">
              <a:spAutoFit/>
            </a:bodyPr>
            <a:lstStyle/>
            <a:p>
              <a:r>
                <a:rPr lang="en-CH" sz="1200">
                  <a:solidFill>
                    <a:schemeClr val="accent6"/>
                  </a:solidFill>
                </a:rPr>
                <a:t>0.1</a:t>
              </a:r>
            </a:p>
          </p:txBody>
        </p:sp>
        <p:sp>
          <p:nvSpPr>
            <p:cNvPr id="31" name="TextBox 30">
              <a:extLst>
                <a:ext uri="{FF2B5EF4-FFF2-40B4-BE49-F238E27FC236}">
                  <a16:creationId xmlns:a16="http://schemas.microsoft.com/office/drawing/2014/main" id="{7981E8D1-A1A8-73D0-25A9-648C7EFCB039}"/>
                </a:ext>
              </a:extLst>
            </p:cNvPr>
            <p:cNvSpPr txBox="1"/>
            <p:nvPr/>
          </p:nvSpPr>
          <p:spPr>
            <a:xfrm>
              <a:off x="2015370" y="3146254"/>
              <a:ext cx="635268" cy="365625"/>
            </a:xfrm>
            <a:prstGeom prst="rect">
              <a:avLst/>
            </a:prstGeom>
            <a:noFill/>
          </p:spPr>
          <p:txBody>
            <a:bodyPr wrap="square" rtlCol="0">
              <a:spAutoFit/>
            </a:bodyPr>
            <a:lstStyle/>
            <a:p>
              <a:r>
                <a:rPr lang="en-CH" sz="1200">
                  <a:solidFill>
                    <a:schemeClr val="accent6"/>
                  </a:solidFill>
                </a:rPr>
                <a:t>0.3</a:t>
              </a:r>
            </a:p>
          </p:txBody>
        </p:sp>
        <p:sp>
          <p:nvSpPr>
            <p:cNvPr id="32" name="TextBox 31">
              <a:extLst>
                <a:ext uri="{FF2B5EF4-FFF2-40B4-BE49-F238E27FC236}">
                  <a16:creationId xmlns:a16="http://schemas.microsoft.com/office/drawing/2014/main" id="{890D375D-B78A-41B6-DF45-392A0B262690}"/>
                </a:ext>
              </a:extLst>
            </p:cNvPr>
            <p:cNvSpPr txBox="1"/>
            <p:nvPr/>
          </p:nvSpPr>
          <p:spPr>
            <a:xfrm>
              <a:off x="3148887" y="2963443"/>
              <a:ext cx="635268" cy="365625"/>
            </a:xfrm>
            <a:prstGeom prst="rect">
              <a:avLst/>
            </a:prstGeom>
            <a:noFill/>
          </p:spPr>
          <p:txBody>
            <a:bodyPr wrap="square" rtlCol="0">
              <a:spAutoFit/>
            </a:bodyPr>
            <a:lstStyle/>
            <a:p>
              <a:r>
                <a:rPr lang="en-CH" sz="1200">
                  <a:solidFill>
                    <a:schemeClr val="accent6"/>
                  </a:solidFill>
                </a:rPr>
                <a:t>0.5</a:t>
              </a:r>
            </a:p>
          </p:txBody>
        </p:sp>
        <p:sp>
          <p:nvSpPr>
            <p:cNvPr id="33" name="TextBox 32">
              <a:extLst>
                <a:ext uri="{FF2B5EF4-FFF2-40B4-BE49-F238E27FC236}">
                  <a16:creationId xmlns:a16="http://schemas.microsoft.com/office/drawing/2014/main" id="{BBAACFE1-169F-6240-831D-B60BA3B2E9BC}"/>
                </a:ext>
              </a:extLst>
            </p:cNvPr>
            <p:cNvSpPr txBox="1"/>
            <p:nvPr/>
          </p:nvSpPr>
          <p:spPr>
            <a:xfrm>
              <a:off x="3136033" y="2212935"/>
              <a:ext cx="635268" cy="365625"/>
            </a:xfrm>
            <a:prstGeom prst="rect">
              <a:avLst/>
            </a:prstGeom>
            <a:noFill/>
          </p:spPr>
          <p:txBody>
            <a:bodyPr wrap="square" rtlCol="0">
              <a:spAutoFit/>
            </a:bodyPr>
            <a:lstStyle/>
            <a:p>
              <a:r>
                <a:rPr lang="en-CH" sz="1200">
                  <a:solidFill>
                    <a:schemeClr val="accent6"/>
                  </a:solidFill>
                </a:rPr>
                <a:t>0.4</a:t>
              </a:r>
            </a:p>
          </p:txBody>
        </p:sp>
        <p:sp>
          <p:nvSpPr>
            <p:cNvPr id="34" name="TextBox 33">
              <a:extLst>
                <a:ext uri="{FF2B5EF4-FFF2-40B4-BE49-F238E27FC236}">
                  <a16:creationId xmlns:a16="http://schemas.microsoft.com/office/drawing/2014/main" id="{1EB043D8-CC22-8100-F0B0-5C3B86ED51D1}"/>
                </a:ext>
              </a:extLst>
            </p:cNvPr>
            <p:cNvSpPr txBox="1"/>
            <p:nvPr/>
          </p:nvSpPr>
          <p:spPr>
            <a:xfrm>
              <a:off x="2233288" y="3548968"/>
              <a:ext cx="635268" cy="365625"/>
            </a:xfrm>
            <a:prstGeom prst="rect">
              <a:avLst/>
            </a:prstGeom>
            <a:noFill/>
          </p:spPr>
          <p:txBody>
            <a:bodyPr wrap="square" rtlCol="0">
              <a:spAutoFit/>
            </a:bodyPr>
            <a:lstStyle/>
            <a:p>
              <a:r>
                <a:rPr lang="en-CH" sz="1200">
                  <a:solidFill>
                    <a:schemeClr val="accent6"/>
                  </a:solidFill>
                </a:rPr>
                <a:t>0.1</a:t>
              </a:r>
            </a:p>
          </p:txBody>
        </p:sp>
        <p:sp>
          <p:nvSpPr>
            <p:cNvPr id="35" name="TextBox 34">
              <a:extLst>
                <a:ext uri="{FF2B5EF4-FFF2-40B4-BE49-F238E27FC236}">
                  <a16:creationId xmlns:a16="http://schemas.microsoft.com/office/drawing/2014/main" id="{B291758D-7B8D-F9DC-2C6B-436A53E7526D}"/>
                </a:ext>
              </a:extLst>
            </p:cNvPr>
            <p:cNvSpPr txBox="1"/>
            <p:nvPr/>
          </p:nvSpPr>
          <p:spPr>
            <a:xfrm>
              <a:off x="1935343" y="2867766"/>
              <a:ext cx="635268" cy="365625"/>
            </a:xfrm>
            <a:prstGeom prst="rect">
              <a:avLst/>
            </a:prstGeom>
            <a:noFill/>
          </p:spPr>
          <p:txBody>
            <a:bodyPr wrap="square" rtlCol="0">
              <a:spAutoFit/>
            </a:bodyPr>
            <a:lstStyle/>
            <a:p>
              <a:r>
                <a:rPr lang="en-CH" sz="1200">
                  <a:solidFill>
                    <a:schemeClr val="accent6"/>
                  </a:solidFill>
                </a:rPr>
                <a:t>0.1</a:t>
              </a:r>
            </a:p>
          </p:txBody>
        </p:sp>
      </p:grpSp>
      <p:pic>
        <p:nvPicPr>
          <p:cNvPr id="37" name="Picture 36">
            <a:extLst>
              <a:ext uri="{FF2B5EF4-FFF2-40B4-BE49-F238E27FC236}">
                <a16:creationId xmlns:a16="http://schemas.microsoft.com/office/drawing/2014/main" id="{C680A98F-D91A-1C64-7F83-53E7274E7749}"/>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790729" y="1263543"/>
            <a:ext cx="2600707" cy="2030831"/>
          </a:xfrm>
          <a:prstGeom prst="rect">
            <a:avLst/>
          </a:prstGeom>
        </p:spPr>
      </p:pic>
      <p:pic>
        <p:nvPicPr>
          <p:cNvPr id="3" name="Picture 2">
            <a:extLst>
              <a:ext uri="{FF2B5EF4-FFF2-40B4-BE49-F238E27FC236}">
                <a16:creationId xmlns:a16="http://schemas.microsoft.com/office/drawing/2014/main" id="{088EDE70-C507-D689-A1A9-430106B5DC1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758610" y="2078773"/>
            <a:ext cx="4770596" cy="725566"/>
          </a:xfrm>
          <a:prstGeom prst="rect">
            <a:avLst/>
          </a:prstGeom>
        </p:spPr>
      </p:pic>
    </p:spTree>
    <p:extLst>
      <p:ext uri="{BB962C8B-B14F-4D97-AF65-F5344CB8AC3E}">
        <p14:creationId xmlns:p14="http://schemas.microsoft.com/office/powerpoint/2010/main" val="904159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6C4A5BD-52E4-49B7-FE69-5B3C2C6D84B2}"/>
              </a:ext>
            </a:extLst>
          </p:cNvPr>
          <p:cNvSpPr>
            <a:spLocks noGrp="1"/>
          </p:cNvSpPr>
          <p:nvPr>
            <p:ph type="sldNum" sz="quarter" idx="12"/>
          </p:nvPr>
        </p:nvSpPr>
        <p:spPr/>
        <p:txBody>
          <a:bodyPr/>
          <a:lstStyle/>
          <a:p>
            <a:fld id="{5ACA52AF-F19D-405C-AD5F-7D94B96A5CC3}" type="slidenum">
              <a:rPr lang="de-CH" noProof="0" smtClean="0"/>
              <a:t>7</a:t>
            </a:fld>
            <a:endParaRPr lang="de-CH" noProof="0"/>
          </a:p>
        </p:txBody>
      </p:sp>
      <p:sp>
        <p:nvSpPr>
          <p:cNvPr id="7" name="Google Shape;187;p21">
            <a:extLst>
              <a:ext uri="{FF2B5EF4-FFF2-40B4-BE49-F238E27FC236}">
                <a16:creationId xmlns:a16="http://schemas.microsoft.com/office/drawing/2014/main" id="{A5B20862-8D61-4AE6-8CF4-F540F6B292DD}"/>
              </a:ext>
            </a:extLst>
          </p:cNvPr>
          <p:cNvSpPr txBox="1"/>
          <p:nvPr/>
        </p:nvSpPr>
        <p:spPr>
          <a:xfrm>
            <a:off x="627922" y="575999"/>
            <a:ext cx="10110099" cy="1005665"/>
          </a:xfrm>
          <a:prstGeom prst="rect">
            <a:avLst/>
          </a:prstGeom>
          <a:noFill/>
          <a:ln>
            <a:noFill/>
          </a:ln>
        </p:spPr>
        <p:txBody>
          <a:bodyPr spcFirstLastPara="1" wrap="square" lIns="118900" tIns="118900" rIns="118900" bIns="118900" anchor="b" anchorCtr="0">
            <a:noAutofit/>
          </a:bodyPr>
          <a:lstStyle/>
          <a:p>
            <a:pPr marL="0" lvl="0" indent="0" algn="l" rtl="0">
              <a:spcBef>
                <a:spcPts val="0"/>
              </a:spcBef>
              <a:spcAft>
                <a:spcPts val="0"/>
              </a:spcAft>
              <a:buNone/>
            </a:pPr>
            <a:endParaRPr lang="de-CH" sz="3001" b="1">
              <a:solidFill>
                <a:schemeClr val="dk1"/>
              </a:solidFill>
            </a:endParaRPr>
          </a:p>
        </p:txBody>
      </p:sp>
      <p:sp>
        <p:nvSpPr>
          <p:cNvPr id="13" name="Footer Placeholder 4">
            <a:extLst>
              <a:ext uri="{FF2B5EF4-FFF2-40B4-BE49-F238E27FC236}">
                <a16:creationId xmlns:a16="http://schemas.microsoft.com/office/drawing/2014/main" id="{3792945D-DD8A-B577-383B-0F0E3DFC3234}"/>
              </a:ext>
            </a:extLst>
          </p:cNvPr>
          <p:cNvSpPr>
            <a:spLocks noGrp="1"/>
          </p:cNvSpPr>
          <p:nvPr>
            <p:ph type="ftr" sz="quarter" idx="11"/>
          </p:nvPr>
        </p:nvSpPr>
        <p:spPr>
          <a:xfrm>
            <a:off x="5723751" y="6522444"/>
            <a:ext cx="744495" cy="216000"/>
          </a:xfrm>
        </p:spPr>
        <p:txBody>
          <a:bodyPr/>
          <a:lstStyle/>
          <a:p>
            <a:pPr algn="ctr"/>
            <a:r>
              <a:rPr lang="de-DE" noProof="0"/>
              <a:t>Motivation</a:t>
            </a:r>
            <a:endParaRPr lang="de-CH" noProof="0"/>
          </a:p>
        </p:txBody>
      </p:sp>
      <p:sp>
        <p:nvSpPr>
          <p:cNvPr id="4" name="Google Shape;187;p21">
            <a:extLst>
              <a:ext uri="{FF2B5EF4-FFF2-40B4-BE49-F238E27FC236}">
                <a16:creationId xmlns:a16="http://schemas.microsoft.com/office/drawing/2014/main" id="{A8F793F2-E544-7B03-8336-21D7B2211E18}"/>
              </a:ext>
            </a:extLst>
          </p:cNvPr>
          <p:cNvSpPr txBox="1"/>
          <p:nvPr/>
        </p:nvSpPr>
        <p:spPr>
          <a:xfrm>
            <a:off x="627922" y="575999"/>
            <a:ext cx="10110099" cy="1601759"/>
          </a:xfrm>
          <a:prstGeom prst="rect">
            <a:avLst/>
          </a:prstGeom>
          <a:noFill/>
          <a:ln>
            <a:noFill/>
          </a:ln>
        </p:spPr>
        <p:txBody>
          <a:bodyPr spcFirstLastPara="1" wrap="square" lIns="118900" tIns="118900" rIns="118900" bIns="118900" anchor="t" anchorCtr="0">
            <a:noAutofit/>
          </a:bodyPr>
          <a:lstStyle/>
          <a:p>
            <a:pPr marL="0" lvl="0" indent="0" algn="l" rtl="0">
              <a:lnSpc>
                <a:spcPct val="150000"/>
              </a:lnSpc>
              <a:spcBef>
                <a:spcPts val="0"/>
              </a:spcBef>
              <a:spcAft>
                <a:spcPts val="0"/>
              </a:spcAft>
              <a:buNone/>
            </a:pPr>
            <a:r>
              <a:rPr lang="de-CH" sz="3001" b="1">
                <a:solidFill>
                  <a:schemeClr val="dk1"/>
                </a:solidFill>
              </a:rPr>
              <a:t>Can we pretrain a deep learning model </a:t>
            </a:r>
          </a:p>
          <a:p>
            <a:pPr marL="0" lvl="0" indent="0" algn="l" rtl="0">
              <a:lnSpc>
                <a:spcPct val="150000"/>
              </a:lnSpc>
              <a:spcBef>
                <a:spcPts val="0"/>
              </a:spcBef>
              <a:spcAft>
                <a:spcPts val="0"/>
              </a:spcAft>
              <a:buNone/>
            </a:pPr>
            <a:r>
              <a:rPr lang="de-CH" sz="3001" b="1">
                <a:solidFill>
                  <a:schemeClr val="dk1"/>
                </a:solidFill>
              </a:rPr>
              <a:t>to learn the PPD mapping directly?</a:t>
            </a:r>
          </a:p>
          <a:p>
            <a:pPr marL="0" lvl="0" indent="0" algn="l" rtl="0">
              <a:spcBef>
                <a:spcPts val="0"/>
              </a:spcBef>
              <a:spcAft>
                <a:spcPts val="0"/>
              </a:spcAft>
              <a:buNone/>
            </a:pPr>
            <a:endParaRPr lang="de-CH" sz="3001" b="1">
              <a:solidFill>
                <a:schemeClr val="dk1"/>
              </a:solidFill>
            </a:endParaRPr>
          </a:p>
        </p:txBody>
      </p:sp>
    </p:spTree>
    <p:extLst>
      <p:ext uri="{BB962C8B-B14F-4D97-AF65-F5344CB8AC3E}">
        <p14:creationId xmlns:p14="http://schemas.microsoft.com/office/powerpoint/2010/main" val="574763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17E88-AF0D-ED30-0C29-A641283CF89D}"/>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3957AC7-3A71-D1F8-D4C3-9CFCE14B4FB7}"/>
              </a:ext>
            </a:extLst>
          </p:cNvPr>
          <p:cNvSpPr>
            <a:spLocks noGrp="1"/>
          </p:cNvSpPr>
          <p:nvPr>
            <p:ph type="sldNum" sz="quarter" idx="12"/>
          </p:nvPr>
        </p:nvSpPr>
        <p:spPr/>
        <p:txBody>
          <a:bodyPr/>
          <a:lstStyle/>
          <a:p>
            <a:fld id="{5ACA52AF-F19D-405C-AD5F-7D94B96A5CC3}" type="slidenum">
              <a:rPr lang="de-CH" noProof="0" smtClean="0"/>
              <a:t>8</a:t>
            </a:fld>
            <a:endParaRPr lang="de-CH" noProof="0"/>
          </a:p>
        </p:txBody>
      </p:sp>
      <p:sp>
        <p:nvSpPr>
          <p:cNvPr id="27" name="Google Shape;187;p21">
            <a:extLst>
              <a:ext uri="{FF2B5EF4-FFF2-40B4-BE49-F238E27FC236}">
                <a16:creationId xmlns:a16="http://schemas.microsoft.com/office/drawing/2014/main" id="{D39BF51C-611B-F95A-FBC2-BF5DB4B8ACCD}"/>
              </a:ext>
            </a:extLst>
          </p:cNvPr>
          <p:cNvSpPr txBox="1"/>
          <p:nvPr/>
        </p:nvSpPr>
        <p:spPr>
          <a:xfrm>
            <a:off x="627922" y="351816"/>
            <a:ext cx="10832239" cy="513000"/>
          </a:xfrm>
          <a:prstGeom prst="rect">
            <a:avLst/>
          </a:prstGeom>
          <a:noFill/>
          <a:ln>
            <a:noFill/>
          </a:ln>
        </p:spPr>
        <p:txBody>
          <a:bodyPr spcFirstLastPara="1" wrap="square" lIns="118900" tIns="118900" rIns="118900" bIns="118900" anchor="b" anchorCtr="0">
            <a:noAutofit/>
          </a:bodyPr>
          <a:lstStyle/>
          <a:p>
            <a:r>
              <a:rPr lang="en-GB" sz="3200" b="1">
                <a:solidFill>
                  <a:schemeClr val="tx2"/>
                </a:solidFill>
              </a:rPr>
              <a:t>P</a:t>
            </a:r>
            <a:r>
              <a:rPr lang="en-GB" sz="3200">
                <a:solidFill>
                  <a:schemeClr val="tx2"/>
                </a:solidFill>
              </a:rPr>
              <a:t>rior-Data </a:t>
            </a:r>
            <a:r>
              <a:rPr lang="en-GB" sz="3200" b="1">
                <a:solidFill>
                  <a:schemeClr val="tx2"/>
                </a:solidFill>
              </a:rPr>
              <a:t>F</a:t>
            </a:r>
            <a:r>
              <a:rPr lang="en-GB" sz="3200">
                <a:solidFill>
                  <a:schemeClr val="tx2"/>
                </a:solidFill>
              </a:rPr>
              <a:t>itted </a:t>
            </a:r>
            <a:r>
              <a:rPr lang="en-GB" sz="3200" b="1">
                <a:solidFill>
                  <a:schemeClr val="tx2"/>
                </a:solidFill>
              </a:rPr>
              <a:t>N</a:t>
            </a:r>
            <a:r>
              <a:rPr lang="en-GB" sz="3200">
                <a:solidFill>
                  <a:schemeClr val="tx2"/>
                </a:solidFill>
              </a:rPr>
              <a:t>etwork (PFN)</a:t>
            </a:r>
            <a:endParaRPr lang="en-CH" sz="3200">
              <a:solidFill>
                <a:schemeClr val="tx2"/>
              </a:solidFill>
            </a:endParaRPr>
          </a:p>
        </p:txBody>
      </p:sp>
      <p:sp>
        <p:nvSpPr>
          <p:cNvPr id="21" name="Footer Placeholder 4">
            <a:extLst>
              <a:ext uri="{FF2B5EF4-FFF2-40B4-BE49-F238E27FC236}">
                <a16:creationId xmlns:a16="http://schemas.microsoft.com/office/drawing/2014/main" id="{34E1631A-1D2B-D2D6-097C-82D0A601DC02}"/>
              </a:ext>
            </a:extLst>
          </p:cNvPr>
          <p:cNvSpPr txBox="1">
            <a:spLocks/>
          </p:cNvSpPr>
          <p:nvPr/>
        </p:nvSpPr>
        <p:spPr>
          <a:xfrm>
            <a:off x="5723751" y="6522444"/>
            <a:ext cx="744495" cy="216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a:t>Motivation</a:t>
            </a:r>
            <a:endParaRPr lang="de-CH"/>
          </a:p>
        </p:txBody>
      </p:sp>
      <p:sp>
        <p:nvSpPr>
          <p:cNvPr id="41" name="Rectangle 40">
            <a:extLst>
              <a:ext uri="{FF2B5EF4-FFF2-40B4-BE49-F238E27FC236}">
                <a16:creationId xmlns:a16="http://schemas.microsoft.com/office/drawing/2014/main" id="{B04997CD-CB4A-12A7-D464-AEFD3DACDDD4}"/>
              </a:ext>
            </a:extLst>
          </p:cNvPr>
          <p:cNvSpPr/>
          <p:nvPr/>
        </p:nvSpPr>
        <p:spPr>
          <a:xfrm>
            <a:off x="5044234" y="1110035"/>
            <a:ext cx="2084909" cy="3865008"/>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 name="Content Placeholder 2">
            <a:extLst>
              <a:ext uri="{FF2B5EF4-FFF2-40B4-BE49-F238E27FC236}">
                <a16:creationId xmlns:a16="http://schemas.microsoft.com/office/drawing/2014/main" id="{E7C63A84-2A4E-B431-931A-6DFFB2592C0E}"/>
              </a:ext>
            </a:extLst>
          </p:cNvPr>
          <p:cNvSpPr>
            <a:spLocks noGrp="1"/>
          </p:cNvSpPr>
          <p:nvPr>
            <p:ph idx="1"/>
          </p:nvPr>
        </p:nvSpPr>
        <p:spPr>
          <a:xfrm>
            <a:off x="731837" y="1412875"/>
            <a:ext cx="10832239" cy="4680000"/>
          </a:xfrm>
        </p:spPr>
        <p:txBody>
          <a:bodyPr/>
          <a:lstStyle/>
          <a:p>
            <a:pPr marL="285750" indent="-285750">
              <a:buFont typeface="Arial" panose="020B0604020202020204" pitchFamily="34" charset="0"/>
              <a:buChar char="•"/>
            </a:pPr>
            <a:r>
              <a:rPr lang="de-CH" b="1"/>
              <a:t>Pretraining:</a:t>
            </a:r>
            <a:br>
              <a:rPr lang="de-CH" b="1"/>
            </a:br>
            <a:r>
              <a:rPr lang="de-CH"/>
              <a:t>The</a:t>
            </a:r>
            <a:r>
              <a:rPr lang="de-CH" b="1"/>
              <a:t> transformer</a:t>
            </a:r>
            <a:r>
              <a:rPr lang="de-CH"/>
              <a:t> trains on many </a:t>
            </a:r>
            <a:r>
              <a:rPr lang="de-CH" b="1"/>
              <a:t>synthetic</a:t>
            </a:r>
            <a:r>
              <a:rPr lang="de-CH"/>
              <a:t> </a:t>
            </a:r>
            <a:r>
              <a:rPr lang="de-CH" b="1"/>
              <a:t>datasets</a:t>
            </a:r>
            <a:r>
              <a:rPr lang="de-CH"/>
              <a:t> sampled </a:t>
            </a:r>
            <a:br>
              <a:rPr lang="de-CH"/>
            </a:br>
            <a:r>
              <a:rPr lang="de-CH"/>
              <a:t>from a </a:t>
            </a:r>
            <a:r>
              <a:rPr lang="de-CH" b="1"/>
              <a:t>prior</a:t>
            </a:r>
            <a:r>
              <a:rPr lang="de-CH"/>
              <a:t> over supervised learning tasks</a:t>
            </a:r>
            <a:br>
              <a:rPr lang="de-CH"/>
            </a:br>
            <a:br>
              <a:rPr lang="de-CH"/>
            </a:br>
            <a:br>
              <a:rPr lang="de-CH"/>
            </a:br>
            <a:endParaRPr lang="de-CH"/>
          </a:p>
          <a:p>
            <a:pPr marL="285750" indent="-285750">
              <a:buFont typeface="Arial" panose="020B0604020202020204" pitchFamily="34" charset="0"/>
              <a:buChar char="•"/>
            </a:pPr>
            <a:r>
              <a:rPr lang="de-CH" b="1"/>
              <a:t>Meta-Learning:</a:t>
            </a:r>
            <a:br>
              <a:rPr lang="de-CH"/>
            </a:br>
            <a:r>
              <a:rPr lang="de-CH"/>
              <a:t>The transformer learns how to </a:t>
            </a:r>
            <a:r>
              <a:rPr lang="de-CH" b="1"/>
              <a:t>approximate Bayesian Inference</a:t>
            </a:r>
            <a:br>
              <a:rPr lang="de-CH"/>
            </a:br>
            <a:br>
              <a:rPr lang="de-CH"/>
            </a:br>
            <a:br>
              <a:rPr lang="de-CH"/>
            </a:br>
            <a:endParaRPr lang="de-CH"/>
          </a:p>
          <a:p>
            <a:pPr marL="285750" indent="-285750">
              <a:buFont typeface="Arial" panose="020B0604020202020204" pitchFamily="34" charset="0"/>
              <a:buChar char="•"/>
            </a:pPr>
            <a:r>
              <a:rPr lang="de-CH" b="1"/>
              <a:t>Fast inference:</a:t>
            </a:r>
            <a:br>
              <a:rPr lang="de-CH"/>
            </a:br>
            <a:r>
              <a:rPr lang="de-CH"/>
              <a:t>The trained transformer outputs an </a:t>
            </a:r>
            <a:r>
              <a:rPr lang="de-CH" b="1"/>
              <a:t>approximation of the true PPD </a:t>
            </a:r>
            <a:br>
              <a:rPr lang="de-CH" b="1"/>
            </a:br>
            <a:r>
              <a:rPr lang="de-CH"/>
              <a:t>for a query point of a new dataset in just </a:t>
            </a:r>
            <a:r>
              <a:rPr lang="de-CH" b="1"/>
              <a:t>one</a:t>
            </a:r>
            <a:r>
              <a:rPr lang="de-CH"/>
              <a:t> </a:t>
            </a:r>
            <a:r>
              <a:rPr lang="de-CH" b="1"/>
              <a:t>forward pass</a:t>
            </a:r>
            <a:br>
              <a:rPr lang="de-CH"/>
            </a:br>
            <a:endParaRPr lang="de-CH"/>
          </a:p>
        </p:txBody>
      </p:sp>
      <p:grpSp>
        <p:nvGrpSpPr>
          <p:cNvPr id="50" name="Group 49">
            <a:extLst>
              <a:ext uri="{FF2B5EF4-FFF2-40B4-BE49-F238E27FC236}">
                <a16:creationId xmlns:a16="http://schemas.microsoft.com/office/drawing/2014/main" id="{92CE26BA-5B81-CF7D-E566-699C27A9FF61}"/>
              </a:ext>
            </a:extLst>
          </p:cNvPr>
          <p:cNvGrpSpPr/>
          <p:nvPr/>
        </p:nvGrpSpPr>
        <p:grpSpPr>
          <a:xfrm>
            <a:off x="8269704" y="477429"/>
            <a:ext cx="3189543" cy="2332370"/>
            <a:chOff x="5723751" y="989668"/>
            <a:chExt cx="4277798" cy="3128162"/>
          </a:xfrm>
        </p:grpSpPr>
        <p:sp>
          <p:nvSpPr>
            <p:cNvPr id="18" name="Oval 17">
              <a:extLst>
                <a:ext uri="{FF2B5EF4-FFF2-40B4-BE49-F238E27FC236}">
                  <a16:creationId xmlns:a16="http://schemas.microsoft.com/office/drawing/2014/main" id="{3804FC5B-DC20-64CA-3C73-863E3D04BA2F}"/>
                </a:ext>
              </a:extLst>
            </p:cNvPr>
            <p:cNvSpPr/>
            <p:nvPr/>
          </p:nvSpPr>
          <p:spPr>
            <a:xfrm>
              <a:off x="5723751" y="1056715"/>
              <a:ext cx="3059413" cy="3059413"/>
            </a:xfrm>
            <a:prstGeom prst="ellipse">
              <a:avLst/>
            </a:prstGeom>
            <a:solidFill>
              <a:srgbClr val="E1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grpSp>
          <p:nvGrpSpPr>
            <p:cNvPr id="19" name="Group 18">
              <a:extLst>
                <a:ext uri="{FF2B5EF4-FFF2-40B4-BE49-F238E27FC236}">
                  <a16:creationId xmlns:a16="http://schemas.microsoft.com/office/drawing/2014/main" id="{2154F9DE-F9D3-4259-3AE8-6AF67BC5F122}"/>
                </a:ext>
              </a:extLst>
            </p:cNvPr>
            <p:cNvGrpSpPr/>
            <p:nvPr/>
          </p:nvGrpSpPr>
          <p:grpSpPr>
            <a:xfrm>
              <a:off x="9082977" y="996880"/>
              <a:ext cx="629203" cy="3120950"/>
              <a:chOff x="4418921" y="2079650"/>
              <a:chExt cx="481142" cy="2386543"/>
            </a:xfrm>
          </p:grpSpPr>
          <p:pic>
            <p:nvPicPr>
              <p:cNvPr id="20" name="Picture 19">
                <a:extLst>
                  <a:ext uri="{FF2B5EF4-FFF2-40B4-BE49-F238E27FC236}">
                    <a16:creationId xmlns:a16="http://schemas.microsoft.com/office/drawing/2014/main" id="{C3A25E12-E89C-919E-6F4E-8B0FFAC3C06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18921" y="2079650"/>
                <a:ext cx="481142" cy="590877"/>
              </a:xfrm>
              <a:prstGeom prst="rect">
                <a:avLst/>
              </a:prstGeom>
            </p:spPr>
          </p:pic>
          <p:pic>
            <p:nvPicPr>
              <p:cNvPr id="22" name="Picture 21">
                <a:extLst>
                  <a:ext uri="{FF2B5EF4-FFF2-40B4-BE49-F238E27FC236}">
                    <a16:creationId xmlns:a16="http://schemas.microsoft.com/office/drawing/2014/main" id="{6370F742-B1A7-4E69-B90F-C50955D7CD5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18921" y="3875316"/>
                <a:ext cx="481142" cy="590877"/>
              </a:xfrm>
              <a:prstGeom prst="rect">
                <a:avLst/>
              </a:prstGeom>
            </p:spPr>
          </p:pic>
          <p:pic>
            <p:nvPicPr>
              <p:cNvPr id="24" name="Picture 23">
                <a:extLst>
                  <a:ext uri="{FF2B5EF4-FFF2-40B4-BE49-F238E27FC236}">
                    <a16:creationId xmlns:a16="http://schemas.microsoft.com/office/drawing/2014/main" id="{6CD2F7DD-69C4-0E82-5EBC-B23DF425404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18921" y="2838123"/>
                <a:ext cx="481142" cy="590877"/>
              </a:xfrm>
              <a:prstGeom prst="rect">
                <a:avLst/>
              </a:prstGeom>
            </p:spPr>
          </p:pic>
        </p:grpSp>
        <p:sp>
          <p:nvSpPr>
            <p:cNvPr id="25" name="Content Placeholder 2">
              <a:extLst>
                <a:ext uri="{FF2B5EF4-FFF2-40B4-BE49-F238E27FC236}">
                  <a16:creationId xmlns:a16="http://schemas.microsoft.com/office/drawing/2014/main" id="{F4223481-C0DC-A864-7F65-6AE5B02A86C6}"/>
                </a:ext>
              </a:extLst>
            </p:cNvPr>
            <p:cNvSpPr txBox="1">
              <a:spLocks/>
            </p:cNvSpPr>
            <p:nvPr/>
          </p:nvSpPr>
          <p:spPr>
            <a:xfrm rot="5400000">
              <a:off x="9248506" y="3034736"/>
              <a:ext cx="588349" cy="308805"/>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a:t>…</a:t>
              </a:r>
            </a:p>
            <a:p>
              <a:pPr marL="0" indent="0">
                <a:buNone/>
              </a:pPr>
              <a:endParaRPr lang="en-CH"/>
            </a:p>
          </p:txBody>
        </p:sp>
        <p:sp>
          <p:nvSpPr>
            <p:cNvPr id="26" name="Content Placeholder 2">
              <a:extLst>
                <a:ext uri="{FF2B5EF4-FFF2-40B4-BE49-F238E27FC236}">
                  <a16:creationId xmlns:a16="http://schemas.microsoft.com/office/drawing/2014/main" id="{FF5E0EAA-317B-C7DB-73B9-DE203A0D958B}"/>
                </a:ext>
              </a:extLst>
            </p:cNvPr>
            <p:cNvSpPr txBox="1">
              <a:spLocks/>
            </p:cNvSpPr>
            <p:nvPr/>
          </p:nvSpPr>
          <p:spPr>
            <a:xfrm>
              <a:off x="9220840" y="989668"/>
              <a:ext cx="780709" cy="313685"/>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800">
                  <a:ea typeface="Cambria Math" panose="02040503050406030204" pitchFamily="18" charset="0"/>
                </a:rPr>
                <a:t>X     Y</a:t>
              </a:r>
            </a:p>
          </p:txBody>
        </p:sp>
        <p:cxnSp>
          <p:nvCxnSpPr>
            <p:cNvPr id="30" name="Straight Connector 29">
              <a:extLst>
                <a:ext uri="{FF2B5EF4-FFF2-40B4-BE49-F238E27FC236}">
                  <a16:creationId xmlns:a16="http://schemas.microsoft.com/office/drawing/2014/main" id="{38771D35-6FC0-D812-8137-BDE96E41DA99}"/>
                </a:ext>
              </a:extLst>
            </p:cNvPr>
            <p:cNvCxnSpPr>
              <a:cxnSpLocks/>
            </p:cNvCxnSpPr>
            <p:nvPr/>
          </p:nvCxnSpPr>
          <p:spPr>
            <a:xfrm>
              <a:off x="6292515" y="1871376"/>
              <a:ext cx="0" cy="15124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DD5F484-87DB-A795-C439-D82E9004DD15}"/>
                </a:ext>
              </a:extLst>
            </p:cNvPr>
            <p:cNvCxnSpPr>
              <a:cxnSpLocks/>
            </p:cNvCxnSpPr>
            <p:nvPr/>
          </p:nvCxnSpPr>
          <p:spPr>
            <a:xfrm>
              <a:off x="6292515" y="3383817"/>
              <a:ext cx="19233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Content Placeholder 2">
              <a:extLst>
                <a:ext uri="{FF2B5EF4-FFF2-40B4-BE49-F238E27FC236}">
                  <a16:creationId xmlns:a16="http://schemas.microsoft.com/office/drawing/2014/main" id="{596AFECD-1A3C-31C1-477A-20F289B37EEE}"/>
                </a:ext>
              </a:extLst>
            </p:cNvPr>
            <p:cNvSpPr txBox="1">
              <a:spLocks/>
            </p:cNvSpPr>
            <p:nvPr/>
          </p:nvSpPr>
          <p:spPr>
            <a:xfrm>
              <a:off x="8267900" y="3229427"/>
              <a:ext cx="182101" cy="253886"/>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200">
                  <a:ea typeface="Cambria Math" panose="02040503050406030204" pitchFamily="18" charset="0"/>
                </a:rPr>
                <a:t>x</a:t>
              </a:r>
            </a:p>
          </p:txBody>
        </p:sp>
        <p:grpSp>
          <p:nvGrpSpPr>
            <p:cNvPr id="36" name="Group 35">
              <a:extLst>
                <a:ext uri="{FF2B5EF4-FFF2-40B4-BE49-F238E27FC236}">
                  <a16:creationId xmlns:a16="http://schemas.microsoft.com/office/drawing/2014/main" id="{76296D10-37B4-E7AE-AF0C-4EFBF96C7DD4}"/>
                </a:ext>
              </a:extLst>
            </p:cNvPr>
            <p:cNvGrpSpPr/>
            <p:nvPr/>
          </p:nvGrpSpPr>
          <p:grpSpPr>
            <a:xfrm>
              <a:off x="6303106" y="1757691"/>
              <a:ext cx="2108900" cy="1562050"/>
              <a:chOff x="1008770" y="2212981"/>
              <a:chExt cx="2263125" cy="1676284"/>
            </a:xfrm>
          </p:grpSpPr>
          <p:sp>
            <p:nvSpPr>
              <p:cNvPr id="37" name="Freeform 36">
                <a:extLst>
                  <a:ext uri="{FF2B5EF4-FFF2-40B4-BE49-F238E27FC236}">
                    <a16:creationId xmlns:a16="http://schemas.microsoft.com/office/drawing/2014/main" id="{49A81AA3-F153-55E7-BA1D-F52A733C9C5A}"/>
                  </a:ext>
                </a:extLst>
              </p:cNvPr>
              <p:cNvSpPr/>
              <p:nvPr/>
            </p:nvSpPr>
            <p:spPr>
              <a:xfrm>
                <a:off x="1008770" y="2604839"/>
                <a:ext cx="2263125" cy="545238"/>
              </a:xfrm>
              <a:custGeom>
                <a:avLst/>
                <a:gdLst>
                  <a:gd name="connsiteX0" fmla="*/ 0 w 1483895"/>
                  <a:gd name="connsiteY0" fmla="*/ 238112 h 357504"/>
                  <a:gd name="connsiteX1" fmla="*/ 533400 w 1483895"/>
                  <a:gd name="connsiteY1" fmla="*/ 1490 h 357504"/>
                  <a:gd name="connsiteX2" fmla="*/ 1122948 w 1483895"/>
                  <a:gd name="connsiteY2" fmla="*/ 338375 h 357504"/>
                  <a:gd name="connsiteX3" fmla="*/ 1483895 w 1483895"/>
                  <a:gd name="connsiteY3" fmla="*/ 286238 h 357504"/>
                </a:gdLst>
                <a:ahLst/>
                <a:cxnLst>
                  <a:cxn ang="0">
                    <a:pos x="connsiteX0" y="connsiteY0"/>
                  </a:cxn>
                  <a:cxn ang="0">
                    <a:pos x="connsiteX1" y="connsiteY1"/>
                  </a:cxn>
                  <a:cxn ang="0">
                    <a:pos x="connsiteX2" y="connsiteY2"/>
                  </a:cxn>
                  <a:cxn ang="0">
                    <a:pos x="connsiteX3" y="connsiteY3"/>
                  </a:cxn>
                </a:cxnLst>
                <a:rect l="l" t="t" r="r" b="b"/>
                <a:pathLst>
                  <a:path w="1483895" h="357504">
                    <a:moveTo>
                      <a:pt x="0" y="238112"/>
                    </a:moveTo>
                    <a:cubicBezTo>
                      <a:pt x="173121" y="111445"/>
                      <a:pt x="346242" y="-15221"/>
                      <a:pt x="533400" y="1490"/>
                    </a:cubicBezTo>
                    <a:cubicBezTo>
                      <a:pt x="720558" y="18200"/>
                      <a:pt x="964532" y="290917"/>
                      <a:pt x="1122948" y="338375"/>
                    </a:cubicBezTo>
                    <a:cubicBezTo>
                      <a:pt x="1281364" y="385833"/>
                      <a:pt x="1382629" y="336035"/>
                      <a:pt x="1483895" y="286238"/>
                    </a:cubicBezTo>
                  </a:path>
                </a:pathLst>
              </a:custGeom>
              <a:noFill/>
              <a:ln w="38100">
                <a:solidFill>
                  <a:srgbClr val="A307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3" name="Freeform 42">
                <a:extLst>
                  <a:ext uri="{FF2B5EF4-FFF2-40B4-BE49-F238E27FC236}">
                    <a16:creationId xmlns:a16="http://schemas.microsoft.com/office/drawing/2014/main" id="{EA563995-5F4E-2F7A-03C0-ABC4C19A842D}"/>
                  </a:ext>
                </a:extLst>
              </p:cNvPr>
              <p:cNvSpPr/>
              <p:nvPr/>
            </p:nvSpPr>
            <p:spPr>
              <a:xfrm>
                <a:off x="1015642" y="2251812"/>
                <a:ext cx="1926717" cy="519908"/>
              </a:xfrm>
              <a:custGeom>
                <a:avLst/>
                <a:gdLst>
                  <a:gd name="connsiteX0" fmla="*/ 0 w 1263316"/>
                  <a:gd name="connsiteY0" fmla="*/ 340895 h 340895"/>
                  <a:gd name="connsiteX1" fmla="*/ 176464 w 1263316"/>
                  <a:gd name="connsiteY1" fmla="*/ 200527 h 340895"/>
                  <a:gd name="connsiteX2" fmla="*/ 557464 w 1263316"/>
                  <a:gd name="connsiteY2" fmla="*/ 332874 h 340895"/>
                  <a:gd name="connsiteX3" fmla="*/ 978569 w 1263316"/>
                  <a:gd name="connsiteY3" fmla="*/ 64169 h 340895"/>
                  <a:gd name="connsiteX4" fmla="*/ 1263316 w 1263316"/>
                  <a:gd name="connsiteY4" fmla="*/ 0 h 340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316" h="340895">
                    <a:moveTo>
                      <a:pt x="0" y="340895"/>
                    </a:moveTo>
                    <a:cubicBezTo>
                      <a:pt x="41776" y="271379"/>
                      <a:pt x="83553" y="201864"/>
                      <a:pt x="176464" y="200527"/>
                    </a:cubicBezTo>
                    <a:cubicBezTo>
                      <a:pt x="269375" y="199190"/>
                      <a:pt x="423780" y="355600"/>
                      <a:pt x="557464" y="332874"/>
                    </a:cubicBezTo>
                    <a:cubicBezTo>
                      <a:pt x="691148" y="310148"/>
                      <a:pt x="860927" y="119648"/>
                      <a:pt x="978569" y="64169"/>
                    </a:cubicBezTo>
                    <a:cubicBezTo>
                      <a:pt x="1096211" y="8690"/>
                      <a:pt x="1179763" y="4345"/>
                      <a:pt x="1263316" y="0"/>
                    </a:cubicBezTo>
                  </a:path>
                </a:pathLst>
              </a:cu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4" name="Freeform 43">
                <a:extLst>
                  <a:ext uri="{FF2B5EF4-FFF2-40B4-BE49-F238E27FC236}">
                    <a16:creationId xmlns:a16="http://schemas.microsoft.com/office/drawing/2014/main" id="{D9FEC533-7910-C442-BB8E-112B726CBF86}"/>
                  </a:ext>
                </a:extLst>
              </p:cNvPr>
              <p:cNvSpPr/>
              <p:nvPr/>
            </p:nvSpPr>
            <p:spPr>
              <a:xfrm>
                <a:off x="1022842" y="3108653"/>
                <a:ext cx="2177496" cy="385953"/>
              </a:xfrm>
              <a:custGeom>
                <a:avLst/>
                <a:gdLst>
                  <a:gd name="connsiteX0" fmla="*/ 0 w 1427747"/>
                  <a:gd name="connsiteY0" fmla="*/ 0 h 253063"/>
                  <a:gd name="connsiteX1" fmla="*/ 364958 w 1427747"/>
                  <a:gd name="connsiteY1" fmla="*/ 252663 h 253063"/>
                  <a:gd name="connsiteX2" fmla="*/ 994611 w 1427747"/>
                  <a:gd name="connsiteY2" fmla="*/ 60158 h 253063"/>
                  <a:gd name="connsiteX3" fmla="*/ 1259305 w 1427747"/>
                  <a:gd name="connsiteY3" fmla="*/ 124326 h 253063"/>
                  <a:gd name="connsiteX4" fmla="*/ 1427747 w 1427747"/>
                  <a:gd name="connsiteY4" fmla="*/ 60158 h 253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7747" h="253063">
                    <a:moveTo>
                      <a:pt x="0" y="0"/>
                    </a:moveTo>
                    <a:cubicBezTo>
                      <a:pt x="99595" y="121318"/>
                      <a:pt x="199190" y="242637"/>
                      <a:pt x="364958" y="252663"/>
                    </a:cubicBezTo>
                    <a:cubicBezTo>
                      <a:pt x="530726" y="262689"/>
                      <a:pt x="845553" y="81548"/>
                      <a:pt x="994611" y="60158"/>
                    </a:cubicBezTo>
                    <a:cubicBezTo>
                      <a:pt x="1143669" y="38769"/>
                      <a:pt x="1187116" y="124326"/>
                      <a:pt x="1259305" y="124326"/>
                    </a:cubicBezTo>
                    <a:cubicBezTo>
                      <a:pt x="1331494" y="124326"/>
                      <a:pt x="1379620" y="92242"/>
                      <a:pt x="1427747" y="60158"/>
                    </a:cubicBezTo>
                  </a:path>
                </a:pathLst>
              </a:custGeom>
              <a:noFill/>
              <a:ln w="38100">
                <a:solidFill>
                  <a:srgbClr val="7AAB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5" name="Freeform 44">
                <a:extLst>
                  <a:ext uri="{FF2B5EF4-FFF2-40B4-BE49-F238E27FC236}">
                    <a16:creationId xmlns:a16="http://schemas.microsoft.com/office/drawing/2014/main" id="{A5413D16-65BA-E988-FD99-D02C0EB883C7}"/>
                  </a:ext>
                </a:extLst>
              </p:cNvPr>
              <p:cNvSpPr/>
              <p:nvPr/>
            </p:nvSpPr>
            <p:spPr>
              <a:xfrm>
                <a:off x="1120296" y="2212981"/>
                <a:ext cx="1957298" cy="1094973"/>
              </a:xfrm>
              <a:custGeom>
                <a:avLst/>
                <a:gdLst>
                  <a:gd name="connsiteX0" fmla="*/ 0 w 1283368"/>
                  <a:gd name="connsiteY0" fmla="*/ 717956 h 717956"/>
                  <a:gd name="connsiteX1" fmla="*/ 264694 w 1283368"/>
                  <a:gd name="connsiteY1" fmla="*/ 36167 h 717956"/>
                  <a:gd name="connsiteX2" fmla="*/ 481263 w 1283368"/>
                  <a:gd name="connsiteY2" fmla="*/ 292840 h 717956"/>
                  <a:gd name="connsiteX3" fmla="*/ 673768 w 1283368"/>
                  <a:gd name="connsiteY3" fmla="*/ 72 h 717956"/>
                  <a:gd name="connsiteX4" fmla="*/ 778042 w 1283368"/>
                  <a:gd name="connsiteY4" fmla="*/ 324925 h 717956"/>
                  <a:gd name="connsiteX5" fmla="*/ 966536 w 1283368"/>
                  <a:gd name="connsiteY5" fmla="*/ 124398 h 717956"/>
                  <a:gd name="connsiteX6" fmla="*/ 1102894 w 1283368"/>
                  <a:gd name="connsiteY6" fmla="*/ 661809 h 717956"/>
                  <a:gd name="connsiteX7" fmla="*/ 1283368 w 1283368"/>
                  <a:gd name="connsiteY7" fmla="*/ 573577 h 717956"/>
                  <a:gd name="connsiteX8" fmla="*/ 1283368 w 1283368"/>
                  <a:gd name="connsiteY8" fmla="*/ 573577 h 71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68" h="717956">
                    <a:moveTo>
                      <a:pt x="0" y="717956"/>
                    </a:moveTo>
                    <a:cubicBezTo>
                      <a:pt x="92242" y="412488"/>
                      <a:pt x="184484" y="107020"/>
                      <a:pt x="264694" y="36167"/>
                    </a:cubicBezTo>
                    <a:cubicBezTo>
                      <a:pt x="344904" y="-34686"/>
                      <a:pt x="413084" y="298856"/>
                      <a:pt x="481263" y="292840"/>
                    </a:cubicBezTo>
                    <a:cubicBezTo>
                      <a:pt x="549442" y="286824"/>
                      <a:pt x="624305" y="-5276"/>
                      <a:pt x="673768" y="72"/>
                    </a:cubicBezTo>
                    <a:cubicBezTo>
                      <a:pt x="723231" y="5419"/>
                      <a:pt x="729247" y="304204"/>
                      <a:pt x="778042" y="324925"/>
                    </a:cubicBezTo>
                    <a:cubicBezTo>
                      <a:pt x="826837" y="345646"/>
                      <a:pt x="912394" y="68251"/>
                      <a:pt x="966536" y="124398"/>
                    </a:cubicBezTo>
                    <a:cubicBezTo>
                      <a:pt x="1020678" y="180545"/>
                      <a:pt x="1050089" y="586946"/>
                      <a:pt x="1102894" y="661809"/>
                    </a:cubicBezTo>
                    <a:cubicBezTo>
                      <a:pt x="1155699" y="736672"/>
                      <a:pt x="1283368" y="573577"/>
                      <a:pt x="1283368" y="573577"/>
                    </a:cubicBezTo>
                    <a:lnTo>
                      <a:pt x="1283368" y="573577"/>
                    </a:lnTo>
                  </a:path>
                </a:pathLst>
              </a:custGeom>
              <a:noFill/>
              <a:ln w="38100">
                <a:solidFill>
                  <a:srgbClr val="E5CE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6" name="Freeform 45">
                <a:extLst>
                  <a:ext uri="{FF2B5EF4-FFF2-40B4-BE49-F238E27FC236}">
                    <a16:creationId xmlns:a16="http://schemas.microsoft.com/office/drawing/2014/main" id="{1594C2A3-B0FB-9FCB-A946-BAEED89CD18F}"/>
                  </a:ext>
                </a:extLst>
              </p:cNvPr>
              <p:cNvSpPr/>
              <p:nvPr/>
            </p:nvSpPr>
            <p:spPr>
              <a:xfrm>
                <a:off x="1085411" y="2521707"/>
                <a:ext cx="2153027" cy="1225565"/>
              </a:xfrm>
              <a:custGeom>
                <a:avLst/>
                <a:gdLst>
                  <a:gd name="connsiteX0" fmla="*/ 0 w 1411705"/>
                  <a:gd name="connsiteY0" fmla="*/ 803583 h 803583"/>
                  <a:gd name="connsiteX1" fmla="*/ 268705 w 1411705"/>
                  <a:gd name="connsiteY1" fmla="*/ 394510 h 803583"/>
                  <a:gd name="connsiteX2" fmla="*/ 573505 w 1411705"/>
                  <a:gd name="connsiteY2" fmla="*/ 643162 h 803583"/>
                  <a:gd name="connsiteX3" fmla="*/ 966537 w 1411705"/>
                  <a:gd name="connsiteY3" fmla="*/ 13510 h 803583"/>
                  <a:gd name="connsiteX4" fmla="*/ 1231231 w 1411705"/>
                  <a:gd name="connsiteY4" fmla="*/ 202004 h 803583"/>
                  <a:gd name="connsiteX5" fmla="*/ 1411705 w 1411705"/>
                  <a:gd name="connsiteY5" fmla="*/ 85699 h 803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1705" h="803583">
                    <a:moveTo>
                      <a:pt x="0" y="803583"/>
                    </a:moveTo>
                    <a:cubicBezTo>
                      <a:pt x="86560" y="612415"/>
                      <a:pt x="173121" y="421247"/>
                      <a:pt x="268705" y="394510"/>
                    </a:cubicBezTo>
                    <a:cubicBezTo>
                      <a:pt x="364289" y="367773"/>
                      <a:pt x="457200" y="706662"/>
                      <a:pt x="573505" y="643162"/>
                    </a:cubicBezTo>
                    <a:cubicBezTo>
                      <a:pt x="689810" y="579662"/>
                      <a:pt x="856916" y="87036"/>
                      <a:pt x="966537" y="13510"/>
                    </a:cubicBezTo>
                    <a:cubicBezTo>
                      <a:pt x="1076158" y="-60016"/>
                      <a:pt x="1157036" y="189973"/>
                      <a:pt x="1231231" y="202004"/>
                    </a:cubicBezTo>
                    <a:cubicBezTo>
                      <a:pt x="1305426" y="214035"/>
                      <a:pt x="1358565" y="149867"/>
                      <a:pt x="1411705" y="85699"/>
                    </a:cubicBezTo>
                  </a:path>
                </a:pathLst>
              </a:custGeom>
              <a:noFill/>
              <a:ln w="3810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7" name="Freeform 46">
                <a:extLst>
                  <a:ext uri="{FF2B5EF4-FFF2-40B4-BE49-F238E27FC236}">
                    <a16:creationId xmlns:a16="http://schemas.microsoft.com/office/drawing/2014/main" id="{4B454890-FD88-54C0-0327-935993ED8477}"/>
                  </a:ext>
                </a:extLst>
              </p:cNvPr>
              <p:cNvSpPr/>
              <p:nvPr/>
            </p:nvSpPr>
            <p:spPr>
              <a:xfrm>
                <a:off x="1063138" y="2914973"/>
                <a:ext cx="2096902" cy="974292"/>
              </a:xfrm>
              <a:custGeom>
                <a:avLst/>
                <a:gdLst>
                  <a:gd name="connsiteX0" fmla="*/ 0 w 1203158"/>
                  <a:gd name="connsiteY0" fmla="*/ 354017 h 559029"/>
                  <a:gd name="connsiteX1" fmla="*/ 160421 w 1203158"/>
                  <a:gd name="connsiteY1" fmla="*/ 558554 h 559029"/>
                  <a:gd name="connsiteX2" fmla="*/ 336884 w 1203158"/>
                  <a:gd name="connsiteY2" fmla="*/ 414175 h 559029"/>
                  <a:gd name="connsiteX3" fmla="*/ 509337 w 1203158"/>
                  <a:gd name="connsiteY3" fmla="*/ 542512 h 559029"/>
                  <a:gd name="connsiteX4" fmla="*/ 818147 w 1203158"/>
                  <a:gd name="connsiteY4" fmla="*/ 1091 h 559029"/>
                  <a:gd name="connsiteX5" fmla="*/ 1030705 w 1203158"/>
                  <a:gd name="connsiteY5" fmla="*/ 402144 h 559029"/>
                  <a:gd name="connsiteX6" fmla="*/ 1203158 w 1203158"/>
                  <a:gd name="connsiteY6" fmla="*/ 390112 h 559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3158" h="559029">
                    <a:moveTo>
                      <a:pt x="0" y="354017"/>
                    </a:moveTo>
                    <a:cubicBezTo>
                      <a:pt x="52137" y="451272"/>
                      <a:pt x="104274" y="548528"/>
                      <a:pt x="160421" y="558554"/>
                    </a:cubicBezTo>
                    <a:cubicBezTo>
                      <a:pt x="216568" y="568580"/>
                      <a:pt x="278732" y="416849"/>
                      <a:pt x="336884" y="414175"/>
                    </a:cubicBezTo>
                    <a:cubicBezTo>
                      <a:pt x="395036" y="411501"/>
                      <a:pt x="429127" y="611359"/>
                      <a:pt x="509337" y="542512"/>
                    </a:cubicBezTo>
                    <a:cubicBezTo>
                      <a:pt x="589548" y="473665"/>
                      <a:pt x="731252" y="24486"/>
                      <a:pt x="818147" y="1091"/>
                    </a:cubicBezTo>
                    <a:cubicBezTo>
                      <a:pt x="905042" y="-22304"/>
                      <a:pt x="966537" y="337307"/>
                      <a:pt x="1030705" y="402144"/>
                    </a:cubicBezTo>
                    <a:cubicBezTo>
                      <a:pt x="1094873" y="466981"/>
                      <a:pt x="1149015" y="428546"/>
                      <a:pt x="1203158" y="390112"/>
                    </a:cubicBezTo>
                  </a:path>
                </a:pathLst>
              </a:custGeom>
              <a:noFill/>
              <a:ln w="38100">
                <a:solidFill>
                  <a:srgbClr val="A693B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grpSp>
        <p:sp>
          <p:nvSpPr>
            <p:cNvPr id="48" name="Content Placeholder 2">
              <a:extLst>
                <a:ext uri="{FF2B5EF4-FFF2-40B4-BE49-F238E27FC236}">
                  <a16:creationId xmlns:a16="http://schemas.microsoft.com/office/drawing/2014/main" id="{3EB3050C-1B40-D6BF-2F13-C73519F02CA9}"/>
                </a:ext>
              </a:extLst>
            </p:cNvPr>
            <p:cNvSpPr txBox="1">
              <a:spLocks/>
            </p:cNvSpPr>
            <p:nvPr/>
          </p:nvSpPr>
          <p:spPr>
            <a:xfrm>
              <a:off x="6164793" y="1692892"/>
              <a:ext cx="176947" cy="172765"/>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200">
                  <a:ea typeface="Cambria Math" panose="02040503050406030204" pitchFamily="18" charset="0"/>
                </a:rPr>
                <a:t>y</a:t>
              </a:r>
            </a:p>
          </p:txBody>
        </p:sp>
        <p:sp>
          <p:nvSpPr>
            <p:cNvPr id="53" name="Content Placeholder 2">
              <a:extLst>
                <a:ext uri="{FF2B5EF4-FFF2-40B4-BE49-F238E27FC236}">
                  <a16:creationId xmlns:a16="http://schemas.microsoft.com/office/drawing/2014/main" id="{38F3298A-395C-E734-BCAC-FAD62DF42B41}"/>
                </a:ext>
              </a:extLst>
            </p:cNvPr>
            <p:cNvSpPr txBox="1">
              <a:spLocks/>
            </p:cNvSpPr>
            <p:nvPr/>
          </p:nvSpPr>
          <p:spPr>
            <a:xfrm>
              <a:off x="9210082" y="1979385"/>
              <a:ext cx="780709" cy="313685"/>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800">
                  <a:ea typeface="Cambria Math" panose="02040503050406030204" pitchFamily="18" charset="0"/>
                </a:rPr>
                <a:t>X     Y</a:t>
              </a:r>
            </a:p>
          </p:txBody>
        </p:sp>
        <p:sp>
          <p:nvSpPr>
            <p:cNvPr id="54" name="Content Placeholder 2">
              <a:extLst>
                <a:ext uri="{FF2B5EF4-FFF2-40B4-BE49-F238E27FC236}">
                  <a16:creationId xmlns:a16="http://schemas.microsoft.com/office/drawing/2014/main" id="{E1B55A6E-FF57-4ABB-CB9B-C12BD72BB837}"/>
                </a:ext>
              </a:extLst>
            </p:cNvPr>
            <p:cNvSpPr txBox="1">
              <a:spLocks/>
            </p:cNvSpPr>
            <p:nvPr/>
          </p:nvSpPr>
          <p:spPr>
            <a:xfrm>
              <a:off x="9210082" y="3345625"/>
              <a:ext cx="780709" cy="313685"/>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800">
                  <a:ea typeface="Cambria Math" panose="02040503050406030204" pitchFamily="18" charset="0"/>
                </a:rPr>
                <a:t>X     Y</a:t>
              </a:r>
            </a:p>
          </p:txBody>
        </p:sp>
      </p:grpSp>
      <p:grpSp>
        <p:nvGrpSpPr>
          <p:cNvPr id="85" name="Group 84">
            <a:extLst>
              <a:ext uri="{FF2B5EF4-FFF2-40B4-BE49-F238E27FC236}">
                <a16:creationId xmlns:a16="http://schemas.microsoft.com/office/drawing/2014/main" id="{9DB09C33-0E38-19FF-B9A0-2963E5E6DBF3}"/>
              </a:ext>
            </a:extLst>
          </p:cNvPr>
          <p:cNvGrpSpPr/>
          <p:nvPr/>
        </p:nvGrpSpPr>
        <p:grpSpPr>
          <a:xfrm>
            <a:off x="8512980" y="4048202"/>
            <a:ext cx="2946267" cy="1901536"/>
            <a:chOff x="9070192" y="4333674"/>
            <a:chExt cx="2946267" cy="1901536"/>
          </a:xfrm>
        </p:grpSpPr>
        <p:grpSp>
          <p:nvGrpSpPr>
            <p:cNvPr id="67" name="Group 66">
              <a:extLst>
                <a:ext uri="{FF2B5EF4-FFF2-40B4-BE49-F238E27FC236}">
                  <a16:creationId xmlns:a16="http://schemas.microsoft.com/office/drawing/2014/main" id="{80A06E0C-61C2-22DC-BECA-EA4224054B0D}"/>
                </a:ext>
              </a:extLst>
            </p:cNvPr>
            <p:cNvGrpSpPr/>
            <p:nvPr/>
          </p:nvGrpSpPr>
          <p:grpSpPr>
            <a:xfrm>
              <a:off x="9070192" y="4333674"/>
              <a:ext cx="2946267" cy="1901536"/>
              <a:chOff x="8328823" y="3552467"/>
              <a:chExt cx="3879179" cy="2503644"/>
            </a:xfrm>
          </p:grpSpPr>
          <p:pic>
            <p:nvPicPr>
              <p:cNvPr id="56" name="Picture 55">
                <a:extLst>
                  <a:ext uri="{FF2B5EF4-FFF2-40B4-BE49-F238E27FC236}">
                    <a16:creationId xmlns:a16="http://schemas.microsoft.com/office/drawing/2014/main" id="{C62ABA5B-01CD-04B1-7C5B-F57AEE7DEBD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375178" y="4317774"/>
                <a:ext cx="1415502" cy="1738337"/>
              </a:xfrm>
              <a:prstGeom prst="rect">
                <a:avLst/>
              </a:prstGeom>
            </p:spPr>
          </p:pic>
          <p:sp>
            <p:nvSpPr>
              <p:cNvPr id="57" name="Rectangle 56">
                <a:extLst>
                  <a:ext uri="{FF2B5EF4-FFF2-40B4-BE49-F238E27FC236}">
                    <a16:creationId xmlns:a16="http://schemas.microsoft.com/office/drawing/2014/main" id="{A60478AA-6E53-14B6-42EE-AD7975EC5853}"/>
                  </a:ext>
                </a:extLst>
              </p:cNvPr>
              <p:cNvSpPr/>
              <p:nvPr/>
            </p:nvSpPr>
            <p:spPr>
              <a:xfrm>
                <a:off x="9326532" y="5808917"/>
                <a:ext cx="293846" cy="1691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8" name="Content Placeholder 2">
                <a:extLst>
                  <a:ext uri="{FF2B5EF4-FFF2-40B4-BE49-F238E27FC236}">
                    <a16:creationId xmlns:a16="http://schemas.microsoft.com/office/drawing/2014/main" id="{CF34AD8E-6C65-20FC-9483-A5A9981A9FFF}"/>
                  </a:ext>
                </a:extLst>
              </p:cNvPr>
              <p:cNvSpPr txBox="1">
                <a:spLocks/>
              </p:cNvSpPr>
              <p:nvPr/>
            </p:nvSpPr>
            <p:spPr>
              <a:xfrm>
                <a:off x="8696884" y="4318489"/>
                <a:ext cx="1070272" cy="256163"/>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600">
                    <a:ea typeface="Cambria Math" panose="02040503050406030204" pitchFamily="18" charset="0"/>
                  </a:rPr>
                  <a:t>X      Y	</a:t>
                </a:r>
              </a:p>
            </p:txBody>
          </p:sp>
          <p:sp>
            <p:nvSpPr>
              <p:cNvPr id="59" name="Content Placeholder 2">
                <a:extLst>
                  <a:ext uri="{FF2B5EF4-FFF2-40B4-BE49-F238E27FC236}">
                    <a16:creationId xmlns:a16="http://schemas.microsoft.com/office/drawing/2014/main" id="{E00342DF-CF58-A7AA-3913-46F5762CF7D0}"/>
                  </a:ext>
                </a:extLst>
              </p:cNvPr>
              <p:cNvSpPr txBox="1">
                <a:spLocks/>
              </p:cNvSpPr>
              <p:nvPr/>
            </p:nvSpPr>
            <p:spPr>
              <a:xfrm>
                <a:off x="8453373" y="3902054"/>
                <a:ext cx="570205" cy="254111"/>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400">
                    <a:ea typeface="Cambria Math" panose="02040503050406030204" pitchFamily="18" charset="0"/>
                  </a:rPr>
                  <a:t>1964</a:t>
                </a:r>
              </a:p>
            </p:txBody>
          </p:sp>
          <p:pic>
            <p:nvPicPr>
              <p:cNvPr id="60" name="Picture 59">
                <a:extLst>
                  <a:ext uri="{FF2B5EF4-FFF2-40B4-BE49-F238E27FC236}">
                    <a16:creationId xmlns:a16="http://schemas.microsoft.com/office/drawing/2014/main" id="{CD7B5B13-346B-447C-598C-13F3646A7768}"/>
                  </a:ext>
                </a:extLst>
              </p:cNvPr>
              <p:cNvPicPr>
                <a:picLocks/>
              </p:cNvPicPr>
              <p:nvPr/>
            </p:nvPicPr>
            <p:blipFill>
              <a:blip r:embed="rId5" cstate="screen">
                <a:extLst>
                  <a:ext uri="{28A0092B-C50C-407E-A947-70E740481C1C}">
                    <a14:useLocalDpi xmlns:a14="http://schemas.microsoft.com/office/drawing/2010/main"/>
                  </a:ext>
                </a:extLst>
              </a:blip>
              <a:srcRect/>
              <a:stretch/>
            </p:blipFill>
            <p:spPr>
              <a:xfrm>
                <a:off x="11016749" y="4689495"/>
                <a:ext cx="1191253" cy="1052106"/>
              </a:xfrm>
              <a:prstGeom prst="rect">
                <a:avLst/>
              </a:prstGeom>
            </p:spPr>
          </p:pic>
          <p:sp>
            <p:nvSpPr>
              <p:cNvPr id="61" name="Content Placeholder 2">
                <a:extLst>
                  <a:ext uri="{FF2B5EF4-FFF2-40B4-BE49-F238E27FC236}">
                    <a16:creationId xmlns:a16="http://schemas.microsoft.com/office/drawing/2014/main" id="{A0442FC8-8EE9-EBC5-7DF9-D72BA05B2239}"/>
                  </a:ext>
                </a:extLst>
              </p:cNvPr>
              <p:cNvSpPr txBox="1">
                <a:spLocks/>
              </p:cNvSpPr>
              <p:nvPr/>
            </p:nvSpPr>
            <p:spPr>
              <a:xfrm>
                <a:off x="11389702" y="5715002"/>
                <a:ext cx="690463" cy="238444"/>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600" b="1">
                    <a:solidFill>
                      <a:srgbClr val="FC6B65"/>
                    </a:solidFill>
                    <a:ea typeface="Cambria Math" panose="02040503050406030204" pitchFamily="18" charset="0"/>
                  </a:rPr>
                  <a:t>y</a:t>
                </a:r>
                <a:r>
                  <a:rPr lang="en-GB" sz="1600" b="1" baseline="-25000">
                    <a:solidFill>
                      <a:srgbClr val="FC6B65"/>
                    </a:solidFill>
                    <a:ea typeface="Cambria Math" panose="02040503050406030204" pitchFamily="18" charset="0"/>
                  </a:rPr>
                  <a:t>query</a:t>
                </a:r>
              </a:p>
            </p:txBody>
          </p:sp>
          <p:pic>
            <p:nvPicPr>
              <p:cNvPr id="62" name="Graphic 61" descr="Flip calendar outline">
                <a:extLst>
                  <a:ext uri="{FF2B5EF4-FFF2-40B4-BE49-F238E27FC236}">
                    <a16:creationId xmlns:a16="http://schemas.microsoft.com/office/drawing/2014/main" id="{848E0958-4320-3CD0-70E8-92F15D5FEDA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28823" y="3559192"/>
                <a:ext cx="774683" cy="774684"/>
              </a:xfrm>
              <a:prstGeom prst="rect">
                <a:avLst/>
              </a:prstGeom>
            </p:spPr>
          </p:pic>
          <p:grpSp>
            <p:nvGrpSpPr>
              <p:cNvPr id="63" name="Group 62">
                <a:extLst>
                  <a:ext uri="{FF2B5EF4-FFF2-40B4-BE49-F238E27FC236}">
                    <a16:creationId xmlns:a16="http://schemas.microsoft.com/office/drawing/2014/main" id="{A4B628C1-DF23-717A-B0C4-6DC41BE93E40}"/>
                  </a:ext>
                </a:extLst>
              </p:cNvPr>
              <p:cNvGrpSpPr/>
              <p:nvPr/>
            </p:nvGrpSpPr>
            <p:grpSpPr>
              <a:xfrm>
                <a:off x="9052255" y="3552467"/>
                <a:ext cx="759326" cy="759326"/>
                <a:chOff x="9052487" y="1661494"/>
                <a:chExt cx="810887" cy="810887"/>
              </a:xfrm>
            </p:grpSpPr>
            <p:pic>
              <p:nvPicPr>
                <p:cNvPr id="64" name="Graphic 63" descr="Mortgage outline">
                  <a:extLst>
                    <a:ext uri="{FF2B5EF4-FFF2-40B4-BE49-F238E27FC236}">
                      <a16:creationId xmlns:a16="http://schemas.microsoft.com/office/drawing/2014/main" id="{4F65EC89-11EC-AF4E-D7E6-A7CFF892F5E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52487" y="1661494"/>
                  <a:ext cx="810887" cy="810887"/>
                </a:xfrm>
                <a:prstGeom prst="rect">
                  <a:avLst/>
                </a:prstGeom>
              </p:spPr>
            </p:pic>
            <p:sp>
              <p:nvSpPr>
                <p:cNvPr id="65" name="Rectangle 64">
                  <a:extLst>
                    <a:ext uri="{FF2B5EF4-FFF2-40B4-BE49-F238E27FC236}">
                      <a16:creationId xmlns:a16="http://schemas.microsoft.com/office/drawing/2014/main" id="{55C90CB9-F7A0-29EE-916A-EC95B820E53A}"/>
                    </a:ext>
                  </a:extLst>
                </p:cNvPr>
                <p:cNvSpPr/>
                <p:nvPr/>
              </p:nvSpPr>
              <p:spPr>
                <a:xfrm>
                  <a:off x="9330486" y="2061509"/>
                  <a:ext cx="252047" cy="2290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66" name="Graphic 65" descr="Dollar with solid fill">
                  <a:extLst>
                    <a:ext uri="{FF2B5EF4-FFF2-40B4-BE49-F238E27FC236}">
                      <a16:creationId xmlns:a16="http://schemas.microsoft.com/office/drawing/2014/main" id="{E42FE9DC-EACB-63E4-8B22-B59BFB96F63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295593" y="2009585"/>
                  <a:ext cx="321832" cy="321832"/>
                </a:xfrm>
                <a:prstGeom prst="rect">
                  <a:avLst/>
                </a:prstGeom>
              </p:spPr>
            </p:pic>
          </p:grpSp>
        </p:grpSp>
        <p:grpSp>
          <p:nvGrpSpPr>
            <p:cNvPr id="82" name="Group 81">
              <a:extLst>
                <a:ext uri="{FF2B5EF4-FFF2-40B4-BE49-F238E27FC236}">
                  <a16:creationId xmlns:a16="http://schemas.microsoft.com/office/drawing/2014/main" id="{3415FE00-BC49-75A0-65C5-3AF9EB4BE2C1}"/>
                </a:ext>
              </a:extLst>
            </p:cNvPr>
            <p:cNvGrpSpPr/>
            <p:nvPr/>
          </p:nvGrpSpPr>
          <p:grpSpPr>
            <a:xfrm>
              <a:off x="10424822" y="5072511"/>
              <a:ext cx="723641" cy="836055"/>
              <a:chOff x="10815087" y="3978022"/>
              <a:chExt cx="723641" cy="836055"/>
            </a:xfrm>
          </p:grpSpPr>
          <mc:AlternateContent xmlns:mc="http://schemas.openxmlformats.org/markup-compatibility/2006" xmlns:a14="http://schemas.microsoft.com/office/drawing/2010/main">
            <mc:Choice Requires="a14">
              <p:sp>
                <p:nvSpPr>
                  <p:cNvPr id="78" name="Title 1">
                    <a:extLst>
                      <a:ext uri="{FF2B5EF4-FFF2-40B4-BE49-F238E27FC236}">
                        <a16:creationId xmlns:a16="http://schemas.microsoft.com/office/drawing/2014/main" id="{4485C7E5-099F-D76F-0524-585EF37CE167}"/>
                      </a:ext>
                    </a:extLst>
                  </p:cNvPr>
                  <p:cNvSpPr txBox="1">
                    <a:spLocks/>
                  </p:cNvSpPr>
                  <p:nvPr/>
                </p:nvSpPr>
                <p:spPr>
                  <a:xfrm>
                    <a:off x="10864824" y="4256993"/>
                    <a:ext cx="673904" cy="557084"/>
                  </a:xfrm>
                  <a:prstGeom prst="rect">
                    <a:avLst/>
                  </a:prstGeom>
                </p:spPr>
                <p:txBody>
                  <a:bodyPr vert="horz" lIns="0" tIns="0" rIns="0" bIns="0" rtlCol="0" anchor="t" anchorCtr="0">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acc>
                            <m:accPr>
                              <m:chr m:val="̂"/>
                              <m:ctrlPr>
                                <a:rPr lang="en-CH" sz="2400" b="1" i="1">
                                  <a:latin typeface="Cambria Math" panose="02040503050406030204" pitchFamily="18" charset="0"/>
                                  <a:ea typeface="Cambria Math" panose="02040503050406030204" pitchFamily="18" charset="0"/>
                                </a:rPr>
                              </m:ctrlPr>
                            </m:accPr>
                            <m:e>
                              <m:r>
                                <a:rPr lang="en-CH" sz="2400" b="1" i="1">
                                  <a:latin typeface="Cambria Math" panose="02040503050406030204" pitchFamily="18" charset="0"/>
                                  <a:ea typeface="Cambria Math" panose="02040503050406030204" pitchFamily="18" charset="0"/>
                                </a:rPr>
                                <m:t>𝜽</m:t>
                              </m:r>
                            </m:e>
                          </m:acc>
                        </m:oMath>
                      </m:oMathPara>
                    </a14:m>
                    <a:endParaRPr lang="en-CH" sz="2400" b="1">
                      <a:latin typeface="+mn-lt"/>
                    </a:endParaRPr>
                  </a:p>
                </p:txBody>
              </p:sp>
            </mc:Choice>
            <mc:Fallback xmlns="">
              <p:sp>
                <p:nvSpPr>
                  <p:cNvPr id="78" name="Title 1">
                    <a:extLst>
                      <a:ext uri="{FF2B5EF4-FFF2-40B4-BE49-F238E27FC236}">
                        <a16:creationId xmlns:a16="http://schemas.microsoft.com/office/drawing/2014/main" id="{4485C7E5-099F-D76F-0524-585EF37CE167}"/>
                      </a:ext>
                    </a:extLst>
                  </p:cNvPr>
                  <p:cNvSpPr txBox="1">
                    <a:spLocks noRot="1" noChangeAspect="1" noMove="1" noResize="1" noEditPoints="1" noAdjustHandles="1" noChangeArrowheads="1" noChangeShapeType="1" noTextEdit="1"/>
                  </p:cNvSpPr>
                  <p:nvPr/>
                </p:nvSpPr>
                <p:spPr>
                  <a:xfrm>
                    <a:off x="10864824" y="4256993"/>
                    <a:ext cx="673904" cy="557084"/>
                  </a:xfrm>
                  <a:prstGeom prst="rect">
                    <a:avLst/>
                  </a:prstGeom>
                  <a:blipFill>
                    <a:blip r:embed="rId12"/>
                    <a:stretch>
                      <a:fillRect t="-20000"/>
                    </a:stretch>
                  </a:blipFill>
                </p:spPr>
                <p:txBody>
                  <a:bodyPr/>
                  <a:lstStyle/>
                  <a:p>
                    <a:r>
                      <a:rPr lang="en-CH">
                        <a:noFill/>
                      </a:rPr>
                      <a:t> </a:t>
                    </a:r>
                  </a:p>
                </p:txBody>
              </p:sp>
            </mc:Fallback>
          </mc:AlternateContent>
          <p:sp>
            <p:nvSpPr>
              <p:cNvPr id="80" name="Title 1">
                <a:extLst>
                  <a:ext uri="{FF2B5EF4-FFF2-40B4-BE49-F238E27FC236}">
                    <a16:creationId xmlns:a16="http://schemas.microsoft.com/office/drawing/2014/main" id="{328F453F-F107-A1C2-7110-3E2BF9B07642}"/>
                  </a:ext>
                </a:extLst>
              </p:cNvPr>
              <p:cNvSpPr txBox="1">
                <a:spLocks/>
              </p:cNvSpPr>
              <p:nvPr/>
            </p:nvSpPr>
            <p:spPr>
              <a:xfrm>
                <a:off x="10815087" y="3978022"/>
                <a:ext cx="697443" cy="57654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GB" sz="3600" b="1">
                    <a:latin typeface="+mn-lt"/>
                  </a:rPr>
                  <a:t>T</a:t>
                </a:r>
                <a:endParaRPr lang="en-CH" sz="3600" b="1" i="1" baseline="-25000">
                  <a:latin typeface="+mn-lt"/>
                </a:endParaRPr>
              </a:p>
            </p:txBody>
          </p:sp>
        </p:grpSp>
        <p:pic>
          <p:nvPicPr>
            <p:cNvPr id="84" name="Graphic 83" descr="Arrow Right with solid fill">
              <a:extLst>
                <a:ext uri="{FF2B5EF4-FFF2-40B4-BE49-F238E27FC236}">
                  <a16:creationId xmlns:a16="http://schemas.microsoft.com/office/drawing/2014/main" id="{CD7E6AC4-C712-A2D6-7D8C-5F99719DBAA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416711" y="5458650"/>
              <a:ext cx="551283" cy="642198"/>
            </a:xfrm>
            <a:prstGeom prst="rect">
              <a:avLst/>
            </a:prstGeom>
          </p:spPr>
        </p:pic>
      </p:grpSp>
      <p:sp>
        <p:nvSpPr>
          <p:cNvPr id="87" name="Rectangle 86">
            <a:extLst>
              <a:ext uri="{FF2B5EF4-FFF2-40B4-BE49-F238E27FC236}">
                <a16:creationId xmlns:a16="http://schemas.microsoft.com/office/drawing/2014/main" id="{DBCC9346-6FC3-2305-BCE8-0F19C160491A}"/>
              </a:ext>
            </a:extLst>
          </p:cNvPr>
          <p:cNvSpPr/>
          <p:nvPr/>
        </p:nvSpPr>
        <p:spPr>
          <a:xfrm>
            <a:off x="731837" y="2563109"/>
            <a:ext cx="7086692" cy="1229958"/>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8" name="Rectangle 87">
            <a:extLst>
              <a:ext uri="{FF2B5EF4-FFF2-40B4-BE49-F238E27FC236}">
                <a16:creationId xmlns:a16="http://schemas.microsoft.com/office/drawing/2014/main" id="{5B9BFBAA-65F4-91A3-AA10-E02B6A6B1D42}"/>
              </a:ext>
            </a:extLst>
          </p:cNvPr>
          <p:cNvSpPr/>
          <p:nvPr/>
        </p:nvSpPr>
        <p:spPr>
          <a:xfrm>
            <a:off x="681036" y="4070175"/>
            <a:ext cx="10883040" cy="2122230"/>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3037751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P spid="8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935FEAA-BF2C-1DC4-73B4-2ABA9E9F0DDC}"/>
              </a:ext>
            </a:extLst>
          </p:cNvPr>
          <p:cNvSpPr>
            <a:spLocks noGrp="1"/>
          </p:cNvSpPr>
          <p:nvPr>
            <p:ph type="sldNum" sz="quarter" idx="12"/>
          </p:nvPr>
        </p:nvSpPr>
        <p:spPr/>
        <p:txBody>
          <a:bodyPr/>
          <a:lstStyle/>
          <a:p>
            <a:fld id="{5ACA52AF-F19D-405C-AD5F-7D94B96A5CC3}" type="slidenum">
              <a:rPr lang="de-CH" noProof="0" smtClean="0"/>
              <a:t>9</a:t>
            </a:fld>
            <a:endParaRPr lang="de-CH" noProof="0"/>
          </a:p>
        </p:txBody>
      </p:sp>
      <p:sp>
        <p:nvSpPr>
          <p:cNvPr id="11" name="Footer Placeholder 4">
            <a:extLst>
              <a:ext uri="{FF2B5EF4-FFF2-40B4-BE49-F238E27FC236}">
                <a16:creationId xmlns:a16="http://schemas.microsoft.com/office/drawing/2014/main" id="{BA456D9D-57B7-5AED-5D99-32118096C736}"/>
              </a:ext>
            </a:extLst>
          </p:cNvPr>
          <p:cNvSpPr txBox="1">
            <a:spLocks/>
          </p:cNvSpPr>
          <p:nvPr/>
        </p:nvSpPr>
        <p:spPr>
          <a:xfrm>
            <a:off x="5723751" y="6522444"/>
            <a:ext cx="744495" cy="216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a:t>Motivation</a:t>
            </a:r>
            <a:endParaRPr lang="de-CH"/>
          </a:p>
        </p:txBody>
      </p:sp>
      <p:sp>
        <p:nvSpPr>
          <p:cNvPr id="12" name="Content Placeholder 2">
            <a:extLst>
              <a:ext uri="{FF2B5EF4-FFF2-40B4-BE49-F238E27FC236}">
                <a16:creationId xmlns:a16="http://schemas.microsoft.com/office/drawing/2014/main" id="{AA6D4DD5-7967-95F2-6D3B-33253DEE5C7A}"/>
              </a:ext>
            </a:extLst>
          </p:cNvPr>
          <p:cNvSpPr>
            <a:spLocks noGrp="1"/>
          </p:cNvSpPr>
          <p:nvPr>
            <p:ph idx="1"/>
          </p:nvPr>
        </p:nvSpPr>
        <p:spPr>
          <a:xfrm>
            <a:off x="731837" y="1412875"/>
            <a:ext cx="10728325" cy="4680000"/>
          </a:xfrm>
        </p:spPr>
        <p:txBody>
          <a:bodyPr/>
          <a:lstStyle/>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b="1"/>
              <a:t>Neural Posterior Estimation </a:t>
            </a:r>
            <a:r>
              <a:rPr lang="en-GB"/>
              <a:t>(Lueckmann et al., 2021)</a:t>
            </a:r>
            <a:br>
              <a:rPr lang="en-GB"/>
            </a:br>
            <a:br>
              <a:rPr lang="en-GB"/>
            </a:br>
            <a:r>
              <a:rPr lang="en-GB" b="1"/>
              <a:t>Goal</a:t>
            </a:r>
            <a:r>
              <a:rPr lang="en-GB"/>
              <a:t>: Approximate the </a:t>
            </a:r>
            <a:r>
              <a:rPr lang="en-GB" b="1"/>
              <a:t>posterior</a:t>
            </a:r>
            <a:r>
              <a:rPr lang="en-GB"/>
              <a:t> p(</a:t>
            </a:r>
            <a:r>
              <a:rPr lang="el-GR"/>
              <a:t>θ|</a:t>
            </a:r>
            <a:r>
              <a:rPr lang="en-GB"/>
              <a:t>x) of latent parameters (simulation-based inference) </a:t>
            </a:r>
            <a:br>
              <a:rPr lang="en-GB"/>
            </a:br>
            <a:r>
              <a:rPr lang="en-GB" b="1"/>
              <a:t>Training</a:t>
            </a:r>
            <a:r>
              <a:rPr lang="en-GB"/>
              <a:t>: Neural Network trained on simulated samples from the </a:t>
            </a:r>
            <a:r>
              <a:rPr lang="en-GB" b="1"/>
              <a:t>joint</a:t>
            </a:r>
            <a:r>
              <a:rPr lang="en-GB"/>
              <a:t> distribution p(</a:t>
            </a:r>
            <a:r>
              <a:rPr lang="el-GR"/>
              <a:t>θ,</a:t>
            </a:r>
            <a:r>
              <a:rPr lang="en-GB"/>
              <a:t>X)</a:t>
            </a:r>
            <a:br>
              <a:rPr lang="en-GB"/>
            </a:br>
            <a:br>
              <a:rPr lang="en-GB"/>
            </a:br>
            <a:br>
              <a:rPr lang="en-GB"/>
            </a:br>
            <a:br>
              <a:rPr lang="en-GB"/>
            </a:br>
            <a:endParaRPr lang="en-GB"/>
          </a:p>
          <a:p>
            <a:pPr marL="285750" indent="-285750">
              <a:buFont typeface="Arial" panose="020B0604020202020204" pitchFamily="34" charset="0"/>
              <a:buChar char="•"/>
            </a:pPr>
            <a:r>
              <a:rPr lang="en-GB" b="1"/>
              <a:t>Attentive Neural Processes</a:t>
            </a:r>
            <a:r>
              <a:rPr lang="en-GB"/>
              <a:t> (Kim et al., 2018)</a:t>
            </a:r>
            <a:br>
              <a:rPr lang="en-GB"/>
            </a:br>
            <a:br>
              <a:rPr lang="en-GB"/>
            </a:br>
            <a:r>
              <a:rPr lang="en-GB" b="1"/>
              <a:t>Goal</a:t>
            </a:r>
            <a:r>
              <a:rPr lang="en-GB"/>
              <a:t>: Approximate predictive distribution using a </a:t>
            </a:r>
            <a:r>
              <a:rPr lang="en-GB" b="1"/>
              <a:t>latent variable </a:t>
            </a:r>
            <a:r>
              <a:rPr lang="en-GB"/>
              <a:t>z to capture uncertainty</a:t>
            </a:r>
            <a:br>
              <a:rPr lang="en-GB"/>
            </a:br>
            <a:r>
              <a:rPr lang="en-GB" b="1"/>
              <a:t>Training</a:t>
            </a:r>
            <a:r>
              <a:rPr lang="en-GB"/>
              <a:t>: Maximize </a:t>
            </a:r>
            <a:r>
              <a:rPr lang="en-GB" b="1"/>
              <a:t>ELBO</a:t>
            </a:r>
            <a:r>
              <a:rPr lang="en-GB"/>
              <a:t> to learn the latent distribution; incorporates attention mechanism</a:t>
            </a:r>
            <a:br>
              <a:rPr lang="en-GB"/>
            </a:br>
            <a:br>
              <a:rPr lang="en-GB"/>
            </a:br>
            <a:endParaRPr lang="en-GB"/>
          </a:p>
        </p:txBody>
      </p:sp>
      <p:sp>
        <p:nvSpPr>
          <p:cNvPr id="13" name="Google Shape;187;p21">
            <a:extLst>
              <a:ext uri="{FF2B5EF4-FFF2-40B4-BE49-F238E27FC236}">
                <a16:creationId xmlns:a16="http://schemas.microsoft.com/office/drawing/2014/main" id="{B868FFF1-6231-A358-DB45-4E604D2EF812}"/>
              </a:ext>
            </a:extLst>
          </p:cNvPr>
          <p:cNvSpPr txBox="1"/>
          <p:nvPr/>
        </p:nvSpPr>
        <p:spPr>
          <a:xfrm>
            <a:off x="627922" y="576000"/>
            <a:ext cx="10832239" cy="513000"/>
          </a:xfrm>
          <a:prstGeom prst="rect">
            <a:avLst/>
          </a:prstGeom>
          <a:noFill/>
          <a:ln>
            <a:noFill/>
          </a:ln>
        </p:spPr>
        <p:txBody>
          <a:bodyPr spcFirstLastPara="1" wrap="square" lIns="118900" tIns="118900" rIns="118900" bIns="118900" anchor="b" anchorCtr="0">
            <a:noAutofit/>
          </a:bodyPr>
          <a:lstStyle/>
          <a:p>
            <a:r>
              <a:rPr lang="en-GB" sz="3200"/>
              <a:t>Related amortized methods</a:t>
            </a:r>
            <a:endParaRPr lang="en-CH" sz="3200"/>
          </a:p>
        </p:txBody>
      </p:sp>
    </p:spTree>
    <p:extLst>
      <p:ext uri="{BB962C8B-B14F-4D97-AF65-F5344CB8AC3E}">
        <p14:creationId xmlns:p14="http://schemas.microsoft.com/office/powerpoint/2010/main" val="1199185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31D16-8018-B936-2891-46A0ACD4D1F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EBC9936-C6D3-F472-D317-305A7AE30F1A}"/>
              </a:ext>
            </a:extLst>
          </p:cNvPr>
          <p:cNvSpPr>
            <a:spLocks noGrp="1"/>
          </p:cNvSpPr>
          <p:nvPr>
            <p:ph type="sldNum" sz="quarter" idx="12"/>
          </p:nvPr>
        </p:nvSpPr>
        <p:spPr/>
        <p:txBody>
          <a:bodyPr/>
          <a:lstStyle/>
          <a:p>
            <a:fld id="{5ACA52AF-F19D-405C-AD5F-7D94B96A5CC3}" type="slidenum">
              <a:rPr lang="de-CH" noProof="0" smtClean="0"/>
              <a:t>10</a:t>
            </a:fld>
            <a:endParaRPr lang="de-CH" noProof="0"/>
          </a:p>
        </p:txBody>
      </p:sp>
      <p:sp>
        <p:nvSpPr>
          <p:cNvPr id="9" name="Google Shape;187;p21">
            <a:extLst>
              <a:ext uri="{FF2B5EF4-FFF2-40B4-BE49-F238E27FC236}">
                <a16:creationId xmlns:a16="http://schemas.microsoft.com/office/drawing/2014/main" id="{DDC319E9-AE3D-A669-6564-28D964898259}"/>
              </a:ext>
            </a:extLst>
          </p:cNvPr>
          <p:cNvSpPr txBox="1"/>
          <p:nvPr/>
        </p:nvSpPr>
        <p:spPr>
          <a:xfrm>
            <a:off x="627923" y="576000"/>
            <a:ext cx="7667400" cy="513000"/>
          </a:xfrm>
          <a:prstGeom prst="rect">
            <a:avLst/>
          </a:prstGeom>
          <a:noFill/>
          <a:ln>
            <a:noFill/>
          </a:ln>
        </p:spPr>
        <p:txBody>
          <a:bodyPr spcFirstLastPara="1" wrap="square" lIns="118900" tIns="118900" rIns="118900" bIns="118900" anchor="b" anchorCtr="0">
            <a:noAutofit/>
          </a:bodyPr>
          <a:lstStyle/>
          <a:p>
            <a:pPr marL="0" lvl="0" indent="0" algn="l" rtl="0">
              <a:spcBef>
                <a:spcPts val="0"/>
              </a:spcBef>
              <a:spcAft>
                <a:spcPts val="0"/>
              </a:spcAft>
              <a:buNone/>
            </a:pPr>
            <a:r>
              <a:rPr lang="de-CH" sz="3200" b="1">
                <a:solidFill>
                  <a:schemeClr val="dk1"/>
                </a:solidFill>
              </a:rPr>
              <a:t>Method</a:t>
            </a:r>
            <a:endParaRPr sz="3200" b="1">
              <a:solidFill>
                <a:schemeClr val="dk1"/>
              </a:solidFill>
            </a:endParaRPr>
          </a:p>
        </p:txBody>
      </p:sp>
    </p:spTree>
    <p:extLst>
      <p:ext uri="{BB962C8B-B14F-4D97-AF65-F5344CB8AC3E}">
        <p14:creationId xmlns:p14="http://schemas.microsoft.com/office/powerpoint/2010/main" val="303521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D6AD2-48AD-B9AB-A124-02FCF86D6DBA}"/>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2BFBAEC-ADE9-5156-E357-98CEB69F8832}"/>
              </a:ext>
            </a:extLst>
          </p:cNvPr>
          <p:cNvSpPr>
            <a:spLocks noGrp="1"/>
          </p:cNvSpPr>
          <p:nvPr>
            <p:ph type="sldNum" sz="quarter" idx="12"/>
          </p:nvPr>
        </p:nvSpPr>
        <p:spPr/>
        <p:txBody>
          <a:bodyPr/>
          <a:lstStyle/>
          <a:p>
            <a:fld id="{5ACA52AF-F19D-405C-AD5F-7D94B96A5CC3}" type="slidenum">
              <a:rPr lang="de-CH" noProof="0" smtClean="0"/>
              <a:t>11</a:t>
            </a:fld>
            <a:endParaRPr lang="de-CH" noProof="0"/>
          </a:p>
        </p:txBody>
      </p:sp>
      <p:sp>
        <p:nvSpPr>
          <p:cNvPr id="21" name="Footer Placeholder 4">
            <a:extLst>
              <a:ext uri="{FF2B5EF4-FFF2-40B4-BE49-F238E27FC236}">
                <a16:creationId xmlns:a16="http://schemas.microsoft.com/office/drawing/2014/main" id="{4A887094-47EF-396A-81E6-68334A7C8482}"/>
              </a:ext>
            </a:extLst>
          </p:cNvPr>
          <p:cNvSpPr txBox="1">
            <a:spLocks/>
          </p:cNvSpPr>
          <p:nvPr/>
        </p:nvSpPr>
        <p:spPr>
          <a:xfrm>
            <a:off x="5723751" y="6522444"/>
            <a:ext cx="744495" cy="216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a:t>Motivation</a:t>
            </a:r>
            <a:endParaRPr lang="de-CH"/>
          </a:p>
        </p:txBody>
      </p:sp>
      <p:sp>
        <p:nvSpPr>
          <p:cNvPr id="11" name="Oval 10">
            <a:extLst>
              <a:ext uri="{FF2B5EF4-FFF2-40B4-BE49-F238E27FC236}">
                <a16:creationId xmlns:a16="http://schemas.microsoft.com/office/drawing/2014/main" id="{1AD4EF9A-343E-C619-2E56-86AD9914B145}"/>
              </a:ext>
            </a:extLst>
          </p:cNvPr>
          <p:cNvSpPr/>
          <p:nvPr/>
        </p:nvSpPr>
        <p:spPr>
          <a:xfrm>
            <a:off x="491203" y="2152173"/>
            <a:ext cx="1920672" cy="192067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Freeform 19">
            <a:extLst>
              <a:ext uri="{FF2B5EF4-FFF2-40B4-BE49-F238E27FC236}">
                <a16:creationId xmlns:a16="http://schemas.microsoft.com/office/drawing/2014/main" id="{BBD5AB3C-1248-3F9A-33B2-6BEA78BD9289}"/>
              </a:ext>
            </a:extLst>
          </p:cNvPr>
          <p:cNvSpPr/>
          <p:nvPr/>
        </p:nvSpPr>
        <p:spPr>
          <a:xfrm>
            <a:off x="858253" y="2430307"/>
            <a:ext cx="1283368" cy="717956"/>
          </a:xfrm>
          <a:custGeom>
            <a:avLst/>
            <a:gdLst>
              <a:gd name="connsiteX0" fmla="*/ 0 w 1283368"/>
              <a:gd name="connsiteY0" fmla="*/ 717956 h 717956"/>
              <a:gd name="connsiteX1" fmla="*/ 264694 w 1283368"/>
              <a:gd name="connsiteY1" fmla="*/ 36167 h 717956"/>
              <a:gd name="connsiteX2" fmla="*/ 481263 w 1283368"/>
              <a:gd name="connsiteY2" fmla="*/ 292840 h 717956"/>
              <a:gd name="connsiteX3" fmla="*/ 673768 w 1283368"/>
              <a:gd name="connsiteY3" fmla="*/ 72 h 717956"/>
              <a:gd name="connsiteX4" fmla="*/ 778042 w 1283368"/>
              <a:gd name="connsiteY4" fmla="*/ 324925 h 717956"/>
              <a:gd name="connsiteX5" fmla="*/ 966536 w 1283368"/>
              <a:gd name="connsiteY5" fmla="*/ 124398 h 717956"/>
              <a:gd name="connsiteX6" fmla="*/ 1102894 w 1283368"/>
              <a:gd name="connsiteY6" fmla="*/ 661809 h 717956"/>
              <a:gd name="connsiteX7" fmla="*/ 1283368 w 1283368"/>
              <a:gd name="connsiteY7" fmla="*/ 573577 h 717956"/>
              <a:gd name="connsiteX8" fmla="*/ 1283368 w 1283368"/>
              <a:gd name="connsiteY8" fmla="*/ 573577 h 71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68" h="717956">
                <a:moveTo>
                  <a:pt x="0" y="717956"/>
                </a:moveTo>
                <a:cubicBezTo>
                  <a:pt x="92242" y="412488"/>
                  <a:pt x="184484" y="107020"/>
                  <a:pt x="264694" y="36167"/>
                </a:cubicBezTo>
                <a:cubicBezTo>
                  <a:pt x="344904" y="-34686"/>
                  <a:pt x="413084" y="298856"/>
                  <a:pt x="481263" y="292840"/>
                </a:cubicBezTo>
                <a:cubicBezTo>
                  <a:pt x="549442" y="286824"/>
                  <a:pt x="624305" y="-5276"/>
                  <a:pt x="673768" y="72"/>
                </a:cubicBezTo>
                <a:cubicBezTo>
                  <a:pt x="723231" y="5419"/>
                  <a:pt x="729247" y="304204"/>
                  <a:pt x="778042" y="324925"/>
                </a:cubicBezTo>
                <a:cubicBezTo>
                  <a:pt x="826837" y="345646"/>
                  <a:pt x="912394" y="68251"/>
                  <a:pt x="966536" y="124398"/>
                </a:cubicBezTo>
                <a:cubicBezTo>
                  <a:pt x="1020678" y="180545"/>
                  <a:pt x="1050089" y="586946"/>
                  <a:pt x="1102894" y="661809"/>
                </a:cubicBezTo>
                <a:cubicBezTo>
                  <a:pt x="1155699" y="736672"/>
                  <a:pt x="1283368" y="573577"/>
                  <a:pt x="1283368" y="573577"/>
                </a:cubicBezTo>
                <a:lnTo>
                  <a:pt x="1283368" y="573577"/>
                </a:lnTo>
              </a:path>
            </a:pathLst>
          </a:custGeom>
          <a:noFill/>
          <a:ln w="38100">
            <a:solidFill>
              <a:srgbClr val="E5CE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Freeform 21">
            <a:extLst>
              <a:ext uri="{FF2B5EF4-FFF2-40B4-BE49-F238E27FC236}">
                <a16:creationId xmlns:a16="http://schemas.microsoft.com/office/drawing/2014/main" id="{8203194C-F238-CBC5-FBD5-64D11C316081}"/>
              </a:ext>
            </a:extLst>
          </p:cNvPr>
          <p:cNvSpPr/>
          <p:nvPr/>
        </p:nvSpPr>
        <p:spPr>
          <a:xfrm>
            <a:off x="742858" y="2835759"/>
            <a:ext cx="1483895" cy="357504"/>
          </a:xfrm>
          <a:custGeom>
            <a:avLst/>
            <a:gdLst>
              <a:gd name="connsiteX0" fmla="*/ 0 w 1483895"/>
              <a:gd name="connsiteY0" fmla="*/ 238112 h 357504"/>
              <a:gd name="connsiteX1" fmla="*/ 533400 w 1483895"/>
              <a:gd name="connsiteY1" fmla="*/ 1490 h 357504"/>
              <a:gd name="connsiteX2" fmla="*/ 1122948 w 1483895"/>
              <a:gd name="connsiteY2" fmla="*/ 338375 h 357504"/>
              <a:gd name="connsiteX3" fmla="*/ 1483895 w 1483895"/>
              <a:gd name="connsiteY3" fmla="*/ 286238 h 357504"/>
            </a:gdLst>
            <a:ahLst/>
            <a:cxnLst>
              <a:cxn ang="0">
                <a:pos x="connsiteX0" y="connsiteY0"/>
              </a:cxn>
              <a:cxn ang="0">
                <a:pos x="connsiteX1" y="connsiteY1"/>
              </a:cxn>
              <a:cxn ang="0">
                <a:pos x="connsiteX2" y="connsiteY2"/>
              </a:cxn>
              <a:cxn ang="0">
                <a:pos x="connsiteX3" y="connsiteY3"/>
              </a:cxn>
            </a:cxnLst>
            <a:rect l="l" t="t" r="r" b="b"/>
            <a:pathLst>
              <a:path w="1483895" h="357504">
                <a:moveTo>
                  <a:pt x="0" y="238112"/>
                </a:moveTo>
                <a:cubicBezTo>
                  <a:pt x="173121" y="111445"/>
                  <a:pt x="346242" y="-15221"/>
                  <a:pt x="533400" y="1490"/>
                </a:cubicBezTo>
                <a:cubicBezTo>
                  <a:pt x="720558" y="18200"/>
                  <a:pt x="964532" y="290917"/>
                  <a:pt x="1122948" y="338375"/>
                </a:cubicBezTo>
                <a:cubicBezTo>
                  <a:pt x="1281364" y="385833"/>
                  <a:pt x="1382629" y="336035"/>
                  <a:pt x="1483895" y="286238"/>
                </a:cubicBezTo>
              </a:path>
            </a:pathLst>
          </a:custGeom>
          <a:noFill/>
          <a:ln w="38100">
            <a:solidFill>
              <a:srgbClr val="A307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4" name="Freeform 33">
            <a:extLst>
              <a:ext uri="{FF2B5EF4-FFF2-40B4-BE49-F238E27FC236}">
                <a16:creationId xmlns:a16="http://schemas.microsoft.com/office/drawing/2014/main" id="{82152DD2-8110-05A1-94B2-92D2D9653786}"/>
              </a:ext>
            </a:extLst>
          </p:cNvPr>
          <p:cNvSpPr/>
          <p:nvPr/>
        </p:nvSpPr>
        <p:spPr>
          <a:xfrm>
            <a:off x="749968" y="2470484"/>
            <a:ext cx="1263316" cy="340895"/>
          </a:xfrm>
          <a:custGeom>
            <a:avLst/>
            <a:gdLst>
              <a:gd name="connsiteX0" fmla="*/ 0 w 1263316"/>
              <a:gd name="connsiteY0" fmla="*/ 340895 h 340895"/>
              <a:gd name="connsiteX1" fmla="*/ 176464 w 1263316"/>
              <a:gd name="connsiteY1" fmla="*/ 200527 h 340895"/>
              <a:gd name="connsiteX2" fmla="*/ 557464 w 1263316"/>
              <a:gd name="connsiteY2" fmla="*/ 332874 h 340895"/>
              <a:gd name="connsiteX3" fmla="*/ 978569 w 1263316"/>
              <a:gd name="connsiteY3" fmla="*/ 64169 h 340895"/>
              <a:gd name="connsiteX4" fmla="*/ 1263316 w 1263316"/>
              <a:gd name="connsiteY4" fmla="*/ 0 h 340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316" h="340895">
                <a:moveTo>
                  <a:pt x="0" y="340895"/>
                </a:moveTo>
                <a:cubicBezTo>
                  <a:pt x="41776" y="271379"/>
                  <a:pt x="83553" y="201864"/>
                  <a:pt x="176464" y="200527"/>
                </a:cubicBezTo>
                <a:cubicBezTo>
                  <a:pt x="269375" y="199190"/>
                  <a:pt x="423780" y="355600"/>
                  <a:pt x="557464" y="332874"/>
                </a:cubicBezTo>
                <a:cubicBezTo>
                  <a:pt x="691148" y="310148"/>
                  <a:pt x="860927" y="119648"/>
                  <a:pt x="978569" y="64169"/>
                </a:cubicBezTo>
                <a:cubicBezTo>
                  <a:pt x="1096211" y="8690"/>
                  <a:pt x="1179763" y="4345"/>
                  <a:pt x="1263316" y="0"/>
                </a:cubicBezTo>
              </a:path>
            </a:pathLst>
          </a:cu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7" name="!!Freeform 36">
            <a:extLst>
              <a:ext uri="{FF2B5EF4-FFF2-40B4-BE49-F238E27FC236}">
                <a16:creationId xmlns:a16="http://schemas.microsoft.com/office/drawing/2014/main" id="{05E73621-6A24-FCEB-FF5B-4C4C8D68D427}"/>
              </a:ext>
            </a:extLst>
          </p:cNvPr>
          <p:cNvSpPr/>
          <p:nvPr/>
        </p:nvSpPr>
        <p:spPr>
          <a:xfrm>
            <a:off x="822158" y="2749743"/>
            <a:ext cx="1411705" cy="803583"/>
          </a:xfrm>
          <a:custGeom>
            <a:avLst/>
            <a:gdLst>
              <a:gd name="connsiteX0" fmla="*/ 0 w 1411705"/>
              <a:gd name="connsiteY0" fmla="*/ 803583 h 803583"/>
              <a:gd name="connsiteX1" fmla="*/ 268705 w 1411705"/>
              <a:gd name="connsiteY1" fmla="*/ 394510 h 803583"/>
              <a:gd name="connsiteX2" fmla="*/ 573505 w 1411705"/>
              <a:gd name="connsiteY2" fmla="*/ 643162 h 803583"/>
              <a:gd name="connsiteX3" fmla="*/ 966537 w 1411705"/>
              <a:gd name="connsiteY3" fmla="*/ 13510 h 803583"/>
              <a:gd name="connsiteX4" fmla="*/ 1231231 w 1411705"/>
              <a:gd name="connsiteY4" fmla="*/ 202004 h 803583"/>
              <a:gd name="connsiteX5" fmla="*/ 1411705 w 1411705"/>
              <a:gd name="connsiteY5" fmla="*/ 85699 h 803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1705" h="803583">
                <a:moveTo>
                  <a:pt x="0" y="803583"/>
                </a:moveTo>
                <a:cubicBezTo>
                  <a:pt x="86560" y="612415"/>
                  <a:pt x="173121" y="421247"/>
                  <a:pt x="268705" y="394510"/>
                </a:cubicBezTo>
                <a:cubicBezTo>
                  <a:pt x="364289" y="367773"/>
                  <a:pt x="457200" y="706662"/>
                  <a:pt x="573505" y="643162"/>
                </a:cubicBezTo>
                <a:cubicBezTo>
                  <a:pt x="689810" y="579662"/>
                  <a:pt x="856916" y="87036"/>
                  <a:pt x="966537" y="13510"/>
                </a:cubicBezTo>
                <a:cubicBezTo>
                  <a:pt x="1076158" y="-60016"/>
                  <a:pt x="1157036" y="189973"/>
                  <a:pt x="1231231" y="202004"/>
                </a:cubicBezTo>
                <a:cubicBezTo>
                  <a:pt x="1305426" y="214035"/>
                  <a:pt x="1358565" y="149867"/>
                  <a:pt x="1411705" y="85699"/>
                </a:cubicBezTo>
              </a:path>
            </a:pathLst>
          </a:custGeom>
          <a:noFill/>
          <a:ln w="3810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8" name="Freeform 37">
            <a:extLst>
              <a:ext uri="{FF2B5EF4-FFF2-40B4-BE49-F238E27FC236}">
                <a16:creationId xmlns:a16="http://schemas.microsoft.com/office/drawing/2014/main" id="{E5E4C27A-A9BA-46FF-0633-02B6A0040F33}"/>
              </a:ext>
            </a:extLst>
          </p:cNvPr>
          <p:cNvSpPr/>
          <p:nvPr/>
        </p:nvSpPr>
        <p:spPr>
          <a:xfrm>
            <a:off x="757418" y="3357051"/>
            <a:ext cx="1427747" cy="253063"/>
          </a:xfrm>
          <a:custGeom>
            <a:avLst/>
            <a:gdLst>
              <a:gd name="connsiteX0" fmla="*/ 0 w 1427747"/>
              <a:gd name="connsiteY0" fmla="*/ 0 h 253063"/>
              <a:gd name="connsiteX1" fmla="*/ 364958 w 1427747"/>
              <a:gd name="connsiteY1" fmla="*/ 252663 h 253063"/>
              <a:gd name="connsiteX2" fmla="*/ 994611 w 1427747"/>
              <a:gd name="connsiteY2" fmla="*/ 60158 h 253063"/>
              <a:gd name="connsiteX3" fmla="*/ 1259305 w 1427747"/>
              <a:gd name="connsiteY3" fmla="*/ 124326 h 253063"/>
              <a:gd name="connsiteX4" fmla="*/ 1427747 w 1427747"/>
              <a:gd name="connsiteY4" fmla="*/ 60158 h 253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7747" h="253063">
                <a:moveTo>
                  <a:pt x="0" y="0"/>
                </a:moveTo>
                <a:cubicBezTo>
                  <a:pt x="99595" y="121318"/>
                  <a:pt x="199190" y="242637"/>
                  <a:pt x="364958" y="252663"/>
                </a:cubicBezTo>
                <a:cubicBezTo>
                  <a:pt x="530726" y="262689"/>
                  <a:pt x="845553" y="81548"/>
                  <a:pt x="994611" y="60158"/>
                </a:cubicBezTo>
                <a:cubicBezTo>
                  <a:pt x="1143669" y="38769"/>
                  <a:pt x="1187116" y="124326"/>
                  <a:pt x="1259305" y="124326"/>
                </a:cubicBezTo>
                <a:cubicBezTo>
                  <a:pt x="1331494" y="124326"/>
                  <a:pt x="1379620" y="92242"/>
                  <a:pt x="1427747" y="60158"/>
                </a:cubicBezTo>
              </a:path>
            </a:pathLst>
          </a:custGeom>
          <a:noFill/>
          <a:ln w="38100">
            <a:solidFill>
              <a:srgbClr val="7AAB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9" name="!!Freeform 38">
            <a:extLst>
              <a:ext uri="{FF2B5EF4-FFF2-40B4-BE49-F238E27FC236}">
                <a16:creationId xmlns:a16="http://schemas.microsoft.com/office/drawing/2014/main" id="{8C0F95B7-22FF-5C95-24B5-B70B8F95F9C5}"/>
              </a:ext>
            </a:extLst>
          </p:cNvPr>
          <p:cNvSpPr/>
          <p:nvPr/>
        </p:nvSpPr>
        <p:spPr>
          <a:xfrm>
            <a:off x="914400" y="3275509"/>
            <a:ext cx="1203158" cy="559029"/>
          </a:xfrm>
          <a:custGeom>
            <a:avLst/>
            <a:gdLst>
              <a:gd name="connsiteX0" fmla="*/ 0 w 1203158"/>
              <a:gd name="connsiteY0" fmla="*/ 354017 h 559029"/>
              <a:gd name="connsiteX1" fmla="*/ 160421 w 1203158"/>
              <a:gd name="connsiteY1" fmla="*/ 558554 h 559029"/>
              <a:gd name="connsiteX2" fmla="*/ 336884 w 1203158"/>
              <a:gd name="connsiteY2" fmla="*/ 414175 h 559029"/>
              <a:gd name="connsiteX3" fmla="*/ 509337 w 1203158"/>
              <a:gd name="connsiteY3" fmla="*/ 542512 h 559029"/>
              <a:gd name="connsiteX4" fmla="*/ 818147 w 1203158"/>
              <a:gd name="connsiteY4" fmla="*/ 1091 h 559029"/>
              <a:gd name="connsiteX5" fmla="*/ 1030705 w 1203158"/>
              <a:gd name="connsiteY5" fmla="*/ 402144 h 559029"/>
              <a:gd name="connsiteX6" fmla="*/ 1203158 w 1203158"/>
              <a:gd name="connsiteY6" fmla="*/ 390112 h 559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3158" h="559029">
                <a:moveTo>
                  <a:pt x="0" y="354017"/>
                </a:moveTo>
                <a:cubicBezTo>
                  <a:pt x="52137" y="451272"/>
                  <a:pt x="104274" y="548528"/>
                  <a:pt x="160421" y="558554"/>
                </a:cubicBezTo>
                <a:cubicBezTo>
                  <a:pt x="216568" y="568580"/>
                  <a:pt x="278732" y="416849"/>
                  <a:pt x="336884" y="414175"/>
                </a:cubicBezTo>
                <a:cubicBezTo>
                  <a:pt x="395036" y="411501"/>
                  <a:pt x="429127" y="611359"/>
                  <a:pt x="509337" y="542512"/>
                </a:cubicBezTo>
                <a:cubicBezTo>
                  <a:pt x="589548" y="473665"/>
                  <a:pt x="731252" y="24486"/>
                  <a:pt x="818147" y="1091"/>
                </a:cubicBezTo>
                <a:cubicBezTo>
                  <a:pt x="905042" y="-22304"/>
                  <a:pt x="966537" y="337307"/>
                  <a:pt x="1030705" y="402144"/>
                </a:cubicBezTo>
                <a:cubicBezTo>
                  <a:pt x="1094873" y="466981"/>
                  <a:pt x="1149015" y="428546"/>
                  <a:pt x="1203158" y="390112"/>
                </a:cubicBezTo>
              </a:path>
            </a:pathLst>
          </a:custGeom>
          <a:noFill/>
          <a:ln w="38100">
            <a:solidFill>
              <a:srgbClr val="A693B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7" name="Freeform 46">
            <a:extLst>
              <a:ext uri="{FF2B5EF4-FFF2-40B4-BE49-F238E27FC236}">
                <a16:creationId xmlns:a16="http://schemas.microsoft.com/office/drawing/2014/main" id="{72427CCD-6710-C647-5183-FB0AAEBD4178}"/>
              </a:ext>
            </a:extLst>
          </p:cNvPr>
          <p:cNvSpPr/>
          <p:nvPr/>
        </p:nvSpPr>
        <p:spPr>
          <a:xfrm>
            <a:off x="854544" y="2430307"/>
            <a:ext cx="1283368" cy="717956"/>
          </a:xfrm>
          <a:custGeom>
            <a:avLst/>
            <a:gdLst>
              <a:gd name="connsiteX0" fmla="*/ 0 w 1283368"/>
              <a:gd name="connsiteY0" fmla="*/ 717956 h 717956"/>
              <a:gd name="connsiteX1" fmla="*/ 264694 w 1283368"/>
              <a:gd name="connsiteY1" fmla="*/ 36167 h 717956"/>
              <a:gd name="connsiteX2" fmla="*/ 481263 w 1283368"/>
              <a:gd name="connsiteY2" fmla="*/ 292840 h 717956"/>
              <a:gd name="connsiteX3" fmla="*/ 673768 w 1283368"/>
              <a:gd name="connsiteY3" fmla="*/ 72 h 717956"/>
              <a:gd name="connsiteX4" fmla="*/ 778042 w 1283368"/>
              <a:gd name="connsiteY4" fmla="*/ 324925 h 717956"/>
              <a:gd name="connsiteX5" fmla="*/ 966536 w 1283368"/>
              <a:gd name="connsiteY5" fmla="*/ 124398 h 717956"/>
              <a:gd name="connsiteX6" fmla="*/ 1102894 w 1283368"/>
              <a:gd name="connsiteY6" fmla="*/ 661809 h 717956"/>
              <a:gd name="connsiteX7" fmla="*/ 1283368 w 1283368"/>
              <a:gd name="connsiteY7" fmla="*/ 573577 h 717956"/>
              <a:gd name="connsiteX8" fmla="*/ 1283368 w 1283368"/>
              <a:gd name="connsiteY8" fmla="*/ 573577 h 71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68" h="717956">
                <a:moveTo>
                  <a:pt x="0" y="717956"/>
                </a:moveTo>
                <a:cubicBezTo>
                  <a:pt x="92242" y="412488"/>
                  <a:pt x="184484" y="107020"/>
                  <a:pt x="264694" y="36167"/>
                </a:cubicBezTo>
                <a:cubicBezTo>
                  <a:pt x="344904" y="-34686"/>
                  <a:pt x="413084" y="298856"/>
                  <a:pt x="481263" y="292840"/>
                </a:cubicBezTo>
                <a:cubicBezTo>
                  <a:pt x="549442" y="286824"/>
                  <a:pt x="624305" y="-5276"/>
                  <a:pt x="673768" y="72"/>
                </a:cubicBezTo>
                <a:cubicBezTo>
                  <a:pt x="723231" y="5419"/>
                  <a:pt x="729247" y="304204"/>
                  <a:pt x="778042" y="324925"/>
                </a:cubicBezTo>
                <a:cubicBezTo>
                  <a:pt x="826837" y="345646"/>
                  <a:pt x="912394" y="68251"/>
                  <a:pt x="966536" y="124398"/>
                </a:cubicBezTo>
                <a:cubicBezTo>
                  <a:pt x="1020678" y="180545"/>
                  <a:pt x="1050089" y="586946"/>
                  <a:pt x="1102894" y="661809"/>
                </a:cubicBezTo>
                <a:cubicBezTo>
                  <a:pt x="1155699" y="736672"/>
                  <a:pt x="1283368" y="573577"/>
                  <a:pt x="1283368" y="573577"/>
                </a:cubicBezTo>
                <a:lnTo>
                  <a:pt x="1283368" y="573577"/>
                </a:lnTo>
              </a:path>
            </a:pathLst>
          </a:custGeom>
          <a:noFill/>
          <a:ln w="38100">
            <a:solidFill>
              <a:srgbClr val="E5CE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8" name="Freeform 47">
            <a:extLst>
              <a:ext uri="{FF2B5EF4-FFF2-40B4-BE49-F238E27FC236}">
                <a16:creationId xmlns:a16="http://schemas.microsoft.com/office/drawing/2014/main" id="{722C3F5D-C60B-5140-42B2-2AF1199F49AA}"/>
              </a:ext>
            </a:extLst>
          </p:cNvPr>
          <p:cNvSpPr/>
          <p:nvPr/>
        </p:nvSpPr>
        <p:spPr>
          <a:xfrm>
            <a:off x="818449" y="2749743"/>
            <a:ext cx="1411705" cy="803583"/>
          </a:xfrm>
          <a:custGeom>
            <a:avLst/>
            <a:gdLst>
              <a:gd name="connsiteX0" fmla="*/ 0 w 1411705"/>
              <a:gd name="connsiteY0" fmla="*/ 803583 h 803583"/>
              <a:gd name="connsiteX1" fmla="*/ 268705 w 1411705"/>
              <a:gd name="connsiteY1" fmla="*/ 394510 h 803583"/>
              <a:gd name="connsiteX2" fmla="*/ 573505 w 1411705"/>
              <a:gd name="connsiteY2" fmla="*/ 643162 h 803583"/>
              <a:gd name="connsiteX3" fmla="*/ 966537 w 1411705"/>
              <a:gd name="connsiteY3" fmla="*/ 13510 h 803583"/>
              <a:gd name="connsiteX4" fmla="*/ 1231231 w 1411705"/>
              <a:gd name="connsiteY4" fmla="*/ 202004 h 803583"/>
              <a:gd name="connsiteX5" fmla="*/ 1411705 w 1411705"/>
              <a:gd name="connsiteY5" fmla="*/ 85699 h 803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1705" h="803583">
                <a:moveTo>
                  <a:pt x="0" y="803583"/>
                </a:moveTo>
                <a:cubicBezTo>
                  <a:pt x="86560" y="612415"/>
                  <a:pt x="173121" y="421247"/>
                  <a:pt x="268705" y="394510"/>
                </a:cubicBezTo>
                <a:cubicBezTo>
                  <a:pt x="364289" y="367773"/>
                  <a:pt x="457200" y="706662"/>
                  <a:pt x="573505" y="643162"/>
                </a:cubicBezTo>
                <a:cubicBezTo>
                  <a:pt x="689810" y="579662"/>
                  <a:pt x="856916" y="87036"/>
                  <a:pt x="966537" y="13510"/>
                </a:cubicBezTo>
                <a:cubicBezTo>
                  <a:pt x="1076158" y="-60016"/>
                  <a:pt x="1157036" y="189973"/>
                  <a:pt x="1231231" y="202004"/>
                </a:cubicBezTo>
                <a:cubicBezTo>
                  <a:pt x="1305426" y="214035"/>
                  <a:pt x="1358565" y="149867"/>
                  <a:pt x="1411705" y="85699"/>
                </a:cubicBezTo>
              </a:path>
            </a:pathLst>
          </a:custGeom>
          <a:noFill/>
          <a:ln w="3810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9" name="Freeform 48">
            <a:extLst>
              <a:ext uri="{FF2B5EF4-FFF2-40B4-BE49-F238E27FC236}">
                <a16:creationId xmlns:a16="http://schemas.microsoft.com/office/drawing/2014/main" id="{5297ED69-DA73-3D65-AFFF-EC82CA1372CC}"/>
              </a:ext>
            </a:extLst>
          </p:cNvPr>
          <p:cNvSpPr/>
          <p:nvPr/>
        </p:nvSpPr>
        <p:spPr>
          <a:xfrm>
            <a:off x="910691" y="3275509"/>
            <a:ext cx="1203158" cy="559029"/>
          </a:xfrm>
          <a:custGeom>
            <a:avLst/>
            <a:gdLst>
              <a:gd name="connsiteX0" fmla="*/ 0 w 1203158"/>
              <a:gd name="connsiteY0" fmla="*/ 354017 h 559029"/>
              <a:gd name="connsiteX1" fmla="*/ 160421 w 1203158"/>
              <a:gd name="connsiteY1" fmla="*/ 558554 h 559029"/>
              <a:gd name="connsiteX2" fmla="*/ 336884 w 1203158"/>
              <a:gd name="connsiteY2" fmla="*/ 414175 h 559029"/>
              <a:gd name="connsiteX3" fmla="*/ 509337 w 1203158"/>
              <a:gd name="connsiteY3" fmla="*/ 542512 h 559029"/>
              <a:gd name="connsiteX4" fmla="*/ 818147 w 1203158"/>
              <a:gd name="connsiteY4" fmla="*/ 1091 h 559029"/>
              <a:gd name="connsiteX5" fmla="*/ 1030705 w 1203158"/>
              <a:gd name="connsiteY5" fmla="*/ 402144 h 559029"/>
              <a:gd name="connsiteX6" fmla="*/ 1203158 w 1203158"/>
              <a:gd name="connsiteY6" fmla="*/ 390112 h 559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3158" h="559029">
                <a:moveTo>
                  <a:pt x="0" y="354017"/>
                </a:moveTo>
                <a:cubicBezTo>
                  <a:pt x="52137" y="451272"/>
                  <a:pt x="104274" y="548528"/>
                  <a:pt x="160421" y="558554"/>
                </a:cubicBezTo>
                <a:cubicBezTo>
                  <a:pt x="216568" y="568580"/>
                  <a:pt x="278732" y="416849"/>
                  <a:pt x="336884" y="414175"/>
                </a:cubicBezTo>
                <a:cubicBezTo>
                  <a:pt x="395036" y="411501"/>
                  <a:pt x="429127" y="611359"/>
                  <a:pt x="509337" y="542512"/>
                </a:cubicBezTo>
                <a:cubicBezTo>
                  <a:pt x="589548" y="473665"/>
                  <a:pt x="731252" y="24486"/>
                  <a:pt x="818147" y="1091"/>
                </a:cubicBezTo>
                <a:cubicBezTo>
                  <a:pt x="905042" y="-22304"/>
                  <a:pt x="966537" y="337307"/>
                  <a:pt x="1030705" y="402144"/>
                </a:cubicBezTo>
                <a:cubicBezTo>
                  <a:pt x="1094873" y="466981"/>
                  <a:pt x="1149015" y="428546"/>
                  <a:pt x="1203158" y="390112"/>
                </a:cubicBezTo>
              </a:path>
            </a:pathLst>
          </a:custGeom>
          <a:noFill/>
          <a:ln w="38100">
            <a:solidFill>
              <a:srgbClr val="A693B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0" name="Rectangle 49">
            <a:extLst>
              <a:ext uri="{FF2B5EF4-FFF2-40B4-BE49-F238E27FC236}">
                <a16:creationId xmlns:a16="http://schemas.microsoft.com/office/drawing/2014/main" id="{5BBD0E2E-CB31-FB35-E774-F5A540B641CB}"/>
              </a:ext>
            </a:extLst>
          </p:cNvPr>
          <p:cNvSpPr/>
          <p:nvPr/>
        </p:nvSpPr>
        <p:spPr>
          <a:xfrm>
            <a:off x="491203" y="6364845"/>
            <a:ext cx="1522081" cy="373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 name="TextBox 2">
            <a:extLst>
              <a:ext uri="{FF2B5EF4-FFF2-40B4-BE49-F238E27FC236}">
                <a16:creationId xmlns:a16="http://schemas.microsoft.com/office/drawing/2014/main" id="{518D7538-4C5D-E502-E3FE-7020539D35FE}"/>
              </a:ext>
            </a:extLst>
          </p:cNvPr>
          <p:cNvSpPr txBox="1"/>
          <p:nvPr/>
        </p:nvSpPr>
        <p:spPr>
          <a:xfrm>
            <a:off x="192411" y="4887517"/>
            <a:ext cx="3503042" cy="1477328"/>
          </a:xfrm>
          <a:prstGeom prst="rect">
            <a:avLst/>
          </a:prstGeom>
          <a:noFill/>
        </p:spPr>
        <p:txBody>
          <a:bodyPr wrap="square" rtlCol="0">
            <a:spAutoFit/>
          </a:bodyPr>
          <a:lstStyle/>
          <a:p>
            <a:pPr algn="ctr"/>
            <a:r>
              <a:rPr lang="en-CH" b="1"/>
              <a:t>Prior</a:t>
            </a:r>
            <a:br>
              <a:rPr lang="en-CH" b="1"/>
            </a:br>
            <a:br>
              <a:rPr lang="en-CH"/>
            </a:br>
            <a:r>
              <a:rPr lang="en-CH"/>
              <a:t>Generate K </a:t>
            </a:r>
            <a:r>
              <a:rPr lang="en-CH" b="1"/>
              <a:t>synthetic datasets</a:t>
            </a:r>
            <a:r>
              <a:rPr lang="en-CH"/>
              <a:t> by sampling from a prior p(t) over </a:t>
            </a:r>
            <a:r>
              <a:rPr lang="en-CH" b="1"/>
              <a:t>supervised</a:t>
            </a:r>
            <a:r>
              <a:rPr lang="en-CH"/>
              <a:t> </a:t>
            </a:r>
            <a:r>
              <a:rPr lang="en-CH" b="1"/>
              <a:t>learning</a:t>
            </a:r>
            <a:r>
              <a:rPr lang="en-CH"/>
              <a:t> </a:t>
            </a:r>
            <a:r>
              <a:rPr lang="en-CH" b="1"/>
              <a:t>tasks</a:t>
            </a:r>
            <a:endParaRPr lang="en-CH"/>
          </a:p>
        </p:txBody>
      </p:sp>
    </p:spTree>
    <p:extLst>
      <p:ext uri="{BB962C8B-B14F-4D97-AF65-F5344CB8AC3E}">
        <p14:creationId xmlns:p14="http://schemas.microsoft.com/office/powerpoint/2010/main" val="387680986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BD180-0661-EC36-7453-31D7F4DAE54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981EDB8-4C47-13A4-FCF7-C64E2F10AB7B}"/>
              </a:ext>
            </a:extLst>
          </p:cNvPr>
          <p:cNvSpPr>
            <a:spLocks noGrp="1"/>
          </p:cNvSpPr>
          <p:nvPr>
            <p:ph type="sldNum" sz="quarter" idx="12"/>
          </p:nvPr>
        </p:nvSpPr>
        <p:spPr/>
        <p:txBody>
          <a:bodyPr/>
          <a:lstStyle/>
          <a:p>
            <a:fld id="{5ACA52AF-F19D-405C-AD5F-7D94B96A5CC3}" type="slidenum">
              <a:rPr lang="de-CH" noProof="0" smtClean="0"/>
              <a:t>12</a:t>
            </a:fld>
            <a:endParaRPr lang="de-CH" noProof="0"/>
          </a:p>
        </p:txBody>
      </p:sp>
      <p:sp>
        <p:nvSpPr>
          <p:cNvPr id="21" name="Footer Placeholder 4">
            <a:extLst>
              <a:ext uri="{FF2B5EF4-FFF2-40B4-BE49-F238E27FC236}">
                <a16:creationId xmlns:a16="http://schemas.microsoft.com/office/drawing/2014/main" id="{90953C5A-8C51-D88F-1BDB-2A9A32569294}"/>
              </a:ext>
            </a:extLst>
          </p:cNvPr>
          <p:cNvSpPr txBox="1">
            <a:spLocks/>
          </p:cNvSpPr>
          <p:nvPr/>
        </p:nvSpPr>
        <p:spPr>
          <a:xfrm>
            <a:off x="5723751" y="6522444"/>
            <a:ext cx="744495" cy="216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a:t>Motivation</a:t>
            </a:r>
            <a:endParaRPr lang="de-CH"/>
          </a:p>
        </p:txBody>
      </p:sp>
      <p:sp>
        <p:nvSpPr>
          <p:cNvPr id="11" name="Oval 10">
            <a:extLst>
              <a:ext uri="{FF2B5EF4-FFF2-40B4-BE49-F238E27FC236}">
                <a16:creationId xmlns:a16="http://schemas.microsoft.com/office/drawing/2014/main" id="{77601542-C2F1-CB58-EBED-2C0C7DC2F332}"/>
              </a:ext>
            </a:extLst>
          </p:cNvPr>
          <p:cNvSpPr/>
          <p:nvPr/>
        </p:nvSpPr>
        <p:spPr>
          <a:xfrm>
            <a:off x="491203" y="2152173"/>
            <a:ext cx="1920672" cy="192067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Freeform 21">
            <a:extLst>
              <a:ext uri="{FF2B5EF4-FFF2-40B4-BE49-F238E27FC236}">
                <a16:creationId xmlns:a16="http://schemas.microsoft.com/office/drawing/2014/main" id="{0AB65176-5020-011F-21E6-7C0C9507B9F5}"/>
              </a:ext>
            </a:extLst>
          </p:cNvPr>
          <p:cNvSpPr/>
          <p:nvPr/>
        </p:nvSpPr>
        <p:spPr>
          <a:xfrm>
            <a:off x="742858" y="2835759"/>
            <a:ext cx="1483895" cy="357504"/>
          </a:xfrm>
          <a:custGeom>
            <a:avLst/>
            <a:gdLst>
              <a:gd name="connsiteX0" fmla="*/ 0 w 1483895"/>
              <a:gd name="connsiteY0" fmla="*/ 238112 h 357504"/>
              <a:gd name="connsiteX1" fmla="*/ 533400 w 1483895"/>
              <a:gd name="connsiteY1" fmla="*/ 1490 h 357504"/>
              <a:gd name="connsiteX2" fmla="*/ 1122948 w 1483895"/>
              <a:gd name="connsiteY2" fmla="*/ 338375 h 357504"/>
              <a:gd name="connsiteX3" fmla="*/ 1483895 w 1483895"/>
              <a:gd name="connsiteY3" fmla="*/ 286238 h 357504"/>
            </a:gdLst>
            <a:ahLst/>
            <a:cxnLst>
              <a:cxn ang="0">
                <a:pos x="connsiteX0" y="connsiteY0"/>
              </a:cxn>
              <a:cxn ang="0">
                <a:pos x="connsiteX1" y="connsiteY1"/>
              </a:cxn>
              <a:cxn ang="0">
                <a:pos x="connsiteX2" y="connsiteY2"/>
              </a:cxn>
              <a:cxn ang="0">
                <a:pos x="connsiteX3" y="connsiteY3"/>
              </a:cxn>
            </a:cxnLst>
            <a:rect l="l" t="t" r="r" b="b"/>
            <a:pathLst>
              <a:path w="1483895" h="357504">
                <a:moveTo>
                  <a:pt x="0" y="238112"/>
                </a:moveTo>
                <a:cubicBezTo>
                  <a:pt x="173121" y="111445"/>
                  <a:pt x="346242" y="-15221"/>
                  <a:pt x="533400" y="1490"/>
                </a:cubicBezTo>
                <a:cubicBezTo>
                  <a:pt x="720558" y="18200"/>
                  <a:pt x="964532" y="290917"/>
                  <a:pt x="1122948" y="338375"/>
                </a:cubicBezTo>
                <a:cubicBezTo>
                  <a:pt x="1281364" y="385833"/>
                  <a:pt x="1382629" y="336035"/>
                  <a:pt x="1483895" y="286238"/>
                </a:cubicBezTo>
              </a:path>
            </a:pathLst>
          </a:custGeom>
          <a:noFill/>
          <a:ln w="38100">
            <a:solidFill>
              <a:srgbClr val="A307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4" name="Freeform 33">
            <a:extLst>
              <a:ext uri="{FF2B5EF4-FFF2-40B4-BE49-F238E27FC236}">
                <a16:creationId xmlns:a16="http://schemas.microsoft.com/office/drawing/2014/main" id="{61589E05-C7B0-BDDB-DB8A-B6781769A838}"/>
              </a:ext>
            </a:extLst>
          </p:cNvPr>
          <p:cNvSpPr/>
          <p:nvPr/>
        </p:nvSpPr>
        <p:spPr>
          <a:xfrm>
            <a:off x="749968" y="2470484"/>
            <a:ext cx="1263316" cy="340895"/>
          </a:xfrm>
          <a:custGeom>
            <a:avLst/>
            <a:gdLst>
              <a:gd name="connsiteX0" fmla="*/ 0 w 1263316"/>
              <a:gd name="connsiteY0" fmla="*/ 340895 h 340895"/>
              <a:gd name="connsiteX1" fmla="*/ 176464 w 1263316"/>
              <a:gd name="connsiteY1" fmla="*/ 200527 h 340895"/>
              <a:gd name="connsiteX2" fmla="*/ 557464 w 1263316"/>
              <a:gd name="connsiteY2" fmla="*/ 332874 h 340895"/>
              <a:gd name="connsiteX3" fmla="*/ 978569 w 1263316"/>
              <a:gd name="connsiteY3" fmla="*/ 64169 h 340895"/>
              <a:gd name="connsiteX4" fmla="*/ 1263316 w 1263316"/>
              <a:gd name="connsiteY4" fmla="*/ 0 h 340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316" h="340895">
                <a:moveTo>
                  <a:pt x="0" y="340895"/>
                </a:moveTo>
                <a:cubicBezTo>
                  <a:pt x="41776" y="271379"/>
                  <a:pt x="83553" y="201864"/>
                  <a:pt x="176464" y="200527"/>
                </a:cubicBezTo>
                <a:cubicBezTo>
                  <a:pt x="269375" y="199190"/>
                  <a:pt x="423780" y="355600"/>
                  <a:pt x="557464" y="332874"/>
                </a:cubicBezTo>
                <a:cubicBezTo>
                  <a:pt x="691148" y="310148"/>
                  <a:pt x="860927" y="119648"/>
                  <a:pt x="978569" y="64169"/>
                </a:cubicBezTo>
                <a:cubicBezTo>
                  <a:pt x="1096211" y="8690"/>
                  <a:pt x="1179763" y="4345"/>
                  <a:pt x="1263316" y="0"/>
                </a:cubicBezTo>
              </a:path>
            </a:pathLst>
          </a:cu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7" name="!!Freeform 36">
            <a:extLst>
              <a:ext uri="{FF2B5EF4-FFF2-40B4-BE49-F238E27FC236}">
                <a16:creationId xmlns:a16="http://schemas.microsoft.com/office/drawing/2014/main" id="{999ABD98-A345-34D3-35BB-17F777244FB5}"/>
              </a:ext>
            </a:extLst>
          </p:cNvPr>
          <p:cNvSpPr/>
          <p:nvPr/>
        </p:nvSpPr>
        <p:spPr>
          <a:xfrm>
            <a:off x="2713108" y="3895579"/>
            <a:ext cx="1013864" cy="577120"/>
          </a:xfrm>
          <a:custGeom>
            <a:avLst/>
            <a:gdLst>
              <a:gd name="connsiteX0" fmla="*/ 0 w 1411705"/>
              <a:gd name="connsiteY0" fmla="*/ 803583 h 803583"/>
              <a:gd name="connsiteX1" fmla="*/ 268705 w 1411705"/>
              <a:gd name="connsiteY1" fmla="*/ 394510 h 803583"/>
              <a:gd name="connsiteX2" fmla="*/ 573505 w 1411705"/>
              <a:gd name="connsiteY2" fmla="*/ 643162 h 803583"/>
              <a:gd name="connsiteX3" fmla="*/ 966537 w 1411705"/>
              <a:gd name="connsiteY3" fmla="*/ 13510 h 803583"/>
              <a:gd name="connsiteX4" fmla="*/ 1231231 w 1411705"/>
              <a:gd name="connsiteY4" fmla="*/ 202004 h 803583"/>
              <a:gd name="connsiteX5" fmla="*/ 1411705 w 1411705"/>
              <a:gd name="connsiteY5" fmla="*/ 85699 h 803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1705" h="803583">
                <a:moveTo>
                  <a:pt x="0" y="803583"/>
                </a:moveTo>
                <a:cubicBezTo>
                  <a:pt x="86560" y="612415"/>
                  <a:pt x="173121" y="421247"/>
                  <a:pt x="268705" y="394510"/>
                </a:cubicBezTo>
                <a:cubicBezTo>
                  <a:pt x="364289" y="367773"/>
                  <a:pt x="457200" y="706662"/>
                  <a:pt x="573505" y="643162"/>
                </a:cubicBezTo>
                <a:cubicBezTo>
                  <a:pt x="689810" y="579662"/>
                  <a:pt x="856916" y="87036"/>
                  <a:pt x="966537" y="13510"/>
                </a:cubicBezTo>
                <a:cubicBezTo>
                  <a:pt x="1076158" y="-60016"/>
                  <a:pt x="1157036" y="189973"/>
                  <a:pt x="1231231" y="202004"/>
                </a:cubicBezTo>
                <a:cubicBezTo>
                  <a:pt x="1305426" y="214035"/>
                  <a:pt x="1358565" y="149867"/>
                  <a:pt x="1411705" y="85699"/>
                </a:cubicBezTo>
              </a:path>
            </a:pathLst>
          </a:custGeom>
          <a:noFill/>
          <a:ln w="3810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8" name="Freeform 37">
            <a:extLst>
              <a:ext uri="{FF2B5EF4-FFF2-40B4-BE49-F238E27FC236}">
                <a16:creationId xmlns:a16="http://schemas.microsoft.com/office/drawing/2014/main" id="{FB2FE53A-A8ED-8D7E-21EB-CF5D4350BCF6}"/>
              </a:ext>
            </a:extLst>
          </p:cNvPr>
          <p:cNvSpPr/>
          <p:nvPr/>
        </p:nvSpPr>
        <p:spPr>
          <a:xfrm>
            <a:off x="757418" y="3357051"/>
            <a:ext cx="1427747" cy="253063"/>
          </a:xfrm>
          <a:custGeom>
            <a:avLst/>
            <a:gdLst>
              <a:gd name="connsiteX0" fmla="*/ 0 w 1427747"/>
              <a:gd name="connsiteY0" fmla="*/ 0 h 253063"/>
              <a:gd name="connsiteX1" fmla="*/ 364958 w 1427747"/>
              <a:gd name="connsiteY1" fmla="*/ 252663 h 253063"/>
              <a:gd name="connsiteX2" fmla="*/ 994611 w 1427747"/>
              <a:gd name="connsiteY2" fmla="*/ 60158 h 253063"/>
              <a:gd name="connsiteX3" fmla="*/ 1259305 w 1427747"/>
              <a:gd name="connsiteY3" fmla="*/ 124326 h 253063"/>
              <a:gd name="connsiteX4" fmla="*/ 1427747 w 1427747"/>
              <a:gd name="connsiteY4" fmla="*/ 60158 h 253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7747" h="253063">
                <a:moveTo>
                  <a:pt x="0" y="0"/>
                </a:moveTo>
                <a:cubicBezTo>
                  <a:pt x="99595" y="121318"/>
                  <a:pt x="199190" y="242637"/>
                  <a:pt x="364958" y="252663"/>
                </a:cubicBezTo>
                <a:cubicBezTo>
                  <a:pt x="530726" y="262689"/>
                  <a:pt x="845553" y="81548"/>
                  <a:pt x="994611" y="60158"/>
                </a:cubicBezTo>
                <a:cubicBezTo>
                  <a:pt x="1143669" y="38769"/>
                  <a:pt x="1187116" y="124326"/>
                  <a:pt x="1259305" y="124326"/>
                </a:cubicBezTo>
                <a:cubicBezTo>
                  <a:pt x="1331494" y="124326"/>
                  <a:pt x="1379620" y="92242"/>
                  <a:pt x="1427747" y="60158"/>
                </a:cubicBezTo>
              </a:path>
            </a:pathLst>
          </a:custGeom>
          <a:noFill/>
          <a:ln w="38100">
            <a:solidFill>
              <a:srgbClr val="7AAB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9" name="!!Freeform 38">
            <a:extLst>
              <a:ext uri="{FF2B5EF4-FFF2-40B4-BE49-F238E27FC236}">
                <a16:creationId xmlns:a16="http://schemas.microsoft.com/office/drawing/2014/main" id="{95FAE7DF-EFFC-8B12-A43A-EF36BF195F58}"/>
              </a:ext>
            </a:extLst>
          </p:cNvPr>
          <p:cNvSpPr/>
          <p:nvPr/>
        </p:nvSpPr>
        <p:spPr>
          <a:xfrm>
            <a:off x="2701727" y="2959857"/>
            <a:ext cx="977525" cy="454192"/>
          </a:xfrm>
          <a:custGeom>
            <a:avLst/>
            <a:gdLst>
              <a:gd name="connsiteX0" fmla="*/ 0 w 1203158"/>
              <a:gd name="connsiteY0" fmla="*/ 354017 h 559029"/>
              <a:gd name="connsiteX1" fmla="*/ 160421 w 1203158"/>
              <a:gd name="connsiteY1" fmla="*/ 558554 h 559029"/>
              <a:gd name="connsiteX2" fmla="*/ 336884 w 1203158"/>
              <a:gd name="connsiteY2" fmla="*/ 414175 h 559029"/>
              <a:gd name="connsiteX3" fmla="*/ 509337 w 1203158"/>
              <a:gd name="connsiteY3" fmla="*/ 542512 h 559029"/>
              <a:gd name="connsiteX4" fmla="*/ 818147 w 1203158"/>
              <a:gd name="connsiteY4" fmla="*/ 1091 h 559029"/>
              <a:gd name="connsiteX5" fmla="*/ 1030705 w 1203158"/>
              <a:gd name="connsiteY5" fmla="*/ 402144 h 559029"/>
              <a:gd name="connsiteX6" fmla="*/ 1203158 w 1203158"/>
              <a:gd name="connsiteY6" fmla="*/ 390112 h 559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3158" h="559029">
                <a:moveTo>
                  <a:pt x="0" y="354017"/>
                </a:moveTo>
                <a:cubicBezTo>
                  <a:pt x="52137" y="451272"/>
                  <a:pt x="104274" y="548528"/>
                  <a:pt x="160421" y="558554"/>
                </a:cubicBezTo>
                <a:cubicBezTo>
                  <a:pt x="216568" y="568580"/>
                  <a:pt x="278732" y="416849"/>
                  <a:pt x="336884" y="414175"/>
                </a:cubicBezTo>
                <a:cubicBezTo>
                  <a:pt x="395036" y="411501"/>
                  <a:pt x="429127" y="611359"/>
                  <a:pt x="509337" y="542512"/>
                </a:cubicBezTo>
                <a:cubicBezTo>
                  <a:pt x="589548" y="473665"/>
                  <a:pt x="731252" y="24486"/>
                  <a:pt x="818147" y="1091"/>
                </a:cubicBezTo>
                <a:cubicBezTo>
                  <a:pt x="905042" y="-22304"/>
                  <a:pt x="966537" y="337307"/>
                  <a:pt x="1030705" y="402144"/>
                </a:cubicBezTo>
                <a:cubicBezTo>
                  <a:pt x="1094873" y="466981"/>
                  <a:pt x="1149015" y="428546"/>
                  <a:pt x="1203158" y="390112"/>
                </a:cubicBezTo>
              </a:path>
            </a:pathLst>
          </a:custGeom>
          <a:noFill/>
          <a:ln w="38100">
            <a:solidFill>
              <a:srgbClr val="A693B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 name="Freeform 11">
            <a:extLst>
              <a:ext uri="{FF2B5EF4-FFF2-40B4-BE49-F238E27FC236}">
                <a16:creationId xmlns:a16="http://schemas.microsoft.com/office/drawing/2014/main" id="{88CCB79A-2EE8-0990-66CD-863A186C33F4}"/>
              </a:ext>
            </a:extLst>
          </p:cNvPr>
          <p:cNvSpPr/>
          <p:nvPr/>
        </p:nvSpPr>
        <p:spPr>
          <a:xfrm>
            <a:off x="858253" y="2430307"/>
            <a:ext cx="1283368" cy="717956"/>
          </a:xfrm>
          <a:custGeom>
            <a:avLst/>
            <a:gdLst>
              <a:gd name="connsiteX0" fmla="*/ 0 w 1283368"/>
              <a:gd name="connsiteY0" fmla="*/ 717956 h 717956"/>
              <a:gd name="connsiteX1" fmla="*/ 264694 w 1283368"/>
              <a:gd name="connsiteY1" fmla="*/ 36167 h 717956"/>
              <a:gd name="connsiteX2" fmla="*/ 481263 w 1283368"/>
              <a:gd name="connsiteY2" fmla="*/ 292840 h 717956"/>
              <a:gd name="connsiteX3" fmla="*/ 673768 w 1283368"/>
              <a:gd name="connsiteY3" fmla="*/ 72 h 717956"/>
              <a:gd name="connsiteX4" fmla="*/ 778042 w 1283368"/>
              <a:gd name="connsiteY4" fmla="*/ 324925 h 717956"/>
              <a:gd name="connsiteX5" fmla="*/ 966536 w 1283368"/>
              <a:gd name="connsiteY5" fmla="*/ 124398 h 717956"/>
              <a:gd name="connsiteX6" fmla="*/ 1102894 w 1283368"/>
              <a:gd name="connsiteY6" fmla="*/ 661809 h 717956"/>
              <a:gd name="connsiteX7" fmla="*/ 1283368 w 1283368"/>
              <a:gd name="connsiteY7" fmla="*/ 573577 h 717956"/>
              <a:gd name="connsiteX8" fmla="*/ 1283368 w 1283368"/>
              <a:gd name="connsiteY8" fmla="*/ 573577 h 71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68" h="717956">
                <a:moveTo>
                  <a:pt x="0" y="717956"/>
                </a:moveTo>
                <a:cubicBezTo>
                  <a:pt x="92242" y="412488"/>
                  <a:pt x="184484" y="107020"/>
                  <a:pt x="264694" y="36167"/>
                </a:cubicBezTo>
                <a:cubicBezTo>
                  <a:pt x="344904" y="-34686"/>
                  <a:pt x="413084" y="298856"/>
                  <a:pt x="481263" y="292840"/>
                </a:cubicBezTo>
                <a:cubicBezTo>
                  <a:pt x="549442" y="286824"/>
                  <a:pt x="624305" y="-5276"/>
                  <a:pt x="673768" y="72"/>
                </a:cubicBezTo>
                <a:cubicBezTo>
                  <a:pt x="723231" y="5419"/>
                  <a:pt x="729247" y="304204"/>
                  <a:pt x="778042" y="324925"/>
                </a:cubicBezTo>
                <a:cubicBezTo>
                  <a:pt x="826837" y="345646"/>
                  <a:pt x="912394" y="68251"/>
                  <a:pt x="966536" y="124398"/>
                </a:cubicBezTo>
                <a:cubicBezTo>
                  <a:pt x="1020678" y="180545"/>
                  <a:pt x="1050089" y="586946"/>
                  <a:pt x="1102894" y="661809"/>
                </a:cubicBezTo>
                <a:cubicBezTo>
                  <a:pt x="1155699" y="736672"/>
                  <a:pt x="1283368" y="573577"/>
                  <a:pt x="1283368" y="573577"/>
                </a:cubicBezTo>
                <a:lnTo>
                  <a:pt x="1283368" y="573577"/>
                </a:lnTo>
              </a:path>
            </a:pathLst>
          </a:custGeom>
          <a:noFill/>
          <a:ln w="38100">
            <a:solidFill>
              <a:srgbClr val="E5CE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Freeform 19">
            <a:extLst>
              <a:ext uri="{FF2B5EF4-FFF2-40B4-BE49-F238E27FC236}">
                <a16:creationId xmlns:a16="http://schemas.microsoft.com/office/drawing/2014/main" id="{EBF39938-BDC1-20E4-3C02-327D8C44D67B}"/>
              </a:ext>
            </a:extLst>
          </p:cNvPr>
          <p:cNvSpPr/>
          <p:nvPr/>
        </p:nvSpPr>
        <p:spPr>
          <a:xfrm>
            <a:off x="2701314" y="1963396"/>
            <a:ext cx="957158" cy="535464"/>
          </a:xfrm>
          <a:custGeom>
            <a:avLst/>
            <a:gdLst>
              <a:gd name="connsiteX0" fmla="*/ 0 w 1283368"/>
              <a:gd name="connsiteY0" fmla="*/ 717956 h 717956"/>
              <a:gd name="connsiteX1" fmla="*/ 264694 w 1283368"/>
              <a:gd name="connsiteY1" fmla="*/ 36167 h 717956"/>
              <a:gd name="connsiteX2" fmla="*/ 481263 w 1283368"/>
              <a:gd name="connsiteY2" fmla="*/ 292840 h 717956"/>
              <a:gd name="connsiteX3" fmla="*/ 673768 w 1283368"/>
              <a:gd name="connsiteY3" fmla="*/ 72 h 717956"/>
              <a:gd name="connsiteX4" fmla="*/ 778042 w 1283368"/>
              <a:gd name="connsiteY4" fmla="*/ 324925 h 717956"/>
              <a:gd name="connsiteX5" fmla="*/ 966536 w 1283368"/>
              <a:gd name="connsiteY5" fmla="*/ 124398 h 717956"/>
              <a:gd name="connsiteX6" fmla="*/ 1102894 w 1283368"/>
              <a:gd name="connsiteY6" fmla="*/ 661809 h 717956"/>
              <a:gd name="connsiteX7" fmla="*/ 1283368 w 1283368"/>
              <a:gd name="connsiteY7" fmla="*/ 573577 h 717956"/>
              <a:gd name="connsiteX8" fmla="*/ 1283368 w 1283368"/>
              <a:gd name="connsiteY8" fmla="*/ 573577 h 71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68" h="717956">
                <a:moveTo>
                  <a:pt x="0" y="717956"/>
                </a:moveTo>
                <a:cubicBezTo>
                  <a:pt x="92242" y="412488"/>
                  <a:pt x="184484" y="107020"/>
                  <a:pt x="264694" y="36167"/>
                </a:cubicBezTo>
                <a:cubicBezTo>
                  <a:pt x="344904" y="-34686"/>
                  <a:pt x="413084" y="298856"/>
                  <a:pt x="481263" y="292840"/>
                </a:cubicBezTo>
                <a:cubicBezTo>
                  <a:pt x="549442" y="286824"/>
                  <a:pt x="624305" y="-5276"/>
                  <a:pt x="673768" y="72"/>
                </a:cubicBezTo>
                <a:cubicBezTo>
                  <a:pt x="723231" y="5419"/>
                  <a:pt x="729247" y="304204"/>
                  <a:pt x="778042" y="324925"/>
                </a:cubicBezTo>
                <a:cubicBezTo>
                  <a:pt x="826837" y="345646"/>
                  <a:pt x="912394" y="68251"/>
                  <a:pt x="966536" y="124398"/>
                </a:cubicBezTo>
                <a:cubicBezTo>
                  <a:pt x="1020678" y="180545"/>
                  <a:pt x="1050089" y="586946"/>
                  <a:pt x="1102894" y="661809"/>
                </a:cubicBezTo>
                <a:cubicBezTo>
                  <a:pt x="1155699" y="736672"/>
                  <a:pt x="1283368" y="573577"/>
                  <a:pt x="1283368" y="573577"/>
                </a:cubicBezTo>
                <a:lnTo>
                  <a:pt x="1283368" y="573577"/>
                </a:lnTo>
              </a:path>
            </a:pathLst>
          </a:custGeom>
          <a:noFill/>
          <a:ln w="38100">
            <a:solidFill>
              <a:srgbClr val="E5CE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5" name="Freeform 64">
            <a:extLst>
              <a:ext uri="{FF2B5EF4-FFF2-40B4-BE49-F238E27FC236}">
                <a16:creationId xmlns:a16="http://schemas.microsoft.com/office/drawing/2014/main" id="{40FEB0F8-1A84-DDCA-F16D-0FDD5BBD7F2A}"/>
              </a:ext>
            </a:extLst>
          </p:cNvPr>
          <p:cNvSpPr/>
          <p:nvPr/>
        </p:nvSpPr>
        <p:spPr>
          <a:xfrm>
            <a:off x="822158" y="2749743"/>
            <a:ext cx="1411705" cy="803583"/>
          </a:xfrm>
          <a:custGeom>
            <a:avLst/>
            <a:gdLst>
              <a:gd name="connsiteX0" fmla="*/ 0 w 1411705"/>
              <a:gd name="connsiteY0" fmla="*/ 803583 h 803583"/>
              <a:gd name="connsiteX1" fmla="*/ 268705 w 1411705"/>
              <a:gd name="connsiteY1" fmla="*/ 394510 h 803583"/>
              <a:gd name="connsiteX2" fmla="*/ 573505 w 1411705"/>
              <a:gd name="connsiteY2" fmla="*/ 643162 h 803583"/>
              <a:gd name="connsiteX3" fmla="*/ 966537 w 1411705"/>
              <a:gd name="connsiteY3" fmla="*/ 13510 h 803583"/>
              <a:gd name="connsiteX4" fmla="*/ 1231231 w 1411705"/>
              <a:gd name="connsiteY4" fmla="*/ 202004 h 803583"/>
              <a:gd name="connsiteX5" fmla="*/ 1411705 w 1411705"/>
              <a:gd name="connsiteY5" fmla="*/ 85699 h 803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1705" h="803583">
                <a:moveTo>
                  <a:pt x="0" y="803583"/>
                </a:moveTo>
                <a:cubicBezTo>
                  <a:pt x="86560" y="612415"/>
                  <a:pt x="173121" y="421247"/>
                  <a:pt x="268705" y="394510"/>
                </a:cubicBezTo>
                <a:cubicBezTo>
                  <a:pt x="364289" y="367773"/>
                  <a:pt x="457200" y="706662"/>
                  <a:pt x="573505" y="643162"/>
                </a:cubicBezTo>
                <a:cubicBezTo>
                  <a:pt x="689810" y="579662"/>
                  <a:pt x="856916" y="87036"/>
                  <a:pt x="966537" y="13510"/>
                </a:cubicBezTo>
                <a:cubicBezTo>
                  <a:pt x="1076158" y="-60016"/>
                  <a:pt x="1157036" y="189973"/>
                  <a:pt x="1231231" y="202004"/>
                </a:cubicBezTo>
                <a:cubicBezTo>
                  <a:pt x="1305426" y="214035"/>
                  <a:pt x="1358565" y="149867"/>
                  <a:pt x="1411705" y="85699"/>
                </a:cubicBezTo>
              </a:path>
            </a:pathLst>
          </a:custGeom>
          <a:noFill/>
          <a:ln w="3810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8" name="Freeform 67">
            <a:extLst>
              <a:ext uri="{FF2B5EF4-FFF2-40B4-BE49-F238E27FC236}">
                <a16:creationId xmlns:a16="http://schemas.microsoft.com/office/drawing/2014/main" id="{F5BB3B96-12BD-A38A-C5B0-6992A7E6F101}"/>
              </a:ext>
            </a:extLst>
          </p:cNvPr>
          <p:cNvSpPr/>
          <p:nvPr/>
        </p:nvSpPr>
        <p:spPr>
          <a:xfrm>
            <a:off x="914400" y="3275509"/>
            <a:ext cx="1203158" cy="559029"/>
          </a:xfrm>
          <a:custGeom>
            <a:avLst/>
            <a:gdLst>
              <a:gd name="connsiteX0" fmla="*/ 0 w 1203158"/>
              <a:gd name="connsiteY0" fmla="*/ 354017 h 559029"/>
              <a:gd name="connsiteX1" fmla="*/ 160421 w 1203158"/>
              <a:gd name="connsiteY1" fmla="*/ 558554 h 559029"/>
              <a:gd name="connsiteX2" fmla="*/ 336884 w 1203158"/>
              <a:gd name="connsiteY2" fmla="*/ 414175 h 559029"/>
              <a:gd name="connsiteX3" fmla="*/ 509337 w 1203158"/>
              <a:gd name="connsiteY3" fmla="*/ 542512 h 559029"/>
              <a:gd name="connsiteX4" fmla="*/ 818147 w 1203158"/>
              <a:gd name="connsiteY4" fmla="*/ 1091 h 559029"/>
              <a:gd name="connsiteX5" fmla="*/ 1030705 w 1203158"/>
              <a:gd name="connsiteY5" fmla="*/ 402144 h 559029"/>
              <a:gd name="connsiteX6" fmla="*/ 1203158 w 1203158"/>
              <a:gd name="connsiteY6" fmla="*/ 390112 h 559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3158" h="559029">
                <a:moveTo>
                  <a:pt x="0" y="354017"/>
                </a:moveTo>
                <a:cubicBezTo>
                  <a:pt x="52137" y="451272"/>
                  <a:pt x="104274" y="548528"/>
                  <a:pt x="160421" y="558554"/>
                </a:cubicBezTo>
                <a:cubicBezTo>
                  <a:pt x="216568" y="568580"/>
                  <a:pt x="278732" y="416849"/>
                  <a:pt x="336884" y="414175"/>
                </a:cubicBezTo>
                <a:cubicBezTo>
                  <a:pt x="395036" y="411501"/>
                  <a:pt x="429127" y="611359"/>
                  <a:pt x="509337" y="542512"/>
                </a:cubicBezTo>
                <a:cubicBezTo>
                  <a:pt x="589548" y="473665"/>
                  <a:pt x="731252" y="24486"/>
                  <a:pt x="818147" y="1091"/>
                </a:cubicBezTo>
                <a:cubicBezTo>
                  <a:pt x="905042" y="-22304"/>
                  <a:pt x="966537" y="337307"/>
                  <a:pt x="1030705" y="402144"/>
                </a:cubicBezTo>
                <a:cubicBezTo>
                  <a:pt x="1094873" y="466981"/>
                  <a:pt x="1149015" y="428546"/>
                  <a:pt x="1203158" y="390112"/>
                </a:cubicBezTo>
              </a:path>
            </a:pathLst>
          </a:custGeom>
          <a:noFill/>
          <a:ln w="38100">
            <a:solidFill>
              <a:srgbClr val="A693B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6" name="Rectangle 95">
            <a:extLst>
              <a:ext uri="{FF2B5EF4-FFF2-40B4-BE49-F238E27FC236}">
                <a16:creationId xmlns:a16="http://schemas.microsoft.com/office/drawing/2014/main" id="{9F410329-1B27-06C3-F74E-02F36FFA9A08}"/>
              </a:ext>
            </a:extLst>
          </p:cNvPr>
          <p:cNvSpPr/>
          <p:nvPr/>
        </p:nvSpPr>
        <p:spPr>
          <a:xfrm>
            <a:off x="491203" y="6364845"/>
            <a:ext cx="1522081" cy="373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 name="TextBox 2">
            <a:extLst>
              <a:ext uri="{FF2B5EF4-FFF2-40B4-BE49-F238E27FC236}">
                <a16:creationId xmlns:a16="http://schemas.microsoft.com/office/drawing/2014/main" id="{733D62D2-622B-4DA6-615B-38F8102BD882}"/>
              </a:ext>
            </a:extLst>
          </p:cNvPr>
          <p:cNvSpPr txBox="1"/>
          <p:nvPr/>
        </p:nvSpPr>
        <p:spPr>
          <a:xfrm>
            <a:off x="192411" y="4887517"/>
            <a:ext cx="3503042" cy="1477328"/>
          </a:xfrm>
          <a:prstGeom prst="rect">
            <a:avLst/>
          </a:prstGeom>
          <a:noFill/>
        </p:spPr>
        <p:txBody>
          <a:bodyPr wrap="square" rtlCol="0">
            <a:spAutoFit/>
          </a:bodyPr>
          <a:lstStyle/>
          <a:p>
            <a:pPr algn="ctr"/>
            <a:r>
              <a:rPr lang="en-CH" b="1"/>
              <a:t>Prior</a:t>
            </a:r>
            <a:br>
              <a:rPr lang="en-CH" b="1"/>
            </a:br>
            <a:br>
              <a:rPr lang="en-CH"/>
            </a:br>
            <a:r>
              <a:rPr lang="en-CH"/>
              <a:t>Generate K </a:t>
            </a:r>
            <a:r>
              <a:rPr lang="en-CH" b="1"/>
              <a:t>synthetic datasets</a:t>
            </a:r>
            <a:r>
              <a:rPr lang="en-CH"/>
              <a:t> by sampling from a prior p(t) over </a:t>
            </a:r>
            <a:r>
              <a:rPr lang="en-CH" b="1"/>
              <a:t>supervised</a:t>
            </a:r>
            <a:r>
              <a:rPr lang="en-CH"/>
              <a:t> </a:t>
            </a:r>
            <a:r>
              <a:rPr lang="en-CH" b="1"/>
              <a:t>learning</a:t>
            </a:r>
            <a:r>
              <a:rPr lang="en-CH"/>
              <a:t> </a:t>
            </a:r>
            <a:r>
              <a:rPr lang="en-CH" b="1"/>
              <a:t>tasks</a:t>
            </a:r>
            <a:endParaRPr lang="en-CH"/>
          </a:p>
        </p:txBody>
      </p:sp>
    </p:spTree>
    <p:extLst>
      <p:ext uri="{BB962C8B-B14F-4D97-AF65-F5344CB8AC3E}">
        <p14:creationId xmlns:p14="http://schemas.microsoft.com/office/powerpoint/2010/main" val="7768585"/>
      </p:ext>
    </p:extLst>
  </p:cSld>
  <p:clrMapOvr>
    <a:masterClrMapping/>
  </p:clrMapOvr>
  <mc:AlternateContent xmlns:mc="http://schemas.openxmlformats.org/markup-compatibility/2006" xmlns:p159="http://schemas.microsoft.com/office/powerpoint/2015/09/main">
    <mc:Choice Requires="p159">
      <p:transition spd="slow" advClick="0">
        <p159:morph option="byObject"/>
      </p:transition>
    </mc:Choice>
    <mc:Fallback xmlns="">
      <p:transition spd="slow"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CCECD-96C9-97FA-A4A4-D56A628F9BF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91493F2-F0B4-EFBE-97E6-F2BC26E3DED8}"/>
              </a:ext>
            </a:extLst>
          </p:cNvPr>
          <p:cNvSpPr>
            <a:spLocks noGrp="1"/>
          </p:cNvSpPr>
          <p:nvPr>
            <p:ph type="sldNum" sz="quarter" idx="12"/>
          </p:nvPr>
        </p:nvSpPr>
        <p:spPr/>
        <p:txBody>
          <a:bodyPr/>
          <a:lstStyle/>
          <a:p>
            <a:fld id="{5ACA52AF-F19D-405C-AD5F-7D94B96A5CC3}" type="slidenum">
              <a:rPr lang="de-CH" noProof="0" smtClean="0"/>
              <a:t>13</a:t>
            </a:fld>
            <a:endParaRPr lang="de-CH" noProof="0"/>
          </a:p>
        </p:txBody>
      </p:sp>
      <p:sp>
        <p:nvSpPr>
          <p:cNvPr id="21" name="Footer Placeholder 4">
            <a:extLst>
              <a:ext uri="{FF2B5EF4-FFF2-40B4-BE49-F238E27FC236}">
                <a16:creationId xmlns:a16="http://schemas.microsoft.com/office/drawing/2014/main" id="{ABC91A32-C6E5-A7A1-F058-5AEAC1B7F7D4}"/>
              </a:ext>
            </a:extLst>
          </p:cNvPr>
          <p:cNvSpPr txBox="1">
            <a:spLocks/>
          </p:cNvSpPr>
          <p:nvPr/>
        </p:nvSpPr>
        <p:spPr>
          <a:xfrm>
            <a:off x="5723751" y="6522444"/>
            <a:ext cx="744495" cy="216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a:t>Motivation</a:t>
            </a:r>
            <a:endParaRPr lang="de-CH"/>
          </a:p>
        </p:txBody>
      </p:sp>
      <p:sp>
        <p:nvSpPr>
          <p:cNvPr id="11" name="Oval 10">
            <a:extLst>
              <a:ext uri="{FF2B5EF4-FFF2-40B4-BE49-F238E27FC236}">
                <a16:creationId xmlns:a16="http://schemas.microsoft.com/office/drawing/2014/main" id="{476366C9-7431-252D-C4C4-418437AEB156}"/>
              </a:ext>
            </a:extLst>
          </p:cNvPr>
          <p:cNvSpPr/>
          <p:nvPr/>
        </p:nvSpPr>
        <p:spPr>
          <a:xfrm>
            <a:off x="491203" y="2152173"/>
            <a:ext cx="1920672" cy="192067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Freeform 21">
            <a:extLst>
              <a:ext uri="{FF2B5EF4-FFF2-40B4-BE49-F238E27FC236}">
                <a16:creationId xmlns:a16="http://schemas.microsoft.com/office/drawing/2014/main" id="{865428AF-59E3-C03B-5E32-1ADE52E1EB36}"/>
              </a:ext>
            </a:extLst>
          </p:cNvPr>
          <p:cNvSpPr/>
          <p:nvPr/>
        </p:nvSpPr>
        <p:spPr>
          <a:xfrm>
            <a:off x="742858" y="2835759"/>
            <a:ext cx="1483895" cy="357504"/>
          </a:xfrm>
          <a:custGeom>
            <a:avLst/>
            <a:gdLst>
              <a:gd name="connsiteX0" fmla="*/ 0 w 1483895"/>
              <a:gd name="connsiteY0" fmla="*/ 238112 h 357504"/>
              <a:gd name="connsiteX1" fmla="*/ 533400 w 1483895"/>
              <a:gd name="connsiteY1" fmla="*/ 1490 h 357504"/>
              <a:gd name="connsiteX2" fmla="*/ 1122948 w 1483895"/>
              <a:gd name="connsiteY2" fmla="*/ 338375 h 357504"/>
              <a:gd name="connsiteX3" fmla="*/ 1483895 w 1483895"/>
              <a:gd name="connsiteY3" fmla="*/ 286238 h 357504"/>
            </a:gdLst>
            <a:ahLst/>
            <a:cxnLst>
              <a:cxn ang="0">
                <a:pos x="connsiteX0" y="connsiteY0"/>
              </a:cxn>
              <a:cxn ang="0">
                <a:pos x="connsiteX1" y="connsiteY1"/>
              </a:cxn>
              <a:cxn ang="0">
                <a:pos x="connsiteX2" y="connsiteY2"/>
              </a:cxn>
              <a:cxn ang="0">
                <a:pos x="connsiteX3" y="connsiteY3"/>
              </a:cxn>
            </a:cxnLst>
            <a:rect l="l" t="t" r="r" b="b"/>
            <a:pathLst>
              <a:path w="1483895" h="357504">
                <a:moveTo>
                  <a:pt x="0" y="238112"/>
                </a:moveTo>
                <a:cubicBezTo>
                  <a:pt x="173121" y="111445"/>
                  <a:pt x="346242" y="-15221"/>
                  <a:pt x="533400" y="1490"/>
                </a:cubicBezTo>
                <a:cubicBezTo>
                  <a:pt x="720558" y="18200"/>
                  <a:pt x="964532" y="290917"/>
                  <a:pt x="1122948" y="338375"/>
                </a:cubicBezTo>
                <a:cubicBezTo>
                  <a:pt x="1281364" y="385833"/>
                  <a:pt x="1382629" y="336035"/>
                  <a:pt x="1483895" y="286238"/>
                </a:cubicBezTo>
              </a:path>
            </a:pathLst>
          </a:custGeom>
          <a:noFill/>
          <a:ln w="38100">
            <a:solidFill>
              <a:srgbClr val="A307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4" name="Freeform 33">
            <a:extLst>
              <a:ext uri="{FF2B5EF4-FFF2-40B4-BE49-F238E27FC236}">
                <a16:creationId xmlns:a16="http://schemas.microsoft.com/office/drawing/2014/main" id="{F5BDCA48-EB50-FC62-7162-B9BA9906E797}"/>
              </a:ext>
            </a:extLst>
          </p:cNvPr>
          <p:cNvSpPr/>
          <p:nvPr/>
        </p:nvSpPr>
        <p:spPr>
          <a:xfrm>
            <a:off x="749968" y="2470484"/>
            <a:ext cx="1263316" cy="340895"/>
          </a:xfrm>
          <a:custGeom>
            <a:avLst/>
            <a:gdLst>
              <a:gd name="connsiteX0" fmla="*/ 0 w 1263316"/>
              <a:gd name="connsiteY0" fmla="*/ 340895 h 340895"/>
              <a:gd name="connsiteX1" fmla="*/ 176464 w 1263316"/>
              <a:gd name="connsiteY1" fmla="*/ 200527 h 340895"/>
              <a:gd name="connsiteX2" fmla="*/ 557464 w 1263316"/>
              <a:gd name="connsiteY2" fmla="*/ 332874 h 340895"/>
              <a:gd name="connsiteX3" fmla="*/ 978569 w 1263316"/>
              <a:gd name="connsiteY3" fmla="*/ 64169 h 340895"/>
              <a:gd name="connsiteX4" fmla="*/ 1263316 w 1263316"/>
              <a:gd name="connsiteY4" fmla="*/ 0 h 340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316" h="340895">
                <a:moveTo>
                  <a:pt x="0" y="340895"/>
                </a:moveTo>
                <a:cubicBezTo>
                  <a:pt x="41776" y="271379"/>
                  <a:pt x="83553" y="201864"/>
                  <a:pt x="176464" y="200527"/>
                </a:cubicBezTo>
                <a:cubicBezTo>
                  <a:pt x="269375" y="199190"/>
                  <a:pt x="423780" y="355600"/>
                  <a:pt x="557464" y="332874"/>
                </a:cubicBezTo>
                <a:cubicBezTo>
                  <a:pt x="691148" y="310148"/>
                  <a:pt x="860927" y="119648"/>
                  <a:pt x="978569" y="64169"/>
                </a:cubicBezTo>
                <a:cubicBezTo>
                  <a:pt x="1096211" y="8690"/>
                  <a:pt x="1179763" y="4345"/>
                  <a:pt x="1263316" y="0"/>
                </a:cubicBezTo>
              </a:path>
            </a:pathLst>
          </a:cu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7" name="!!Freeform 36">
            <a:extLst>
              <a:ext uri="{FF2B5EF4-FFF2-40B4-BE49-F238E27FC236}">
                <a16:creationId xmlns:a16="http://schemas.microsoft.com/office/drawing/2014/main" id="{A57F0289-5CEB-BD48-2731-1CCF945BDE95}"/>
              </a:ext>
            </a:extLst>
          </p:cNvPr>
          <p:cNvSpPr/>
          <p:nvPr/>
        </p:nvSpPr>
        <p:spPr>
          <a:xfrm>
            <a:off x="2713108" y="3895579"/>
            <a:ext cx="1013864" cy="577120"/>
          </a:xfrm>
          <a:custGeom>
            <a:avLst/>
            <a:gdLst>
              <a:gd name="connsiteX0" fmla="*/ 0 w 1411705"/>
              <a:gd name="connsiteY0" fmla="*/ 803583 h 803583"/>
              <a:gd name="connsiteX1" fmla="*/ 268705 w 1411705"/>
              <a:gd name="connsiteY1" fmla="*/ 394510 h 803583"/>
              <a:gd name="connsiteX2" fmla="*/ 573505 w 1411705"/>
              <a:gd name="connsiteY2" fmla="*/ 643162 h 803583"/>
              <a:gd name="connsiteX3" fmla="*/ 966537 w 1411705"/>
              <a:gd name="connsiteY3" fmla="*/ 13510 h 803583"/>
              <a:gd name="connsiteX4" fmla="*/ 1231231 w 1411705"/>
              <a:gd name="connsiteY4" fmla="*/ 202004 h 803583"/>
              <a:gd name="connsiteX5" fmla="*/ 1411705 w 1411705"/>
              <a:gd name="connsiteY5" fmla="*/ 85699 h 803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1705" h="803583">
                <a:moveTo>
                  <a:pt x="0" y="803583"/>
                </a:moveTo>
                <a:cubicBezTo>
                  <a:pt x="86560" y="612415"/>
                  <a:pt x="173121" y="421247"/>
                  <a:pt x="268705" y="394510"/>
                </a:cubicBezTo>
                <a:cubicBezTo>
                  <a:pt x="364289" y="367773"/>
                  <a:pt x="457200" y="706662"/>
                  <a:pt x="573505" y="643162"/>
                </a:cubicBezTo>
                <a:cubicBezTo>
                  <a:pt x="689810" y="579662"/>
                  <a:pt x="856916" y="87036"/>
                  <a:pt x="966537" y="13510"/>
                </a:cubicBezTo>
                <a:cubicBezTo>
                  <a:pt x="1076158" y="-60016"/>
                  <a:pt x="1157036" y="189973"/>
                  <a:pt x="1231231" y="202004"/>
                </a:cubicBezTo>
                <a:cubicBezTo>
                  <a:pt x="1305426" y="214035"/>
                  <a:pt x="1358565" y="149867"/>
                  <a:pt x="1411705" y="85699"/>
                </a:cubicBezTo>
              </a:path>
            </a:pathLst>
          </a:custGeom>
          <a:noFill/>
          <a:ln w="3810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8" name="Freeform 37">
            <a:extLst>
              <a:ext uri="{FF2B5EF4-FFF2-40B4-BE49-F238E27FC236}">
                <a16:creationId xmlns:a16="http://schemas.microsoft.com/office/drawing/2014/main" id="{CDFB703F-7642-494C-5B16-9EE2234543B9}"/>
              </a:ext>
            </a:extLst>
          </p:cNvPr>
          <p:cNvSpPr/>
          <p:nvPr/>
        </p:nvSpPr>
        <p:spPr>
          <a:xfrm>
            <a:off x="757418" y="3357051"/>
            <a:ext cx="1427747" cy="253063"/>
          </a:xfrm>
          <a:custGeom>
            <a:avLst/>
            <a:gdLst>
              <a:gd name="connsiteX0" fmla="*/ 0 w 1427747"/>
              <a:gd name="connsiteY0" fmla="*/ 0 h 253063"/>
              <a:gd name="connsiteX1" fmla="*/ 364958 w 1427747"/>
              <a:gd name="connsiteY1" fmla="*/ 252663 h 253063"/>
              <a:gd name="connsiteX2" fmla="*/ 994611 w 1427747"/>
              <a:gd name="connsiteY2" fmla="*/ 60158 h 253063"/>
              <a:gd name="connsiteX3" fmla="*/ 1259305 w 1427747"/>
              <a:gd name="connsiteY3" fmla="*/ 124326 h 253063"/>
              <a:gd name="connsiteX4" fmla="*/ 1427747 w 1427747"/>
              <a:gd name="connsiteY4" fmla="*/ 60158 h 253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7747" h="253063">
                <a:moveTo>
                  <a:pt x="0" y="0"/>
                </a:moveTo>
                <a:cubicBezTo>
                  <a:pt x="99595" y="121318"/>
                  <a:pt x="199190" y="242637"/>
                  <a:pt x="364958" y="252663"/>
                </a:cubicBezTo>
                <a:cubicBezTo>
                  <a:pt x="530726" y="262689"/>
                  <a:pt x="845553" y="81548"/>
                  <a:pt x="994611" y="60158"/>
                </a:cubicBezTo>
                <a:cubicBezTo>
                  <a:pt x="1143669" y="38769"/>
                  <a:pt x="1187116" y="124326"/>
                  <a:pt x="1259305" y="124326"/>
                </a:cubicBezTo>
                <a:cubicBezTo>
                  <a:pt x="1331494" y="124326"/>
                  <a:pt x="1379620" y="92242"/>
                  <a:pt x="1427747" y="60158"/>
                </a:cubicBezTo>
              </a:path>
            </a:pathLst>
          </a:custGeom>
          <a:noFill/>
          <a:ln w="38100">
            <a:solidFill>
              <a:srgbClr val="7AAB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9" name="!!Freeform 38">
            <a:extLst>
              <a:ext uri="{FF2B5EF4-FFF2-40B4-BE49-F238E27FC236}">
                <a16:creationId xmlns:a16="http://schemas.microsoft.com/office/drawing/2014/main" id="{6DE771A4-6DA9-41E7-E657-43A5F6A1445B}"/>
              </a:ext>
            </a:extLst>
          </p:cNvPr>
          <p:cNvSpPr/>
          <p:nvPr/>
        </p:nvSpPr>
        <p:spPr>
          <a:xfrm>
            <a:off x="2702729" y="2955823"/>
            <a:ext cx="977525" cy="454192"/>
          </a:xfrm>
          <a:custGeom>
            <a:avLst/>
            <a:gdLst>
              <a:gd name="connsiteX0" fmla="*/ 0 w 1203158"/>
              <a:gd name="connsiteY0" fmla="*/ 354017 h 559029"/>
              <a:gd name="connsiteX1" fmla="*/ 160421 w 1203158"/>
              <a:gd name="connsiteY1" fmla="*/ 558554 h 559029"/>
              <a:gd name="connsiteX2" fmla="*/ 336884 w 1203158"/>
              <a:gd name="connsiteY2" fmla="*/ 414175 h 559029"/>
              <a:gd name="connsiteX3" fmla="*/ 509337 w 1203158"/>
              <a:gd name="connsiteY3" fmla="*/ 542512 h 559029"/>
              <a:gd name="connsiteX4" fmla="*/ 818147 w 1203158"/>
              <a:gd name="connsiteY4" fmla="*/ 1091 h 559029"/>
              <a:gd name="connsiteX5" fmla="*/ 1030705 w 1203158"/>
              <a:gd name="connsiteY5" fmla="*/ 402144 h 559029"/>
              <a:gd name="connsiteX6" fmla="*/ 1203158 w 1203158"/>
              <a:gd name="connsiteY6" fmla="*/ 390112 h 559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3158" h="559029">
                <a:moveTo>
                  <a:pt x="0" y="354017"/>
                </a:moveTo>
                <a:cubicBezTo>
                  <a:pt x="52137" y="451272"/>
                  <a:pt x="104274" y="548528"/>
                  <a:pt x="160421" y="558554"/>
                </a:cubicBezTo>
                <a:cubicBezTo>
                  <a:pt x="216568" y="568580"/>
                  <a:pt x="278732" y="416849"/>
                  <a:pt x="336884" y="414175"/>
                </a:cubicBezTo>
                <a:cubicBezTo>
                  <a:pt x="395036" y="411501"/>
                  <a:pt x="429127" y="611359"/>
                  <a:pt x="509337" y="542512"/>
                </a:cubicBezTo>
                <a:cubicBezTo>
                  <a:pt x="589548" y="473665"/>
                  <a:pt x="731252" y="24486"/>
                  <a:pt x="818147" y="1091"/>
                </a:cubicBezTo>
                <a:cubicBezTo>
                  <a:pt x="905042" y="-22304"/>
                  <a:pt x="966537" y="337307"/>
                  <a:pt x="1030705" y="402144"/>
                </a:cubicBezTo>
                <a:cubicBezTo>
                  <a:pt x="1094873" y="466981"/>
                  <a:pt x="1149015" y="428546"/>
                  <a:pt x="1203158" y="390112"/>
                </a:cubicBezTo>
              </a:path>
            </a:pathLst>
          </a:custGeom>
          <a:noFill/>
          <a:ln w="38100">
            <a:solidFill>
              <a:srgbClr val="A693B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 name="Freeform 11">
            <a:extLst>
              <a:ext uri="{FF2B5EF4-FFF2-40B4-BE49-F238E27FC236}">
                <a16:creationId xmlns:a16="http://schemas.microsoft.com/office/drawing/2014/main" id="{C9CDE38E-2BC1-4E7D-76C5-103F8F6CE8B0}"/>
              </a:ext>
            </a:extLst>
          </p:cNvPr>
          <p:cNvSpPr/>
          <p:nvPr/>
        </p:nvSpPr>
        <p:spPr>
          <a:xfrm>
            <a:off x="858253" y="2430307"/>
            <a:ext cx="1283368" cy="717956"/>
          </a:xfrm>
          <a:custGeom>
            <a:avLst/>
            <a:gdLst>
              <a:gd name="connsiteX0" fmla="*/ 0 w 1283368"/>
              <a:gd name="connsiteY0" fmla="*/ 717956 h 717956"/>
              <a:gd name="connsiteX1" fmla="*/ 264694 w 1283368"/>
              <a:gd name="connsiteY1" fmla="*/ 36167 h 717956"/>
              <a:gd name="connsiteX2" fmla="*/ 481263 w 1283368"/>
              <a:gd name="connsiteY2" fmla="*/ 292840 h 717956"/>
              <a:gd name="connsiteX3" fmla="*/ 673768 w 1283368"/>
              <a:gd name="connsiteY3" fmla="*/ 72 h 717956"/>
              <a:gd name="connsiteX4" fmla="*/ 778042 w 1283368"/>
              <a:gd name="connsiteY4" fmla="*/ 324925 h 717956"/>
              <a:gd name="connsiteX5" fmla="*/ 966536 w 1283368"/>
              <a:gd name="connsiteY5" fmla="*/ 124398 h 717956"/>
              <a:gd name="connsiteX6" fmla="*/ 1102894 w 1283368"/>
              <a:gd name="connsiteY6" fmla="*/ 661809 h 717956"/>
              <a:gd name="connsiteX7" fmla="*/ 1283368 w 1283368"/>
              <a:gd name="connsiteY7" fmla="*/ 573577 h 717956"/>
              <a:gd name="connsiteX8" fmla="*/ 1283368 w 1283368"/>
              <a:gd name="connsiteY8" fmla="*/ 573577 h 71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68" h="717956">
                <a:moveTo>
                  <a:pt x="0" y="717956"/>
                </a:moveTo>
                <a:cubicBezTo>
                  <a:pt x="92242" y="412488"/>
                  <a:pt x="184484" y="107020"/>
                  <a:pt x="264694" y="36167"/>
                </a:cubicBezTo>
                <a:cubicBezTo>
                  <a:pt x="344904" y="-34686"/>
                  <a:pt x="413084" y="298856"/>
                  <a:pt x="481263" y="292840"/>
                </a:cubicBezTo>
                <a:cubicBezTo>
                  <a:pt x="549442" y="286824"/>
                  <a:pt x="624305" y="-5276"/>
                  <a:pt x="673768" y="72"/>
                </a:cubicBezTo>
                <a:cubicBezTo>
                  <a:pt x="723231" y="5419"/>
                  <a:pt x="729247" y="304204"/>
                  <a:pt x="778042" y="324925"/>
                </a:cubicBezTo>
                <a:cubicBezTo>
                  <a:pt x="826837" y="345646"/>
                  <a:pt x="912394" y="68251"/>
                  <a:pt x="966536" y="124398"/>
                </a:cubicBezTo>
                <a:cubicBezTo>
                  <a:pt x="1020678" y="180545"/>
                  <a:pt x="1050089" y="586946"/>
                  <a:pt x="1102894" y="661809"/>
                </a:cubicBezTo>
                <a:cubicBezTo>
                  <a:pt x="1155699" y="736672"/>
                  <a:pt x="1283368" y="573577"/>
                  <a:pt x="1283368" y="573577"/>
                </a:cubicBezTo>
                <a:lnTo>
                  <a:pt x="1283368" y="573577"/>
                </a:lnTo>
              </a:path>
            </a:pathLst>
          </a:custGeom>
          <a:noFill/>
          <a:ln w="38100">
            <a:solidFill>
              <a:srgbClr val="E5CE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Freeform 19">
            <a:extLst>
              <a:ext uri="{FF2B5EF4-FFF2-40B4-BE49-F238E27FC236}">
                <a16:creationId xmlns:a16="http://schemas.microsoft.com/office/drawing/2014/main" id="{A764FE04-7AC2-1307-D7F7-8DAE18582737}"/>
              </a:ext>
            </a:extLst>
          </p:cNvPr>
          <p:cNvSpPr/>
          <p:nvPr/>
        </p:nvSpPr>
        <p:spPr>
          <a:xfrm>
            <a:off x="2701314" y="1963396"/>
            <a:ext cx="957158" cy="535464"/>
          </a:xfrm>
          <a:custGeom>
            <a:avLst/>
            <a:gdLst>
              <a:gd name="connsiteX0" fmla="*/ 0 w 1283368"/>
              <a:gd name="connsiteY0" fmla="*/ 717956 h 717956"/>
              <a:gd name="connsiteX1" fmla="*/ 264694 w 1283368"/>
              <a:gd name="connsiteY1" fmla="*/ 36167 h 717956"/>
              <a:gd name="connsiteX2" fmla="*/ 481263 w 1283368"/>
              <a:gd name="connsiteY2" fmla="*/ 292840 h 717956"/>
              <a:gd name="connsiteX3" fmla="*/ 673768 w 1283368"/>
              <a:gd name="connsiteY3" fmla="*/ 72 h 717956"/>
              <a:gd name="connsiteX4" fmla="*/ 778042 w 1283368"/>
              <a:gd name="connsiteY4" fmla="*/ 324925 h 717956"/>
              <a:gd name="connsiteX5" fmla="*/ 966536 w 1283368"/>
              <a:gd name="connsiteY5" fmla="*/ 124398 h 717956"/>
              <a:gd name="connsiteX6" fmla="*/ 1102894 w 1283368"/>
              <a:gd name="connsiteY6" fmla="*/ 661809 h 717956"/>
              <a:gd name="connsiteX7" fmla="*/ 1283368 w 1283368"/>
              <a:gd name="connsiteY7" fmla="*/ 573577 h 717956"/>
              <a:gd name="connsiteX8" fmla="*/ 1283368 w 1283368"/>
              <a:gd name="connsiteY8" fmla="*/ 573577 h 71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68" h="717956">
                <a:moveTo>
                  <a:pt x="0" y="717956"/>
                </a:moveTo>
                <a:cubicBezTo>
                  <a:pt x="92242" y="412488"/>
                  <a:pt x="184484" y="107020"/>
                  <a:pt x="264694" y="36167"/>
                </a:cubicBezTo>
                <a:cubicBezTo>
                  <a:pt x="344904" y="-34686"/>
                  <a:pt x="413084" y="298856"/>
                  <a:pt x="481263" y="292840"/>
                </a:cubicBezTo>
                <a:cubicBezTo>
                  <a:pt x="549442" y="286824"/>
                  <a:pt x="624305" y="-5276"/>
                  <a:pt x="673768" y="72"/>
                </a:cubicBezTo>
                <a:cubicBezTo>
                  <a:pt x="723231" y="5419"/>
                  <a:pt x="729247" y="304204"/>
                  <a:pt x="778042" y="324925"/>
                </a:cubicBezTo>
                <a:cubicBezTo>
                  <a:pt x="826837" y="345646"/>
                  <a:pt x="912394" y="68251"/>
                  <a:pt x="966536" y="124398"/>
                </a:cubicBezTo>
                <a:cubicBezTo>
                  <a:pt x="1020678" y="180545"/>
                  <a:pt x="1050089" y="586946"/>
                  <a:pt x="1102894" y="661809"/>
                </a:cubicBezTo>
                <a:cubicBezTo>
                  <a:pt x="1155699" y="736672"/>
                  <a:pt x="1283368" y="573577"/>
                  <a:pt x="1283368" y="573577"/>
                </a:cubicBezTo>
                <a:lnTo>
                  <a:pt x="1283368" y="573577"/>
                </a:lnTo>
              </a:path>
            </a:pathLst>
          </a:custGeom>
          <a:noFill/>
          <a:ln w="38100">
            <a:solidFill>
              <a:srgbClr val="E5CE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cxnSp>
        <p:nvCxnSpPr>
          <p:cNvPr id="30" name="Straight Connector 29">
            <a:extLst>
              <a:ext uri="{FF2B5EF4-FFF2-40B4-BE49-F238E27FC236}">
                <a16:creationId xmlns:a16="http://schemas.microsoft.com/office/drawing/2014/main" id="{15A54568-6DB0-3032-4375-B309CE82E39D}"/>
              </a:ext>
            </a:extLst>
          </p:cNvPr>
          <p:cNvCxnSpPr>
            <a:cxnSpLocks/>
          </p:cNvCxnSpPr>
          <p:nvPr/>
        </p:nvCxnSpPr>
        <p:spPr>
          <a:xfrm>
            <a:off x="2644576" y="1992428"/>
            <a:ext cx="0" cy="54249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4FCDE91-79B0-E7CD-5F07-61B5C87CE625}"/>
              </a:ext>
            </a:extLst>
          </p:cNvPr>
          <p:cNvCxnSpPr>
            <a:cxnSpLocks/>
          </p:cNvCxnSpPr>
          <p:nvPr/>
        </p:nvCxnSpPr>
        <p:spPr>
          <a:xfrm>
            <a:off x="2644576" y="2534927"/>
            <a:ext cx="111767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Freeform 64">
            <a:extLst>
              <a:ext uri="{FF2B5EF4-FFF2-40B4-BE49-F238E27FC236}">
                <a16:creationId xmlns:a16="http://schemas.microsoft.com/office/drawing/2014/main" id="{EA8EA295-5C09-9B47-97DD-14BE9CBC9A6F}"/>
              </a:ext>
            </a:extLst>
          </p:cNvPr>
          <p:cNvSpPr/>
          <p:nvPr/>
        </p:nvSpPr>
        <p:spPr>
          <a:xfrm>
            <a:off x="822158" y="2749743"/>
            <a:ext cx="1411705" cy="803583"/>
          </a:xfrm>
          <a:custGeom>
            <a:avLst/>
            <a:gdLst>
              <a:gd name="connsiteX0" fmla="*/ 0 w 1411705"/>
              <a:gd name="connsiteY0" fmla="*/ 803583 h 803583"/>
              <a:gd name="connsiteX1" fmla="*/ 268705 w 1411705"/>
              <a:gd name="connsiteY1" fmla="*/ 394510 h 803583"/>
              <a:gd name="connsiteX2" fmla="*/ 573505 w 1411705"/>
              <a:gd name="connsiteY2" fmla="*/ 643162 h 803583"/>
              <a:gd name="connsiteX3" fmla="*/ 966537 w 1411705"/>
              <a:gd name="connsiteY3" fmla="*/ 13510 h 803583"/>
              <a:gd name="connsiteX4" fmla="*/ 1231231 w 1411705"/>
              <a:gd name="connsiteY4" fmla="*/ 202004 h 803583"/>
              <a:gd name="connsiteX5" fmla="*/ 1411705 w 1411705"/>
              <a:gd name="connsiteY5" fmla="*/ 85699 h 803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1705" h="803583">
                <a:moveTo>
                  <a:pt x="0" y="803583"/>
                </a:moveTo>
                <a:cubicBezTo>
                  <a:pt x="86560" y="612415"/>
                  <a:pt x="173121" y="421247"/>
                  <a:pt x="268705" y="394510"/>
                </a:cubicBezTo>
                <a:cubicBezTo>
                  <a:pt x="364289" y="367773"/>
                  <a:pt x="457200" y="706662"/>
                  <a:pt x="573505" y="643162"/>
                </a:cubicBezTo>
                <a:cubicBezTo>
                  <a:pt x="689810" y="579662"/>
                  <a:pt x="856916" y="87036"/>
                  <a:pt x="966537" y="13510"/>
                </a:cubicBezTo>
                <a:cubicBezTo>
                  <a:pt x="1076158" y="-60016"/>
                  <a:pt x="1157036" y="189973"/>
                  <a:pt x="1231231" y="202004"/>
                </a:cubicBezTo>
                <a:cubicBezTo>
                  <a:pt x="1305426" y="214035"/>
                  <a:pt x="1358565" y="149867"/>
                  <a:pt x="1411705" y="85699"/>
                </a:cubicBezTo>
              </a:path>
            </a:pathLst>
          </a:custGeom>
          <a:noFill/>
          <a:ln w="3810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cxnSp>
        <p:nvCxnSpPr>
          <p:cNvPr id="66" name="Straight Connector 65">
            <a:extLst>
              <a:ext uri="{FF2B5EF4-FFF2-40B4-BE49-F238E27FC236}">
                <a16:creationId xmlns:a16="http://schemas.microsoft.com/office/drawing/2014/main" id="{F0DDD2C7-6BF4-01B6-22E9-C29AE5C91CCC}"/>
              </a:ext>
            </a:extLst>
          </p:cNvPr>
          <p:cNvCxnSpPr>
            <a:cxnSpLocks/>
          </p:cNvCxnSpPr>
          <p:nvPr/>
        </p:nvCxnSpPr>
        <p:spPr>
          <a:xfrm>
            <a:off x="2632656" y="3960519"/>
            <a:ext cx="0" cy="54249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198071AC-AE2B-CBAA-13B0-2622CB5B6D5E}"/>
              </a:ext>
            </a:extLst>
          </p:cNvPr>
          <p:cNvCxnSpPr>
            <a:cxnSpLocks/>
          </p:cNvCxnSpPr>
          <p:nvPr/>
        </p:nvCxnSpPr>
        <p:spPr>
          <a:xfrm>
            <a:off x="2632656" y="4503018"/>
            <a:ext cx="111767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Freeform 67">
            <a:extLst>
              <a:ext uri="{FF2B5EF4-FFF2-40B4-BE49-F238E27FC236}">
                <a16:creationId xmlns:a16="http://schemas.microsoft.com/office/drawing/2014/main" id="{397F5620-F185-B4E4-2B3A-D5998A9DB6A1}"/>
              </a:ext>
            </a:extLst>
          </p:cNvPr>
          <p:cNvSpPr/>
          <p:nvPr/>
        </p:nvSpPr>
        <p:spPr>
          <a:xfrm>
            <a:off x="914400" y="3275509"/>
            <a:ext cx="1203158" cy="559029"/>
          </a:xfrm>
          <a:custGeom>
            <a:avLst/>
            <a:gdLst>
              <a:gd name="connsiteX0" fmla="*/ 0 w 1203158"/>
              <a:gd name="connsiteY0" fmla="*/ 354017 h 559029"/>
              <a:gd name="connsiteX1" fmla="*/ 160421 w 1203158"/>
              <a:gd name="connsiteY1" fmla="*/ 558554 h 559029"/>
              <a:gd name="connsiteX2" fmla="*/ 336884 w 1203158"/>
              <a:gd name="connsiteY2" fmla="*/ 414175 h 559029"/>
              <a:gd name="connsiteX3" fmla="*/ 509337 w 1203158"/>
              <a:gd name="connsiteY3" fmla="*/ 542512 h 559029"/>
              <a:gd name="connsiteX4" fmla="*/ 818147 w 1203158"/>
              <a:gd name="connsiteY4" fmla="*/ 1091 h 559029"/>
              <a:gd name="connsiteX5" fmla="*/ 1030705 w 1203158"/>
              <a:gd name="connsiteY5" fmla="*/ 402144 h 559029"/>
              <a:gd name="connsiteX6" fmla="*/ 1203158 w 1203158"/>
              <a:gd name="connsiteY6" fmla="*/ 390112 h 559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3158" h="559029">
                <a:moveTo>
                  <a:pt x="0" y="354017"/>
                </a:moveTo>
                <a:cubicBezTo>
                  <a:pt x="52137" y="451272"/>
                  <a:pt x="104274" y="548528"/>
                  <a:pt x="160421" y="558554"/>
                </a:cubicBezTo>
                <a:cubicBezTo>
                  <a:pt x="216568" y="568580"/>
                  <a:pt x="278732" y="416849"/>
                  <a:pt x="336884" y="414175"/>
                </a:cubicBezTo>
                <a:cubicBezTo>
                  <a:pt x="395036" y="411501"/>
                  <a:pt x="429127" y="611359"/>
                  <a:pt x="509337" y="542512"/>
                </a:cubicBezTo>
                <a:cubicBezTo>
                  <a:pt x="589548" y="473665"/>
                  <a:pt x="731252" y="24486"/>
                  <a:pt x="818147" y="1091"/>
                </a:cubicBezTo>
                <a:cubicBezTo>
                  <a:pt x="905042" y="-22304"/>
                  <a:pt x="966537" y="337307"/>
                  <a:pt x="1030705" y="402144"/>
                </a:cubicBezTo>
                <a:cubicBezTo>
                  <a:pt x="1094873" y="466981"/>
                  <a:pt x="1149015" y="428546"/>
                  <a:pt x="1203158" y="390112"/>
                </a:cubicBezTo>
              </a:path>
            </a:pathLst>
          </a:custGeom>
          <a:noFill/>
          <a:ln w="38100">
            <a:solidFill>
              <a:srgbClr val="A693B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cxnSp>
        <p:nvCxnSpPr>
          <p:cNvPr id="69" name="Straight Connector 68">
            <a:extLst>
              <a:ext uri="{FF2B5EF4-FFF2-40B4-BE49-F238E27FC236}">
                <a16:creationId xmlns:a16="http://schemas.microsoft.com/office/drawing/2014/main" id="{5034B912-85E1-3977-084D-AD4EA523B2B5}"/>
              </a:ext>
            </a:extLst>
          </p:cNvPr>
          <p:cNvCxnSpPr>
            <a:cxnSpLocks/>
          </p:cNvCxnSpPr>
          <p:nvPr/>
        </p:nvCxnSpPr>
        <p:spPr>
          <a:xfrm>
            <a:off x="2634071" y="2928242"/>
            <a:ext cx="0" cy="54249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C32894B-7D8F-210C-6C72-FD6CF2F23D0B}"/>
              </a:ext>
            </a:extLst>
          </p:cNvPr>
          <p:cNvCxnSpPr>
            <a:cxnSpLocks/>
          </p:cNvCxnSpPr>
          <p:nvPr/>
        </p:nvCxnSpPr>
        <p:spPr>
          <a:xfrm>
            <a:off x="2634071" y="3470741"/>
            <a:ext cx="111767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5B95879A-C082-4C7C-6BFF-C223827E80DD}"/>
              </a:ext>
            </a:extLst>
          </p:cNvPr>
          <p:cNvSpPr/>
          <p:nvPr/>
        </p:nvSpPr>
        <p:spPr>
          <a:xfrm>
            <a:off x="2777612" y="2504324"/>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2" name="Oval 41">
            <a:extLst>
              <a:ext uri="{FF2B5EF4-FFF2-40B4-BE49-F238E27FC236}">
                <a16:creationId xmlns:a16="http://schemas.microsoft.com/office/drawing/2014/main" id="{9F90D96E-732B-F557-2C4B-C837E72EADA6}"/>
              </a:ext>
            </a:extLst>
          </p:cNvPr>
          <p:cNvSpPr/>
          <p:nvPr/>
        </p:nvSpPr>
        <p:spPr>
          <a:xfrm>
            <a:off x="2891275" y="2504324"/>
            <a:ext cx="61205" cy="61205"/>
          </a:xfrm>
          <a:prstGeom prst="ellipse">
            <a:avLst/>
          </a:prstGeom>
          <a:solidFill>
            <a:srgbClr val="FC6B6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6" name="Oval 45">
            <a:extLst>
              <a:ext uri="{FF2B5EF4-FFF2-40B4-BE49-F238E27FC236}">
                <a16:creationId xmlns:a16="http://schemas.microsoft.com/office/drawing/2014/main" id="{680B36A3-3E8F-8509-76AF-5B2673AD00C8}"/>
              </a:ext>
            </a:extLst>
          </p:cNvPr>
          <p:cNvSpPr/>
          <p:nvPr/>
        </p:nvSpPr>
        <p:spPr>
          <a:xfrm>
            <a:off x="3106245" y="2504324"/>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7" name="Oval 46">
            <a:extLst>
              <a:ext uri="{FF2B5EF4-FFF2-40B4-BE49-F238E27FC236}">
                <a16:creationId xmlns:a16="http://schemas.microsoft.com/office/drawing/2014/main" id="{CC15B543-1567-E3AF-7269-87F1BDB38DAB}"/>
              </a:ext>
            </a:extLst>
          </p:cNvPr>
          <p:cNvSpPr/>
          <p:nvPr/>
        </p:nvSpPr>
        <p:spPr>
          <a:xfrm>
            <a:off x="3191492" y="2504324"/>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8" name="Oval 47">
            <a:extLst>
              <a:ext uri="{FF2B5EF4-FFF2-40B4-BE49-F238E27FC236}">
                <a16:creationId xmlns:a16="http://schemas.microsoft.com/office/drawing/2014/main" id="{3C49F2E9-8CCC-2350-01CC-B279A4A7BCC4}"/>
              </a:ext>
            </a:extLst>
          </p:cNvPr>
          <p:cNvSpPr/>
          <p:nvPr/>
        </p:nvSpPr>
        <p:spPr>
          <a:xfrm>
            <a:off x="3343454" y="2504324"/>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9" name="Oval 48">
            <a:extLst>
              <a:ext uri="{FF2B5EF4-FFF2-40B4-BE49-F238E27FC236}">
                <a16:creationId xmlns:a16="http://schemas.microsoft.com/office/drawing/2014/main" id="{CB042B2B-A4AB-CBE4-CED3-0E0F5EB942A2}"/>
              </a:ext>
            </a:extLst>
          </p:cNvPr>
          <p:cNvSpPr/>
          <p:nvPr/>
        </p:nvSpPr>
        <p:spPr>
          <a:xfrm>
            <a:off x="3547305" y="2504324"/>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0" name="!!Oval 49">
            <a:extLst>
              <a:ext uri="{FF2B5EF4-FFF2-40B4-BE49-F238E27FC236}">
                <a16:creationId xmlns:a16="http://schemas.microsoft.com/office/drawing/2014/main" id="{F73EA707-C9CD-FDCB-43B1-EE91B625CB91}"/>
              </a:ext>
            </a:extLst>
          </p:cNvPr>
          <p:cNvSpPr/>
          <p:nvPr/>
        </p:nvSpPr>
        <p:spPr>
          <a:xfrm>
            <a:off x="2891275" y="2505737"/>
            <a:ext cx="61205" cy="61205"/>
          </a:xfrm>
          <a:prstGeom prst="ellipse">
            <a:avLst/>
          </a:prstGeom>
          <a:solidFill>
            <a:srgbClr val="FC6B6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3" name="Oval 52">
            <a:extLst>
              <a:ext uri="{FF2B5EF4-FFF2-40B4-BE49-F238E27FC236}">
                <a16:creationId xmlns:a16="http://schemas.microsoft.com/office/drawing/2014/main" id="{8D2414A7-F6AD-CBF5-7A92-1529A3828598}"/>
              </a:ext>
            </a:extLst>
          </p:cNvPr>
          <p:cNvSpPr/>
          <p:nvPr/>
        </p:nvSpPr>
        <p:spPr>
          <a:xfrm>
            <a:off x="2777612" y="2502103"/>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4" name="Oval 53">
            <a:extLst>
              <a:ext uri="{FF2B5EF4-FFF2-40B4-BE49-F238E27FC236}">
                <a16:creationId xmlns:a16="http://schemas.microsoft.com/office/drawing/2014/main" id="{3BC88EBE-65FB-AB0B-451C-4A7FE692A33C}"/>
              </a:ext>
            </a:extLst>
          </p:cNvPr>
          <p:cNvSpPr/>
          <p:nvPr/>
        </p:nvSpPr>
        <p:spPr>
          <a:xfrm>
            <a:off x="3106245" y="2501596"/>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7" name="Oval 56">
            <a:extLst>
              <a:ext uri="{FF2B5EF4-FFF2-40B4-BE49-F238E27FC236}">
                <a16:creationId xmlns:a16="http://schemas.microsoft.com/office/drawing/2014/main" id="{D8F8A756-0045-4ADA-B0C2-322310279230}"/>
              </a:ext>
            </a:extLst>
          </p:cNvPr>
          <p:cNvSpPr/>
          <p:nvPr/>
        </p:nvSpPr>
        <p:spPr>
          <a:xfrm>
            <a:off x="3191492" y="2504931"/>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8" name="Oval 57">
            <a:extLst>
              <a:ext uri="{FF2B5EF4-FFF2-40B4-BE49-F238E27FC236}">
                <a16:creationId xmlns:a16="http://schemas.microsoft.com/office/drawing/2014/main" id="{79EE7EB0-2436-D208-7B45-5D8B6B7D8131}"/>
              </a:ext>
            </a:extLst>
          </p:cNvPr>
          <p:cNvSpPr/>
          <p:nvPr/>
        </p:nvSpPr>
        <p:spPr>
          <a:xfrm>
            <a:off x="3343454" y="2505908"/>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9" name="Oval 58">
            <a:extLst>
              <a:ext uri="{FF2B5EF4-FFF2-40B4-BE49-F238E27FC236}">
                <a16:creationId xmlns:a16="http://schemas.microsoft.com/office/drawing/2014/main" id="{9971B6D5-323A-C48D-13F5-27D4A351B430}"/>
              </a:ext>
            </a:extLst>
          </p:cNvPr>
          <p:cNvSpPr/>
          <p:nvPr/>
        </p:nvSpPr>
        <p:spPr>
          <a:xfrm>
            <a:off x="3547305" y="2506606"/>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2" name="!!pinkx1">
            <a:extLst>
              <a:ext uri="{FF2B5EF4-FFF2-40B4-BE49-F238E27FC236}">
                <a16:creationId xmlns:a16="http://schemas.microsoft.com/office/drawing/2014/main" id="{B1986FEB-4E92-1F2E-FF3D-2950D3C4E55C}"/>
              </a:ext>
            </a:extLst>
          </p:cNvPr>
          <p:cNvSpPr/>
          <p:nvPr/>
        </p:nvSpPr>
        <p:spPr>
          <a:xfrm>
            <a:off x="2741029" y="4466255"/>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3" name="!!pinkx2">
            <a:extLst>
              <a:ext uri="{FF2B5EF4-FFF2-40B4-BE49-F238E27FC236}">
                <a16:creationId xmlns:a16="http://schemas.microsoft.com/office/drawing/2014/main" id="{1B767056-687B-3DC7-4C05-24F444241917}"/>
              </a:ext>
            </a:extLst>
          </p:cNvPr>
          <p:cNvSpPr/>
          <p:nvPr/>
        </p:nvSpPr>
        <p:spPr>
          <a:xfrm>
            <a:off x="3069662" y="4466255"/>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4" name="!!pinkx3">
            <a:extLst>
              <a:ext uri="{FF2B5EF4-FFF2-40B4-BE49-F238E27FC236}">
                <a16:creationId xmlns:a16="http://schemas.microsoft.com/office/drawing/2014/main" id="{A9D36BB3-5A44-F1C2-DEC9-0EDD6C71270F}"/>
              </a:ext>
            </a:extLst>
          </p:cNvPr>
          <p:cNvSpPr/>
          <p:nvPr/>
        </p:nvSpPr>
        <p:spPr>
          <a:xfrm>
            <a:off x="3265526" y="4466255"/>
            <a:ext cx="61205" cy="61205"/>
          </a:xfrm>
          <a:prstGeom prst="ellipse">
            <a:avLst/>
          </a:prstGeom>
          <a:solidFill>
            <a:srgbClr val="FC6B6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5" name="!!pinkx4">
            <a:extLst>
              <a:ext uri="{FF2B5EF4-FFF2-40B4-BE49-F238E27FC236}">
                <a16:creationId xmlns:a16="http://schemas.microsoft.com/office/drawing/2014/main" id="{476F89DC-1EE0-994B-35C2-80C9D0CF8FFA}"/>
              </a:ext>
            </a:extLst>
          </p:cNvPr>
          <p:cNvSpPr/>
          <p:nvPr/>
        </p:nvSpPr>
        <p:spPr>
          <a:xfrm>
            <a:off x="3401497" y="4466255"/>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6" name="!!pinkx6">
            <a:extLst>
              <a:ext uri="{FF2B5EF4-FFF2-40B4-BE49-F238E27FC236}">
                <a16:creationId xmlns:a16="http://schemas.microsoft.com/office/drawing/2014/main" id="{F809A6F3-12E1-B6EB-836F-1518A31974BB}"/>
              </a:ext>
            </a:extLst>
          </p:cNvPr>
          <p:cNvSpPr/>
          <p:nvPr/>
        </p:nvSpPr>
        <p:spPr>
          <a:xfrm>
            <a:off x="3647560" y="4466255"/>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7" name="!!pinkx5">
            <a:extLst>
              <a:ext uri="{FF2B5EF4-FFF2-40B4-BE49-F238E27FC236}">
                <a16:creationId xmlns:a16="http://schemas.microsoft.com/office/drawing/2014/main" id="{5982C5FF-CC34-99E7-13E6-793286930CBE}"/>
              </a:ext>
            </a:extLst>
          </p:cNvPr>
          <p:cNvSpPr/>
          <p:nvPr/>
        </p:nvSpPr>
        <p:spPr>
          <a:xfrm>
            <a:off x="3503097" y="4466255"/>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8" name="!!pinky1">
            <a:extLst>
              <a:ext uri="{FF2B5EF4-FFF2-40B4-BE49-F238E27FC236}">
                <a16:creationId xmlns:a16="http://schemas.microsoft.com/office/drawing/2014/main" id="{35FDC8F4-9DAB-A58A-37CE-AFF162F9C07B}"/>
              </a:ext>
            </a:extLst>
          </p:cNvPr>
          <p:cNvSpPr/>
          <p:nvPr/>
        </p:nvSpPr>
        <p:spPr>
          <a:xfrm>
            <a:off x="2741029" y="4467325"/>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9" name="!!pinky2">
            <a:extLst>
              <a:ext uri="{FF2B5EF4-FFF2-40B4-BE49-F238E27FC236}">
                <a16:creationId xmlns:a16="http://schemas.microsoft.com/office/drawing/2014/main" id="{C5EFF269-B321-F12E-DE44-19CE9D7EDCF9}"/>
              </a:ext>
            </a:extLst>
          </p:cNvPr>
          <p:cNvSpPr/>
          <p:nvPr/>
        </p:nvSpPr>
        <p:spPr>
          <a:xfrm>
            <a:off x="3069662" y="4466596"/>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0" name="!!pinky3">
            <a:extLst>
              <a:ext uri="{FF2B5EF4-FFF2-40B4-BE49-F238E27FC236}">
                <a16:creationId xmlns:a16="http://schemas.microsoft.com/office/drawing/2014/main" id="{F43765F9-2105-7B73-60AD-63B3D5BD4915}"/>
              </a:ext>
            </a:extLst>
          </p:cNvPr>
          <p:cNvSpPr/>
          <p:nvPr/>
        </p:nvSpPr>
        <p:spPr>
          <a:xfrm>
            <a:off x="3265526" y="4465686"/>
            <a:ext cx="61205" cy="61205"/>
          </a:xfrm>
          <a:prstGeom prst="ellipse">
            <a:avLst/>
          </a:prstGeom>
          <a:solidFill>
            <a:srgbClr val="FC6B6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1" name="!!pinky4">
            <a:extLst>
              <a:ext uri="{FF2B5EF4-FFF2-40B4-BE49-F238E27FC236}">
                <a16:creationId xmlns:a16="http://schemas.microsoft.com/office/drawing/2014/main" id="{11CB6C53-0662-5047-119D-50E9820E6419}"/>
              </a:ext>
            </a:extLst>
          </p:cNvPr>
          <p:cNvSpPr/>
          <p:nvPr/>
        </p:nvSpPr>
        <p:spPr>
          <a:xfrm>
            <a:off x="3401497" y="4465671"/>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2" name="!!pinky6">
            <a:extLst>
              <a:ext uri="{FF2B5EF4-FFF2-40B4-BE49-F238E27FC236}">
                <a16:creationId xmlns:a16="http://schemas.microsoft.com/office/drawing/2014/main" id="{65F5966D-2B8E-286B-BA30-897E6EB16412}"/>
              </a:ext>
            </a:extLst>
          </p:cNvPr>
          <p:cNvSpPr/>
          <p:nvPr/>
        </p:nvSpPr>
        <p:spPr>
          <a:xfrm>
            <a:off x="3647560" y="4465670"/>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3" name="!!pinky5">
            <a:extLst>
              <a:ext uri="{FF2B5EF4-FFF2-40B4-BE49-F238E27FC236}">
                <a16:creationId xmlns:a16="http://schemas.microsoft.com/office/drawing/2014/main" id="{17E11B47-88C7-0781-D022-67CC68120855}"/>
              </a:ext>
            </a:extLst>
          </p:cNvPr>
          <p:cNvSpPr/>
          <p:nvPr/>
        </p:nvSpPr>
        <p:spPr>
          <a:xfrm>
            <a:off x="3503097" y="4466254"/>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4" name="!!x1">
            <a:extLst>
              <a:ext uri="{FF2B5EF4-FFF2-40B4-BE49-F238E27FC236}">
                <a16:creationId xmlns:a16="http://schemas.microsoft.com/office/drawing/2014/main" id="{4B3EA6B4-6E1A-9BAE-F87D-C9E3B08B9EF1}"/>
              </a:ext>
            </a:extLst>
          </p:cNvPr>
          <p:cNvSpPr/>
          <p:nvPr/>
        </p:nvSpPr>
        <p:spPr>
          <a:xfrm>
            <a:off x="2696157" y="3440138"/>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5" name="!!x2">
            <a:extLst>
              <a:ext uri="{FF2B5EF4-FFF2-40B4-BE49-F238E27FC236}">
                <a16:creationId xmlns:a16="http://schemas.microsoft.com/office/drawing/2014/main" id="{889D7073-0381-FB02-D623-4237A1A3779D}"/>
              </a:ext>
            </a:extLst>
          </p:cNvPr>
          <p:cNvSpPr/>
          <p:nvPr/>
        </p:nvSpPr>
        <p:spPr>
          <a:xfrm>
            <a:off x="2792749" y="3440138"/>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6" name="!!x6">
            <a:extLst>
              <a:ext uri="{FF2B5EF4-FFF2-40B4-BE49-F238E27FC236}">
                <a16:creationId xmlns:a16="http://schemas.microsoft.com/office/drawing/2014/main" id="{86D1CE6C-610A-A711-5EF3-EF7853B12D29}"/>
              </a:ext>
            </a:extLst>
          </p:cNvPr>
          <p:cNvSpPr/>
          <p:nvPr/>
        </p:nvSpPr>
        <p:spPr>
          <a:xfrm>
            <a:off x="3507773" y="3440138"/>
            <a:ext cx="61205" cy="61205"/>
          </a:xfrm>
          <a:prstGeom prst="ellipse">
            <a:avLst/>
          </a:prstGeom>
          <a:solidFill>
            <a:srgbClr val="FC6B6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7" name="!!x3">
            <a:extLst>
              <a:ext uri="{FF2B5EF4-FFF2-40B4-BE49-F238E27FC236}">
                <a16:creationId xmlns:a16="http://schemas.microsoft.com/office/drawing/2014/main" id="{7EC53572-74FE-AB6B-323F-BD79DDF35A39}"/>
              </a:ext>
            </a:extLst>
          </p:cNvPr>
          <p:cNvSpPr/>
          <p:nvPr/>
        </p:nvSpPr>
        <p:spPr>
          <a:xfrm>
            <a:off x="2931835" y="3440138"/>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8" name="!!x5">
            <a:extLst>
              <a:ext uri="{FF2B5EF4-FFF2-40B4-BE49-F238E27FC236}">
                <a16:creationId xmlns:a16="http://schemas.microsoft.com/office/drawing/2014/main" id="{FCF1ABBF-7871-291E-8888-A66879ECED93}"/>
              </a:ext>
            </a:extLst>
          </p:cNvPr>
          <p:cNvSpPr/>
          <p:nvPr/>
        </p:nvSpPr>
        <p:spPr>
          <a:xfrm>
            <a:off x="3166541" y="3440138"/>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9" name="!!x4">
            <a:extLst>
              <a:ext uri="{FF2B5EF4-FFF2-40B4-BE49-F238E27FC236}">
                <a16:creationId xmlns:a16="http://schemas.microsoft.com/office/drawing/2014/main" id="{8A301A54-9CA2-A391-A97E-39E650388085}"/>
              </a:ext>
            </a:extLst>
          </p:cNvPr>
          <p:cNvSpPr/>
          <p:nvPr/>
        </p:nvSpPr>
        <p:spPr>
          <a:xfrm>
            <a:off x="3020569" y="3440138"/>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0" name="!!y1">
            <a:extLst>
              <a:ext uri="{FF2B5EF4-FFF2-40B4-BE49-F238E27FC236}">
                <a16:creationId xmlns:a16="http://schemas.microsoft.com/office/drawing/2014/main" id="{ACBDE2E1-574F-C59C-FC57-2722B21AB4A5}"/>
              </a:ext>
            </a:extLst>
          </p:cNvPr>
          <p:cNvSpPr/>
          <p:nvPr/>
        </p:nvSpPr>
        <p:spPr>
          <a:xfrm>
            <a:off x="2696157" y="3440138"/>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1" name="!!y2">
            <a:extLst>
              <a:ext uri="{FF2B5EF4-FFF2-40B4-BE49-F238E27FC236}">
                <a16:creationId xmlns:a16="http://schemas.microsoft.com/office/drawing/2014/main" id="{6AADE6A5-6E62-2F0B-945B-785D05C669A4}"/>
              </a:ext>
            </a:extLst>
          </p:cNvPr>
          <p:cNvSpPr/>
          <p:nvPr/>
        </p:nvSpPr>
        <p:spPr>
          <a:xfrm>
            <a:off x="2792749" y="3440138"/>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2" name="!!y3">
            <a:extLst>
              <a:ext uri="{FF2B5EF4-FFF2-40B4-BE49-F238E27FC236}">
                <a16:creationId xmlns:a16="http://schemas.microsoft.com/office/drawing/2014/main" id="{42EE35DA-3D22-1034-0518-0D6C46B73B34}"/>
              </a:ext>
            </a:extLst>
          </p:cNvPr>
          <p:cNvSpPr/>
          <p:nvPr/>
        </p:nvSpPr>
        <p:spPr>
          <a:xfrm>
            <a:off x="2931835" y="3440137"/>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3" name="!!y5">
            <a:extLst>
              <a:ext uri="{FF2B5EF4-FFF2-40B4-BE49-F238E27FC236}">
                <a16:creationId xmlns:a16="http://schemas.microsoft.com/office/drawing/2014/main" id="{3D213CE7-AE94-4424-2D20-4051AC307867}"/>
              </a:ext>
            </a:extLst>
          </p:cNvPr>
          <p:cNvSpPr/>
          <p:nvPr/>
        </p:nvSpPr>
        <p:spPr>
          <a:xfrm>
            <a:off x="3166540" y="3440136"/>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4" name="!!y4">
            <a:extLst>
              <a:ext uri="{FF2B5EF4-FFF2-40B4-BE49-F238E27FC236}">
                <a16:creationId xmlns:a16="http://schemas.microsoft.com/office/drawing/2014/main" id="{7D6C61F2-8F7C-F8C1-B716-5AEDB1B0910E}"/>
              </a:ext>
            </a:extLst>
          </p:cNvPr>
          <p:cNvSpPr/>
          <p:nvPr/>
        </p:nvSpPr>
        <p:spPr>
          <a:xfrm>
            <a:off x="3020569" y="3440137"/>
            <a:ext cx="61205" cy="61205"/>
          </a:xfrm>
          <a:prstGeom prst="ellipse">
            <a:avLst/>
          </a:prstGeom>
          <a:solidFill>
            <a:srgbClr val="5787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5" name="!!y6">
            <a:extLst>
              <a:ext uri="{FF2B5EF4-FFF2-40B4-BE49-F238E27FC236}">
                <a16:creationId xmlns:a16="http://schemas.microsoft.com/office/drawing/2014/main" id="{FA6EF6FA-0721-205A-8E16-83AC8442AA59}"/>
              </a:ext>
            </a:extLst>
          </p:cNvPr>
          <p:cNvSpPr/>
          <p:nvPr/>
        </p:nvSpPr>
        <p:spPr>
          <a:xfrm>
            <a:off x="3507773" y="3440872"/>
            <a:ext cx="61205" cy="61205"/>
          </a:xfrm>
          <a:prstGeom prst="ellipse">
            <a:avLst/>
          </a:prstGeom>
          <a:solidFill>
            <a:srgbClr val="FC6B6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 name="Rectangle 1">
            <a:extLst>
              <a:ext uri="{FF2B5EF4-FFF2-40B4-BE49-F238E27FC236}">
                <a16:creationId xmlns:a16="http://schemas.microsoft.com/office/drawing/2014/main" id="{21733F58-C609-8E26-D08B-6C7731E5FEA4}"/>
              </a:ext>
            </a:extLst>
          </p:cNvPr>
          <p:cNvSpPr/>
          <p:nvPr/>
        </p:nvSpPr>
        <p:spPr>
          <a:xfrm>
            <a:off x="491203" y="6364845"/>
            <a:ext cx="1522081" cy="373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 name="Content Placeholder 2">
            <a:extLst>
              <a:ext uri="{FF2B5EF4-FFF2-40B4-BE49-F238E27FC236}">
                <a16:creationId xmlns:a16="http://schemas.microsoft.com/office/drawing/2014/main" id="{7D1D23A2-166A-652C-D850-BD91D8AF1EB7}"/>
              </a:ext>
            </a:extLst>
          </p:cNvPr>
          <p:cNvSpPr txBox="1">
            <a:spLocks/>
          </p:cNvSpPr>
          <p:nvPr/>
        </p:nvSpPr>
        <p:spPr>
          <a:xfrm>
            <a:off x="3812140" y="2419837"/>
            <a:ext cx="108245" cy="178759"/>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200">
                <a:ea typeface="Cambria Math" panose="02040503050406030204" pitchFamily="18" charset="0"/>
              </a:rPr>
              <a:t>x</a:t>
            </a:r>
          </a:p>
        </p:txBody>
      </p:sp>
      <p:sp>
        <p:nvSpPr>
          <p:cNvPr id="5" name="Content Placeholder 2">
            <a:extLst>
              <a:ext uri="{FF2B5EF4-FFF2-40B4-BE49-F238E27FC236}">
                <a16:creationId xmlns:a16="http://schemas.microsoft.com/office/drawing/2014/main" id="{ED66A794-E4EB-185C-3A42-F338ECD60FCB}"/>
              </a:ext>
            </a:extLst>
          </p:cNvPr>
          <p:cNvSpPr txBox="1">
            <a:spLocks/>
          </p:cNvSpPr>
          <p:nvPr/>
        </p:nvSpPr>
        <p:spPr>
          <a:xfrm>
            <a:off x="2541113" y="1879176"/>
            <a:ext cx="183086" cy="178759"/>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200">
                <a:ea typeface="Cambria Math" panose="02040503050406030204" pitchFamily="18" charset="0"/>
              </a:rPr>
              <a:t>y</a:t>
            </a:r>
          </a:p>
        </p:txBody>
      </p:sp>
      <p:sp>
        <p:nvSpPr>
          <p:cNvPr id="8" name="Content Placeholder 2">
            <a:extLst>
              <a:ext uri="{FF2B5EF4-FFF2-40B4-BE49-F238E27FC236}">
                <a16:creationId xmlns:a16="http://schemas.microsoft.com/office/drawing/2014/main" id="{4FF2F71B-7064-30D8-527A-19EFF80991B0}"/>
              </a:ext>
            </a:extLst>
          </p:cNvPr>
          <p:cNvSpPr txBox="1">
            <a:spLocks/>
          </p:cNvSpPr>
          <p:nvPr/>
        </p:nvSpPr>
        <p:spPr>
          <a:xfrm>
            <a:off x="3811782" y="4413638"/>
            <a:ext cx="108245" cy="178759"/>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200">
                <a:ea typeface="Cambria Math" panose="02040503050406030204" pitchFamily="18" charset="0"/>
              </a:rPr>
              <a:t>x</a:t>
            </a:r>
          </a:p>
        </p:txBody>
      </p:sp>
      <p:sp>
        <p:nvSpPr>
          <p:cNvPr id="9" name="Content Placeholder 2">
            <a:extLst>
              <a:ext uri="{FF2B5EF4-FFF2-40B4-BE49-F238E27FC236}">
                <a16:creationId xmlns:a16="http://schemas.microsoft.com/office/drawing/2014/main" id="{33338CB7-4C33-A718-ABEA-1B190A7BE464}"/>
              </a:ext>
            </a:extLst>
          </p:cNvPr>
          <p:cNvSpPr txBox="1">
            <a:spLocks/>
          </p:cNvSpPr>
          <p:nvPr/>
        </p:nvSpPr>
        <p:spPr>
          <a:xfrm>
            <a:off x="2540755" y="3872977"/>
            <a:ext cx="183086" cy="178759"/>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200">
                <a:ea typeface="Cambria Math" panose="02040503050406030204" pitchFamily="18" charset="0"/>
              </a:rPr>
              <a:t>y</a:t>
            </a:r>
          </a:p>
        </p:txBody>
      </p:sp>
      <p:sp>
        <p:nvSpPr>
          <p:cNvPr id="10" name="Content Placeholder 2">
            <a:extLst>
              <a:ext uri="{FF2B5EF4-FFF2-40B4-BE49-F238E27FC236}">
                <a16:creationId xmlns:a16="http://schemas.microsoft.com/office/drawing/2014/main" id="{49413CE8-9697-54EF-3D9F-8DF3D3874728}"/>
              </a:ext>
            </a:extLst>
          </p:cNvPr>
          <p:cNvSpPr txBox="1">
            <a:spLocks/>
          </p:cNvSpPr>
          <p:nvPr/>
        </p:nvSpPr>
        <p:spPr>
          <a:xfrm>
            <a:off x="3813197" y="3369503"/>
            <a:ext cx="108245" cy="178759"/>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200">
                <a:ea typeface="Cambria Math" panose="02040503050406030204" pitchFamily="18" charset="0"/>
              </a:rPr>
              <a:t>x</a:t>
            </a:r>
          </a:p>
        </p:txBody>
      </p:sp>
      <p:sp>
        <p:nvSpPr>
          <p:cNvPr id="13" name="Content Placeholder 2">
            <a:extLst>
              <a:ext uri="{FF2B5EF4-FFF2-40B4-BE49-F238E27FC236}">
                <a16:creationId xmlns:a16="http://schemas.microsoft.com/office/drawing/2014/main" id="{9F990013-4354-4630-506A-848683426A9D}"/>
              </a:ext>
            </a:extLst>
          </p:cNvPr>
          <p:cNvSpPr txBox="1">
            <a:spLocks/>
          </p:cNvSpPr>
          <p:nvPr/>
        </p:nvSpPr>
        <p:spPr>
          <a:xfrm>
            <a:off x="2542170" y="2828842"/>
            <a:ext cx="183086" cy="178759"/>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200">
                <a:ea typeface="Cambria Math" panose="02040503050406030204" pitchFamily="18" charset="0"/>
              </a:rPr>
              <a:t>y</a:t>
            </a:r>
          </a:p>
        </p:txBody>
      </p:sp>
      <p:sp>
        <p:nvSpPr>
          <p:cNvPr id="14" name="Titel 1">
            <a:extLst>
              <a:ext uri="{FF2B5EF4-FFF2-40B4-BE49-F238E27FC236}">
                <a16:creationId xmlns:a16="http://schemas.microsoft.com/office/drawing/2014/main" id="{AF4D080C-5843-DAD0-8A9D-1DBBE7E35E55}"/>
              </a:ext>
            </a:extLst>
          </p:cNvPr>
          <p:cNvSpPr txBox="1">
            <a:spLocks/>
          </p:cNvSpPr>
          <p:nvPr/>
        </p:nvSpPr>
        <p:spPr>
          <a:xfrm>
            <a:off x="532002" y="473802"/>
            <a:ext cx="2383473" cy="747227"/>
          </a:xfrm>
          <a:prstGeom prst="rect">
            <a:avLst/>
          </a:prstGeom>
          <a:ln>
            <a:solidFill>
              <a:schemeClr val="tx1"/>
            </a:solidFill>
          </a:ln>
        </p:spPr>
        <p:txBody>
          <a:bodyPr vert="horz" lIns="0" tIns="0" rIns="0" bIns="0" rtlCol="0" anchor="t" anchorCtr="0">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CH">
                <a:solidFill>
                  <a:srgbClr val="5787C0"/>
                </a:solidFill>
              </a:rPr>
              <a:t> ●</a:t>
            </a:r>
            <a:r>
              <a:rPr lang="en-GB" sz="1800">
                <a:solidFill>
                  <a:srgbClr val="5787C0"/>
                </a:solidFill>
              </a:rPr>
              <a:t> 	</a:t>
            </a:r>
            <a:r>
              <a:rPr lang="en-GB" sz="1800">
                <a:solidFill>
                  <a:schemeClr val="accent1">
                    <a:lumMod val="60000"/>
                    <a:lumOff val="40000"/>
                  </a:schemeClr>
                </a:solidFill>
              </a:rPr>
              <a:t>Training data</a:t>
            </a:r>
          </a:p>
          <a:p>
            <a:r>
              <a:rPr lang="en-CH">
                <a:solidFill>
                  <a:srgbClr val="FC6B65"/>
                </a:solidFill>
              </a:rPr>
              <a:t> ●	</a:t>
            </a:r>
            <a:r>
              <a:rPr lang="en-GB" sz="1800">
                <a:solidFill>
                  <a:srgbClr val="FC6B65"/>
                </a:solidFill>
              </a:rPr>
              <a:t>Test data</a:t>
            </a:r>
          </a:p>
          <a:p>
            <a:endParaRPr lang="de-CH" sz="1800"/>
          </a:p>
        </p:txBody>
      </p:sp>
      <p:sp>
        <p:nvSpPr>
          <p:cNvPr id="15" name="TextBox 14">
            <a:extLst>
              <a:ext uri="{FF2B5EF4-FFF2-40B4-BE49-F238E27FC236}">
                <a16:creationId xmlns:a16="http://schemas.microsoft.com/office/drawing/2014/main" id="{C7D6F064-03F8-44DE-12F9-4A7F2D134463}"/>
              </a:ext>
            </a:extLst>
          </p:cNvPr>
          <p:cNvSpPr txBox="1"/>
          <p:nvPr/>
        </p:nvSpPr>
        <p:spPr>
          <a:xfrm>
            <a:off x="192411" y="4887517"/>
            <a:ext cx="3503042" cy="1477328"/>
          </a:xfrm>
          <a:prstGeom prst="rect">
            <a:avLst/>
          </a:prstGeom>
          <a:noFill/>
        </p:spPr>
        <p:txBody>
          <a:bodyPr wrap="square" rtlCol="0">
            <a:spAutoFit/>
          </a:bodyPr>
          <a:lstStyle/>
          <a:p>
            <a:pPr algn="ctr"/>
            <a:r>
              <a:rPr lang="en-CH" b="1"/>
              <a:t>Prior</a:t>
            </a:r>
            <a:br>
              <a:rPr lang="en-CH" b="1"/>
            </a:br>
            <a:br>
              <a:rPr lang="en-CH"/>
            </a:br>
            <a:r>
              <a:rPr lang="en-CH"/>
              <a:t>Generate K </a:t>
            </a:r>
            <a:r>
              <a:rPr lang="en-CH" b="1"/>
              <a:t>synthetic datasets</a:t>
            </a:r>
            <a:r>
              <a:rPr lang="en-CH"/>
              <a:t> by sampling from a prior p(t) over </a:t>
            </a:r>
            <a:r>
              <a:rPr lang="en-CH" b="1"/>
              <a:t>supervised</a:t>
            </a:r>
            <a:r>
              <a:rPr lang="en-CH"/>
              <a:t> </a:t>
            </a:r>
            <a:r>
              <a:rPr lang="en-CH" b="1"/>
              <a:t>learning</a:t>
            </a:r>
            <a:r>
              <a:rPr lang="en-CH"/>
              <a:t> </a:t>
            </a:r>
            <a:r>
              <a:rPr lang="en-CH" b="1"/>
              <a:t>tasks</a:t>
            </a:r>
            <a:endParaRPr lang="en-CH"/>
          </a:p>
        </p:txBody>
      </p:sp>
    </p:spTree>
    <p:extLst>
      <p:ext uri="{BB962C8B-B14F-4D97-AF65-F5344CB8AC3E}">
        <p14:creationId xmlns:p14="http://schemas.microsoft.com/office/powerpoint/2010/main" val="411425738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500"/>
                                  </p:stCondLst>
                                  <p:childTnLst>
                                    <p:set>
                                      <p:cBhvr>
                                        <p:cTn id="25" dur="1" fill="hold">
                                          <p:stCondLst>
                                            <p:cond delay="0"/>
                                          </p:stCondLst>
                                        </p:cTn>
                                        <p:tgtEl>
                                          <p:spTgt spid="36"/>
                                        </p:tgtEl>
                                        <p:attrNameLst>
                                          <p:attrName>style.visibility</p:attrName>
                                        </p:attrNameLst>
                                      </p:cBhvr>
                                      <p:to>
                                        <p:strVal val="visible"/>
                                      </p:to>
                                    </p:set>
                                  </p:childTnLst>
                                </p:cTn>
                              </p:par>
                            </p:childTnLst>
                          </p:cTn>
                        </p:par>
                        <p:par>
                          <p:cTn id="26" fill="hold">
                            <p:stCondLst>
                              <p:cond delay="500"/>
                            </p:stCondLst>
                            <p:childTnLst>
                              <p:par>
                                <p:cTn id="27" presetID="1" presetClass="entr" presetSubtype="0" fill="hold" grpId="0" nodeType="after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46"/>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grpId="0" nodeType="afterEffect">
                                  <p:stCondLst>
                                    <p:cond delay="0"/>
                                  </p:stCondLst>
                                  <p:childTnLst>
                                    <p:set>
                                      <p:cBhvr>
                                        <p:cTn id="37" dur="1" fill="hold">
                                          <p:stCondLst>
                                            <p:cond delay="0"/>
                                          </p:stCondLst>
                                        </p:cTn>
                                        <p:tgtEl>
                                          <p:spTgt spid="48"/>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grpId="0" nodeType="afterEffect">
                                  <p:stCondLst>
                                    <p:cond delay="0"/>
                                  </p:stCondLst>
                                  <p:childTnLst>
                                    <p:set>
                                      <p:cBhvr>
                                        <p:cTn id="40" dur="1" fill="hold">
                                          <p:stCondLst>
                                            <p:cond delay="0"/>
                                          </p:stCondLst>
                                        </p:cTn>
                                        <p:tgtEl>
                                          <p:spTgt spid="49"/>
                                        </p:tgtEl>
                                        <p:attrNameLst>
                                          <p:attrName>style.visibility</p:attrName>
                                        </p:attrNameLst>
                                      </p:cBhvr>
                                      <p:to>
                                        <p:strVal val="visible"/>
                                      </p:to>
                                    </p:set>
                                  </p:childTnLst>
                                </p:cTn>
                              </p:par>
                            </p:childTnLst>
                          </p:cTn>
                        </p:par>
                        <p:par>
                          <p:cTn id="41" fill="hold">
                            <p:stCondLst>
                              <p:cond delay="500"/>
                            </p:stCondLst>
                            <p:childTnLst>
                              <p:par>
                                <p:cTn id="42" presetID="1" presetClass="entr" presetSubtype="0" fill="hold" grpId="1" nodeType="afterEffect">
                                  <p:stCondLst>
                                    <p:cond delay="0"/>
                                  </p:stCondLst>
                                  <p:childTnLst>
                                    <p:set>
                                      <p:cBhvr>
                                        <p:cTn id="43" dur="1" fill="hold">
                                          <p:stCondLst>
                                            <p:cond delay="0"/>
                                          </p:stCondLst>
                                        </p:cTn>
                                        <p:tgtEl>
                                          <p:spTgt spid="50"/>
                                        </p:tgtEl>
                                        <p:attrNameLst>
                                          <p:attrName>style.visibility</p:attrName>
                                        </p:attrNameLst>
                                      </p:cBhvr>
                                      <p:to>
                                        <p:strVal val="visible"/>
                                      </p:to>
                                    </p:set>
                                  </p:childTnLst>
                                </p:cTn>
                              </p:par>
                            </p:childTnLst>
                          </p:cTn>
                        </p:par>
                        <p:par>
                          <p:cTn id="44" fill="hold">
                            <p:stCondLst>
                              <p:cond delay="500"/>
                            </p:stCondLst>
                            <p:childTnLst>
                              <p:par>
                                <p:cTn id="45" presetID="1" presetClass="entr" presetSubtype="0" fill="hold" grpId="1" nodeType="after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childTnLst>
                          </p:cTn>
                        </p:par>
                        <p:par>
                          <p:cTn id="47" fill="hold">
                            <p:stCondLst>
                              <p:cond delay="500"/>
                            </p:stCondLst>
                            <p:childTnLst>
                              <p:par>
                                <p:cTn id="48" presetID="1" presetClass="entr" presetSubtype="0" fill="hold" grpId="1" nodeType="afterEffect">
                                  <p:stCondLst>
                                    <p:cond delay="0"/>
                                  </p:stCondLst>
                                  <p:childTnLst>
                                    <p:set>
                                      <p:cBhvr>
                                        <p:cTn id="49" dur="1" fill="hold">
                                          <p:stCondLst>
                                            <p:cond delay="0"/>
                                          </p:stCondLst>
                                        </p:cTn>
                                        <p:tgtEl>
                                          <p:spTgt spid="54"/>
                                        </p:tgtEl>
                                        <p:attrNameLst>
                                          <p:attrName>style.visibility</p:attrName>
                                        </p:attrNameLst>
                                      </p:cBhvr>
                                      <p:to>
                                        <p:strVal val="visible"/>
                                      </p:to>
                                    </p:set>
                                  </p:childTnLst>
                                </p:cTn>
                              </p:par>
                            </p:childTnLst>
                          </p:cTn>
                        </p:par>
                        <p:par>
                          <p:cTn id="50" fill="hold">
                            <p:stCondLst>
                              <p:cond delay="500"/>
                            </p:stCondLst>
                            <p:childTnLst>
                              <p:par>
                                <p:cTn id="51" presetID="1" presetClass="entr" presetSubtype="0" fill="hold" grpId="1" nodeType="afterEffect">
                                  <p:stCondLst>
                                    <p:cond delay="0"/>
                                  </p:stCondLst>
                                  <p:childTnLst>
                                    <p:set>
                                      <p:cBhvr>
                                        <p:cTn id="52" dur="1" fill="hold">
                                          <p:stCondLst>
                                            <p:cond delay="0"/>
                                          </p:stCondLst>
                                        </p:cTn>
                                        <p:tgtEl>
                                          <p:spTgt spid="57"/>
                                        </p:tgtEl>
                                        <p:attrNameLst>
                                          <p:attrName>style.visibility</p:attrName>
                                        </p:attrNameLst>
                                      </p:cBhvr>
                                      <p:to>
                                        <p:strVal val="visible"/>
                                      </p:to>
                                    </p:set>
                                  </p:childTnLst>
                                </p:cTn>
                              </p:par>
                            </p:childTnLst>
                          </p:cTn>
                        </p:par>
                        <p:par>
                          <p:cTn id="53" fill="hold">
                            <p:stCondLst>
                              <p:cond delay="500"/>
                            </p:stCondLst>
                            <p:childTnLst>
                              <p:par>
                                <p:cTn id="54" presetID="1" presetClass="entr" presetSubtype="0" fill="hold" grpId="1" nodeType="afterEffect">
                                  <p:stCondLst>
                                    <p:cond delay="0"/>
                                  </p:stCondLst>
                                  <p:childTnLst>
                                    <p:set>
                                      <p:cBhvr>
                                        <p:cTn id="55" dur="1" fill="hold">
                                          <p:stCondLst>
                                            <p:cond delay="0"/>
                                          </p:stCondLst>
                                        </p:cTn>
                                        <p:tgtEl>
                                          <p:spTgt spid="58"/>
                                        </p:tgtEl>
                                        <p:attrNameLst>
                                          <p:attrName>style.visibility</p:attrName>
                                        </p:attrNameLst>
                                      </p:cBhvr>
                                      <p:to>
                                        <p:strVal val="visible"/>
                                      </p:to>
                                    </p:set>
                                  </p:childTnLst>
                                </p:cTn>
                              </p:par>
                            </p:childTnLst>
                          </p:cTn>
                        </p:par>
                        <p:par>
                          <p:cTn id="56" fill="hold">
                            <p:stCondLst>
                              <p:cond delay="500"/>
                            </p:stCondLst>
                            <p:childTnLst>
                              <p:par>
                                <p:cTn id="57" presetID="1" presetClass="entr" presetSubtype="0" fill="hold" grpId="1" nodeType="after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childTnLst>
                          </p:cTn>
                        </p:par>
                        <p:par>
                          <p:cTn id="59" fill="hold">
                            <p:stCondLst>
                              <p:cond delay="500"/>
                            </p:stCondLst>
                            <p:childTnLst>
                              <p:par>
                                <p:cTn id="60" presetID="1" presetClass="entr" presetSubtype="0" fill="hold" grpId="0" nodeType="afterEffect">
                                  <p:stCondLst>
                                    <p:cond delay="0"/>
                                  </p:stCondLst>
                                  <p:childTnLst>
                                    <p:set>
                                      <p:cBhvr>
                                        <p:cTn id="61" dur="1" fill="hold">
                                          <p:stCondLst>
                                            <p:cond delay="0"/>
                                          </p:stCondLst>
                                        </p:cTn>
                                        <p:tgtEl>
                                          <p:spTgt spid="72"/>
                                        </p:tgtEl>
                                        <p:attrNameLst>
                                          <p:attrName>style.visibility</p:attrName>
                                        </p:attrNameLst>
                                      </p:cBhvr>
                                      <p:to>
                                        <p:strVal val="visible"/>
                                      </p:to>
                                    </p:set>
                                  </p:childTnLst>
                                </p:cTn>
                              </p:par>
                            </p:childTnLst>
                          </p:cTn>
                        </p:par>
                        <p:par>
                          <p:cTn id="62" fill="hold">
                            <p:stCondLst>
                              <p:cond delay="500"/>
                            </p:stCondLst>
                            <p:childTnLst>
                              <p:par>
                                <p:cTn id="63" presetID="1" presetClass="entr" presetSubtype="0" fill="hold" grpId="0" nodeType="afterEffect">
                                  <p:stCondLst>
                                    <p:cond delay="0"/>
                                  </p:stCondLst>
                                  <p:childTnLst>
                                    <p:set>
                                      <p:cBhvr>
                                        <p:cTn id="64" dur="1" fill="hold">
                                          <p:stCondLst>
                                            <p:cond delay="0"/>
                                          </p:stCondLst>
                                        </p:cTn>
                                        <p:tgtEl>
                                          <p:spTgt spid="73"/>
                                        </p:tgtEl>
                                        <p:attrNameLst>
                                          <p:attrName>style.visibility</p:attrName>
                                        </p:attrNameLst>
                                      </p:cBhvr>
                                      <p:to>
                                        <p:strVal val="visible"/>
                                      </p:to>
                                    </p:set>
                                  </p:childTnLst>
                                </p:cTn>
                              </p:par>
                            </p:childTnLst>
                          </p:cTn>
                        </p:par>
                        <p:par>
                          <p:cTn id="65" fill="hold">
                            <p:stCondLst>
                              <p:cond delay="500"/>
                            </p:stCondLst>
                            <p:childTnLst>
                              <p:par>
                                <p:cTn id="66" presetID="1" presetClass="entr" presetSubtype="0" fill="hold" grpId="0" nodeType="afterEffect">
                                  <p:stCondLst>
                                    <p:cond delay="0"/>
                                  </p:stCondLst>
                                  <p:childTnLst>
                                    <p:set>
                                      <p:cBhvr>
                                        <p:cTn id="67" dur="1" fill="hold">
                                          <p:stCondLst>
                                            <p:cond delay="0"/>
                                          </p:stCondLst>
                                        </p:cTn>
                                        <p:tgtEl>
                                          <p:spTgt spid="74"/>
                                        </p:tgtEl>
                                        <p:attrNameLst>
                                          <p:attrName>style.visibility</p:attrName>
                                        </p:attrNameLst>
                                      </p:cBhvr>
                                      <p:to>
                                        <p:strVal val="visible"/>
                                      </p:to>
                                    </p:set>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75"/>
                                        </p:tgtEl>
                                        <p:attrNameLst>
                                          <p:attrName>style.visibility</p:attrName>
                                        </p:attrNameLst>
                                      </p:cBhvr>
                                      <p:to>
                                        <p:strVal val="visible"/>
                                      </p:to>
                                    </p:set>
                                  </p:childTnLst>
                                </p:cTn>
                              </p:par>
                            </p:childTnLst>
                          </p:cTn>
                        </p:par>
                        <p:par>
                          <p:cTn id="71" fill="hold">
                            <p:stCondLst>
                              <p:cond delay="500"/>
                            </p:stCondLst>
                            <p:childTnLst>
                              <p:par>
                                <p:cTn id="72" presetID="1" presetClass="entr" presetSubtype="0" fill="hold" grpId="0" nodeType="afterEffect">
                                  <p:stCondLst>
                                    <p:cond delay="0"/>
                                  </p:stCondLst>
                                  <p:childTnLst>
                                    <p:set>
                                      <p:cBhvr>
                                        <p:cTn id="73" dur="1" fill="hold">
                                          <p:stCondLst>
                                            <p:cond delay="0"/>
                                          </p:stCondLst>
                                        </p:cTn>
                                        <p:tgtEl>
                                          <p:spTgt spid="76"/>
                                        </p:tgtEl>
                                        <p:attrNameLst>
                                          <p:attrName>style.visibility</p:attrName>
                                        </p:attrNameLst>
                                      </p:cBhvr>
                                      <p:to>
                                        <p:strVal val="visible"/>
                                      </p:to>
                                    </p:set>
                                  </p:childTnLst>
                                </p:cTn>
                              </p:par>
                            </p:childTnLst>
                          </p:cTn>
                        </p:par>
                        <p:par>
                          <p:cTn id="74" fill="hold">
                            <p:stCondLst>
                              <p:cond delay="500"/>
                            </p:stCondLst>
                            <p:childTnLst>
                              <p:par>
                                <p:cTn id="75" presetID="1" presetClass="entr" presetSubtype="0" fill="hold" grpId="0" nodeType="afterEffect">
                                  <p:stCondLst>
                                    <p:cond delay="0"/>
                                  </p:stCondLst>
                                  <p:childTnLst>
                                    <p:set>
                                      <p:cBhvr>
                                        <p:cTn id="76" dur="1" fill="hold">
                                          <p:stCondLst>
                                            <p:cond delay="0"/>
                                          </p:stCondLst>
                                        </p:cTn>
                                        <p:tgtEl>
                                          <p:spTgt spid="77"/>
                                        </p:tgtEl>
                                        <p:attrNameLst>
                                          <p:attrName>style.visibility</p:attrName>
                                        </p:attrNameLst>
                                      </p:cBhvr>
                                      <p:to>
                                        <p:strVal val="visible"/>
                                      </p:to>
                                    </p:set>
                                  </p:childTnLst>
                                </p:cTn>
                              </p:par>
                            </p:childTnLst>
                          </p:cTn>
                        </p:par>
                        <p:par>
                          <p:cTn id="77" fill="hold">
                            <p:stCondLst>
                              <p:cond delay="500"/>
                            </p:stCondLst>
                            <p:childTnLst>
                              <p:par>
                                <p:cTn id="78" presetID="1" presetClass="entr" presetSubtype="0" fill="hold" grpId="1" nodeType="afterEffect">
                                  <p:stCondLst>
                                    <p:cond delay="0"/>
                                  </p:stCondLst>
                                  <p:childTnLst>
                                    <p:set>
                                      <p:cBhvr>
                                        <p:cTn id="79" dur="1" fill="hold">
                                          <p:stCondLst>
                                            <p:cond delay="0"/>
                                          </p:stCondLst>
                                        </p:cTn>
                                        <p:tgtEl>
                                          <p:spTgt spid="78"/>
                                        </p:tgtEl>
                                        <p:attrNameLst>
                                          <p:attrName>style.visibility</p:attrName>
                                        </p:attrNameLst>
                                      </p:cBhvr>
                                      <p:to>
                                        <p:strVal val="visible"/>
                                      </p:to>
                                    </p:set>
                                  </p:childTnLst>
                                </p:cTn>
                              </p:par>
                            </p:childTnLst>
                          </p:cTn>
                        </p:par>
                        <p:par>
                          <p:cTn id="80" fill="hold">
                            <p:stCondLst>
                              <p:cond delay="500"/>
                            </p:stCondLst>
                            <p:childTnLst>
                              <p:par>
                                <p:cTn id="81" presetID="1" presetClass="entr" presetSubtype="0" fill="hold" grpId="1" nodeType="afterEffect">
                                  <p:stCondLst>
                                    <p:cond delay="0"/>
                                  </p:stCondLst>
                                  <p:childTnLst>
                                    <p:set>
                                      <p:cBhvr>
                                        <p:cTn id="82" dur="1" fill="hold">
                                          <p:stCondLst>
                                            <p:cond delay="0"/>
                                          </p:stCondLst>
                                        </p:cTn>
                                        <p:tgtEl>
                                          <p:spTgt spid="79"/>
                                        </p:tgtEl>
                                        <p:attrNameLst>
                                          <p:attrName>style.visibility</p:attrName>
                                        </p:attrNameLst>
                                      </p:cBhvr>
                                      <p:to>
                                        <p:strVal val="visible"/>
                                      </p:to>
                                    </p:set>
                                  </p:childTnLst>
                                </p:cTn>
                              </p:par>
                            </p:childTnLst>
                          </p:cTn>
                        </p:par>
                        <p:par>
                          <p:cTn id="83" fill="hold">
                            <p:stCondLst>
                              <p:cond delay="500"/>
                            </p:stCondLst>
                            <p:childTnLst>
                              <p:par>
                                <p:cTn id="84" presetID="1" presetClass="entr" presetSubtype="0" fill="hold" grpId="1" nodeType="afterEffect">
                                  <p:stCondLst>
                                    <p:cond delay="0"/>
                                  </p:stCondLst>
                                  <p:childTnLst>
                                    <p:set>
                                      <p:cBhvr>
                                        <p:cTn id="85" dur="1" fill="hold">
                                          <p:stCondLst>
                                            <p:cond delay="0"/>
                                          </p:stCondLst>
                                        </p:cTn>
                                        <p:tgtEl>
                                          <p:spTgt spid="80"/>
                                        </p:tgtEl>
                                        <p:attrNameLst>
                                          <p:attrName>style.visibility</p:attrName>
                                        </p:attrNameLst>
                                      </p:cBhvr>
                                      <p:to>
                                        <p:strVal val="visible"/>
                                      </p:to>
                                    </p:set>
                                  </p:childTnLst>
                                </p:cTn>
                              </p:par>
                            </p:childTnLst>
                          </p:cTn>
                        </p:par>
                        <p:par>
                          <p:cTn id="86" fill="hold">
                            <p:stCondLst>
                              <p:cond delay="500"/>
                            </p:stCondLst>
                            <p:childTnLst>
                              <p:par>
                                <p:cTn id="87" presetID="1" presetClass="entr" presetSubtype="0" fill="hold" grpId="1" nodeType="afterEffect">
                                  <p:stCondLst>
                                    <p:cond delay="0"/>
                                  </p:stCondLst>
                                  <p:childTnLst>
                                    <p:set>
                                      <p:cBhvr>
                                        <p:cTn id="88" dur="1" fill="hold">
                                          <p:stCondLst>
                                            <p:cond delay="0"/>
                                          </p:stCondLst>
                                        </p:cTn>
                                        <p:tgtEl>
                                          <p:spTgt spid="81"/>
                                        </p:tgtEl>
                                        <p:attrNameLst>
                                          <p:attrName>style.visibility</p:attrName>
                                        </p:attrNameLst>
                                      </p:cBhvr>
                                      <p:to>
                                        <p:strVal val="visible"/>
                                      </p:to>
                                    </p:set>
                                  </p:childTnLst>
                                </p:cTn>
                              </p:par>
                            </p:childTnLst>
                          </p:cTn>
                        </p:par>
                        <p:par>
                          <p:cTn id="89" fill="hold">
                            <p:stCondLst>
                              <p:cond delay="500"/>
                            </p:stCondLst>
                            <p:childTnLst>
                              <p:par>
                                <p:cTn id="90" presetID="1" presetClass="entr" presetSubtype="0" fill="hold" grpId="1" nodeType="afterEffect">
                                  <p:stCondLst>
                                    <p:cond delay="0"/>
                                  </p:stCondLst>
                                  <p:childTnLst>
                                    <p:set>
                                      <p:cBhvr>
                                        <p:cTn id="91" dur="1" fill="hold">
                                          <p:stCondLst>
                                            <p:cond delay="0"/>
                                          </p:stCondLst>
                                        </p:cTn>
                                        <p:tgtEl>
                                          <p:spTgt spid="82"/>
                                        </p:tgtEl>
                                        <p:attrNameLst>
                                          <p:attrName>style.visibility</p:attrName>
                                        </p:attrNameLst>
                                      </p:cBhvr>
                                      <p:to>
                                        <p:strVal val="visible"/>
                                      </p:to>
                                    </p:set>
                                  </p:childTnLst>
                                </p:cTn>
                              </p:par>
                            </p:childTnLst>
                          </p:cTn>
                        </p:par>
                        <p:par>
                          <p:cTn id="92" fill="hold">
                            <p:stCondLst>
                              <p:cond delay="500"/>
                            </p:stCondLst>
                            <p:childTnLst>
                              <p:par>
                                <p:cTn id="93" presetID="1" presetClass="entr" presetSubtype="0" fill="hold" grpId="1" nodeType="afterEffect">
                                  <p:stCondLst>
                                    <p:cond delay="0"/>
                                  </p:stCondLst>
                                  <p:childTnLst>
                                    <p:set>
                                      <p:cBhvr>
                                        <p:cTn id="94" dur="1" fill="hold">
                                          <p:stCondLst>
                                            <p:cond delay="0"/>
                                          </p:stCondLst>
                                        </p:cTn>
                                        <p:tgtEl>
                                          <p:spTgt spid="83"/>
                                        </p:tgtEl>
                                        <p:attrNameLst>
                                          <p:attrName>style.visibility</p:attrName>
                                        </p:attrNameLst>
                                      </p:cBhvr>
                                      <p:to>
                                        <p:strVal val="visible"/>
                                      </p:to>
                                    </p:set>
                                  </p:childTnLst>
                                </p:cTn>
                              </p:par>
                            </p:childTnLst>
                          </p:cTn>
                        </p:par>
                        <p:par>
                          <p:cTn id="95" fill="hold">
                            <p:stCondLst>
                              <p:cond delay="500"/>
                            </p:stCondLst>
                            <p:childTnLst>
                              <p:par>
                                <p:cTn id="96" presetID="1" presetClass="entr" presetSubtype="0" fill="hold" grpId="0" nodeType="afterEffect">
                                  <p:stCondLst>
                                    <p:cond delay="0"/>
                                  </p:stCondLst>
                                  <p:childTnLst>
                                    <p:set>
                                      <p:cBhvr>
                                        <p:cTn id="97" dur="1" fill="hold">
                                          <p:stCondLst>
                                            <p:cond delay="0"/>
                                          </p:stCondLst>
                                        </p:cTn>
                                        <p:tgtEl>
                                          <p:spTgt spid="84"/>
                                        </p:tgtEl>
                                        <p:attrNameLst>
                                          <p:attrName>style.visibility</p:attrName>
                                        </p:attrNameLst>
                                      </p:cBhvr>
                                      <p:to>
                                        <p:strVal val="visible"/>
                                      </p:to>
                                    </p:set>
                                  </p:childTnLst>
                                </p:cTn>
                              </p:par>
                            </p:childTnLst>
                          </p:cTn>
                        </p:par>
                        <p:par>
                          <p:cTn id="98" fill="hold">
                            <p:stCondLst>
                              <p:cond delay="500"/>
                            </p:stCondLst>
                            <p:childTnLst>
                              <p:par>
                                <p:cTn id="99" presetID="1" presetClass="entr" presetSubtype="0" fill="hold" grpId="0" nodeType="afterEffect">
                                  <p:stCondLst>
                                    <p:cond delay="0"/>
                                  </p:stCondLst>
                                  <p:childTnLst>
                                    <p:set>
                                      <p:cBhvr>
                                        <p:cTn id="100" dur="1" fill="hold">
                                          <p:stCondLst>
                                            <p:cond delay="0"/>
                                          </p:stCondLst>
                                        </p:cTn>
                                        <p:tgtEl>
                                          <p:spTgt spid="85"/>
                                        </p:tgtEl>
                                        <p:attrNameLst>
                                          <p:attrName>style.visibility</p:attrName>
                                        </p:attrNameLst>
                                      </p:cBhvr>
                                      <p:to>
                                        <p:strVal val="visible"/>
                                      </p:to>
                                    </p:set>
                                  </p:childTnLst>
                                </p:cTn>
                              </p:par>
                            </p:childTnLst>
                          </p:cTn>
                        </p:par>
                        <p:par>
                          <p:cTn id="101" fill="hold">
                            <p:stCondLst>
                              <p:cond delay="500"/>
                            </p:stCondLst>
                            <p:childTnLst>
                              <p:par>
                                <p:cTn id="102" presetID="1" presetClass="entr" presetSubtype="0" fill="hold" grpId="0" nodeType="afterEffect">
                                  <p:stCondLst>
                                    <p:cond delay="0"/>
                                  </p:stCondLst>
                                  <p:childTnLst>
                                    <p:set>
                                      <p:cBhvr>
                                        <p:cTn id="103" dur="1" fill="hold">
                                          <p:stCondLst>
                                            <p:cond delay="0"/>
                                          </p:stCondLst>
                                        </p:cTn>
                                        <p:tgtEl>
                                          <p:spTgt spid="86"/>
                                        </p:tgtEl>
                                        <p:attrNameLst>
                                          <p:attrName>style.visibility</p:attrName>
                                        </p:attrNameLst>
                                      </p:cBhvr>
                                      <p:to>
                                        <p:strVal val="visible"/>
                                      </p:to>
                                    </p:set>
                                  </p:childTnLst>
                                </p:cTn>
                              </p:par>
                            </p:childTnLst>
                          </p:cTn>
                        </p:par>
                        <p:par>
                          <p:cTn id="104" fill="hold">
                            <p:stCondLst>
                              <p:cond delay="500"/>
                            </p:stCondLst>
                            <p:childTnLst>
                              <p:par>
                                <p:cTn id="105" presetID="1" presetClass="entr" presetSubtype="0" fill="hold" grpId="0" nodeType="afterEffect">
                                  <p:stCondLst>
                                    <p:cond delay="0"/>
                                  </p:stCondLst>
                                  <p:childTnLst>
                                    <p:set>
                                      <p:cBhvr>
                                        <p:cTn id="106" dur="1" fill="hold">
                                          <p:stCondLst>
                                            <p:cond delay="0"/>
                                          </p:stCondLst>
                                        </p:cTn>
                                        <p:tgtEl>
                                          <p:spTgt spid="87"/>
                                        </p:tgtEl>
                                        <p:attrNameLst>
                                          <p:attrName>style.visibility</p:attrName>
                                        </p:attrNameLst>
                                      </p:cBhvr>
                                      <p:to>
                                        <p:strVal val="visible"/>
                                      </p:to>
                                    </p:set>
                                  </p:childTnLst>
                                </p:cTn>
                              </p:par>
                            </p:childTnLst>
                          </p:cTn>
                        </p:par>
                        <p:par>
                          <p:cTn id="107" fill="hold">
                            <p:stCondLst>
                              <p:cond delay="500"/>
                            </p:stCondLst>
                            <p:childTnLst>
                              <p:par>
                                <p:cTn id="108" presetID="1" presetClass="entr" presetSubtype="0" fill="hold" grpId="0" nodeType="afterEffect">
                                  <p:stCondLst>
                                    <p:cond delay="0"/>
                                  </p:stCondLst>
                                  <p:childTnLst>
                                    <p:set>
                                      <p:cBhvr>
                                        <p:cTn id="109" dur="1" fill="hold">
                                          <p:stCondLst>
                                            <p:cond delay="0"/>
                                          </p:stCondLst>
                                        </p:cTn>
                                        <p:tgtEl>
                                          <p:spTgt spid="88"/>
                                        </p:tgtEl>
                                        <p:attrNameLst>
                                          <p:attrName>style.visibility</p:attrName>
                                        </p:attrNameLst>
                                      </p:cBhvr>
                                      <p:to>
                                        <p:strVal val="visible"/>
                                      </p:to>
                                    </p:set>
                                  </p:childTnLst>
                                </p:cTn>
                              </p:par>
                            </p:childTnLst>
                          </p:cTn>
                        </p:par>
                        <p:par>
                          <p:cTn id="110" fill="hold">
                            <p:stCondLst>
                              <p:cond delay="500"/>
                            </p:stCondLst>
                            <p:childTnLst>
                              <p:par>
                                <p:cTn id="111" presetID="1" presetClass="entr" presetSubtype="0" fill="hold" grpId="0" nodeType="afterEffect">
                                  <p:stCondLst>
                                    <p:cond delay="0"/>
                                  </p:stCondLst>
                                  <p:childTnLst>
                                    <p:set>
                                      <p:cBhvr>
                                        <p:cTn id="112" dur="1" fill="hold">
                                          <p:stCondLst>
                                            <p:cond delay="0"/>
                                          </p:stCondLst>
                                        </p:cTn>
                                        <p:tgtEl>
                                          <p:spTgt spid="89"/>
                                        </p:tgtEl>
                                        <p:attrNameLst>
                                          <p:attrName>style.visibility</p:attrName>
                                        </p:attrNameLst>
                                      </p:cBhvr>
                                      <p:to>
                                        <p:strVal val="visible"/>
                                      </p:to>
                                    </p:set>
                                  </p:childTnLst>
                                </p:cTn>
                              </p:par>
                            </p:childTnLst>
                          </p:cTn>
                        </p:par>
                        <p:par>
                          <p:cTn id="113" fill="hold">
                            <p:stCondLst>
                              <p:cond delay="500"/>
                            </p:stCondLst>
                            <p:childTnLst>
                              <p:par>
                                <p:cTn id="114" presetID="1" presetClass="entr" presetSubtype="0" fill="hold" grpId="1" nodeType="afterEffect">
                                  <p:stCondLst>
                                    <p:cond delay="0"/>
                                  </p:stCondLst>
                                  <p:childTnLst>
                                    <p:set>
                                      <p:cBhvr>
                                        <p:cTn id="115" dur="1" fill="hold">
                                          <p:stCondLst>
                                            <p:cond delay="0"/>
                                          </p:stCondLst>
                                        </p:cTn>
                                        <p:tgtEl>
                                          <p:spTgt spid="90"/>
                                        </p:tgtEl>
                                        <p:attrNameLst>
                                          <p:attrName>style.visibility</p:attrName>
                                        </p:attrNameLst>
                                      </p:cBhvr>
                                      <p:to>
                                        <p:strVal val="visible"/>
                                      </p:to>
                                    </p:set>
                                  </p:childTnLst>
                                </p:cTn>
                              </p:par>
                            </p:childTnLst>
                          </p:cTn>
                        </p:par>
                        <p:par>
                          <p:cTn id="116" fill="hold">
                            <p:stCondLst>
                              <p:cond delay="500"/>
                            </p:stCondLst>
                            <p:childTnLst>
                              <p:par>
                                <p:cTn id="117" presetID="1" presetClass="entr" presetSubtype="0" fill="hold" grpId="1" nodeType="afterEffect">
                                  <p:stCondLst>
                                    <p:cond delay="0"/>
                                  </p:stCondLst>
                                  <p:childTnLst>
                                    <p:set>
                                      <p:cBhvr>
                                        <p:cTn id="118" dur="1" fill="hold">
                                          <p:stCondLst>
                                            <p:cond delay="0"/>
                                          </p:stCondLst>
                                        </p:cTn>
                                        <p:tgtEl>
                                          <p:spTgt spid="91"/>
                                        </p:tgtEl>
                                        <p:attrNameLst>
                                          <p:attrName>style.visibility</p:attrName>
                                        </p:attrNameLst>
                                      </p:cBhvr>
                                      <p:to>
                                        <p:strVal val="visible"/>
                                      </p:to>
                                    </p:set>
                                  </p:childTnLst>
                                </p:cTn>
                              </p:par>
                            </p:childTnLst>
                          </p:cTn>
                        </p:par>
                        <p:par>
                          <p:cTn id="119" fill="hold">
                            <p:stCondLst>
                              <p:cond delay="500"/>
                            </p:stCondLst>
                            <p:childTnLst>
                              <p:par>
                                <p:cTn id="120" presetID="1" presetClass="entr" presetSubtype="0" fill="hold" grpId="1" nodeType="afterEffect">
                                  <p:stCondLst>
                                    <p:cond delay="0"/>
                                  </p:stCondLst>
                                  <p:childTnLst>
                                    <p:set>
                                      <p:cBhvr>
                                        <p:cTn id="121" dur="1" fill="hold">
                                          <p:stCondLst>
                                            <p:cond delay="0"/>
                                          </p:stCondLst>
                                        </p:cTn>
                                        <p:tgtEl>
                                          <p:spTgt spid="92"/>
                                        </p:tgtEl>
                                        <p:attrNameLst>
                                          <p:attrName>style.visibility</p:attrName>
                                        </p:attrNameLst>
                                      </p:cBhvr>
                                      <p:to>
                                        <p:strVal val="visible"/>
                                      </p:to>
                                    </p:set>
                                  </p:childTnLst>
                                </p:cTn>
                              </p:par>
                            </p:childTnLst>
                          </p:cTn>
                        </p:par>
                        <p:par>
                          <p:cTn id="122" fill="hold">
                            <p:stCondLst>
                              <p:cond delay="500"/>
                            </p:stCondLst>
                            <p:childTnLst>
                              <p:par>
                                <p:cTn id="123" presetID="1" presetClass="entr" presetSubtype="0" fill="hold" grpId="1" nodeType="afterEffect">
                                  <p:stCondLst>
                                    <p:cond delay="0"/>
                                  </p:stCondLst>
                                  <p:childTnLst>
                                    <p:set>
                                      <p:cBhvr>
                                        <p:cTn id="124" dur="1" fill="hold">
                                          <p:stCondLst>
                                            <p:cond delay="0"/>
                                          </p:stCondLst>
                                        </p:cTn>
                                        <p:tgtEl>
                                          <p:spTgt spid="93"/>
                                        </p:tgtEl>
                                        <p:attrNameLst>
                                          <p:attrName>style.visibility</p:attrName>
                                        </p:attrNameLst>
                                      </p:cBhvr>
                                      <p:to>
                                        <p:strVal val="visible"/>
                                      </p:to>
                                    </p:set>
                                  </p:childTnLst>
                                </p:cTn>
                              </p:par>
                            </p:childTnLst>
                          </p:cTn>
                        </p:par>
                        <p:par>
                          <p:cTn id="125" fill="hold">
                            <p:stCondLst>
                              <p:cond delay="500"/>
                            </p:stCondLst>
                            <p:childTnLst>
                              <p:par>
                                <p:cTn id="126" presetID="1" presetClass="entr" presetSubtype="0" fill="hold" grpId="1" nodeType="afterEffect">
                                  <p:stCondLst>
                                    <p:cond delay="0"/>
                                  </p:stCondLst>
                                  <p:childTnLst>
                                    <p:set>
                                      <p:cBhvr>
                                        <p:cTn id="127" dur="1" fill="hold">
                                          <p:stCondLst>
                                            <p:cond delay="0"/>
                                          </p:stCondLst>
                                        </p:cTn>
                                        <p:tgtEl>
                                          <p:spTgt spid="94"/>
                                        </p:tgtEl>
                                        <p:attrNameLst>
                                          <p:attrName>style.visibility</p:attrName>
                                        </p:attrNameLst>
                                      </p:cBhvr>
                                      <p:to>
                                        <p:strVal val="visible"/>
                                      </p:to>
                                    </p:set>
                                  </p:childTnLst>
                                </p:cTn>
                              </p:par>
                            </p:childTnLst>
                          </p:cTn>
                        </p:par>
                        <p:par>
                          <p:cTn id="128" fill="hold">
                            <p:stCondLst>
                              <p:cond delay="500"/>
                            </p:stCondLst>
                            <p:childTnLst>
                              <p:par>
                                <p:cTn id="129" presetID="1" presetClass="entr" presetSubtype="0" fill="hold" grpId="1" nodeType="afterEffect">
                                  <p:stCondLst>
                                    <p:cond delay="0"/>
                                  </p:stCondLst>
                                  <p:childTnLst>
                                    <p:set>
                                      <p:cBhvr>
                                        <p:cTn id="130" dur="1" fill="hold">
                                          <p:stCondLst>
                                            <p:cond delay="0"/>
                                          </p:stCondLst>
                                        </p:cTn>
                                        <p:tgtEl>
                                          <p:spTgt spid="95"/>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0" presetClass="path" presetSubtype="0" accel="50000" decel="50000" fill="hold" grpId="0" nodeType="clickEffect">
                                  <p:stCondLst>
                                    <p:cond delay="0"/>
                                  </p:stCondLst>
                                  <p:childTnLst>
                                    <p:animMotion origin="layout" path="M 1.45833E-6 -3.33333E-6 L 1.45833E-6 -0.05486 " pathEditMode="relative" rAng="0" ptsTypes="AA">
                                      <p:cBhvr>
                                        <p:cTn id="134" dur="1000" fill="hold"/>
                                        <p:tgtEl>
                                          <p:spTgt spid="53"/>
                                        </p:tgtEl>
                                        <p:attrNameLst>
                                          <p:attrName>ppt_x</p:attrName>
                                          <p:attrName>ppt_y</p:attrName>
                                        </p:attrNameLst>
                                      </p:cBhvr>
                                      <p:rCtr x="0" y="-2824"/>
                                    </p:animMotion>
                                  </p:childTnLst>
                                </p:cTn>
                              </p:par>
                              <p:par>
                                <p:cTn id="135" presetID="0" presetClass="path" presetSubtype="0" accel="50000" decel="50000" fill="hold" grpId="0" nodeType="withEffect">
                                  <p:stCondLst>
                                    <p:cond delay="0"/>
                                  </p:stCondLst>
                                  <p:childTnLst>
                                    <p:animMotion origin="layout" path="M -3.33333E-6 -3.33333E-6 L -3.33333E-6 -0.0801 " pathEditMode="relative" rAng="0" ptsTypes="AA">
                                      <p:cBhvr>
                                        <p:cTn id="136" dur="1000" fill="hold"/>
                                        <p:tgtEl>
                                          <p:spTgt spid="50"/>
                                        </p:tgtEl>
                                        <p:attrNameLst>
                                          <p:attrName>ppt_x</p:attrName>
                                          <p:attrName>ppt_y</p:attrName>
                                        </p:attrNameLst>
                                      </p:cBhvr>
                                      <p:rCtr x="0" y="-4074"/>
                                    </p:animMotion>
                                  </p:childTnLst>
                                </p:cTn>
                              </p:par>
                              <p:par>
                                <p:cTn id="137" presetID="0" presetClass="path" presetSubtype="0" accel="50000" decel="50000" fill="hold" grpId="0" nodeType="withEffect">
                                  <p:stCondLst>
                                    <p:cond delay="0"/>
                                  </p:stCondLst>
                                  <p:childTnLst>
                                    <p:animMotion origin="layout" path="M -1.66667E-6 -2.96296E-6 L -1.66667E-6 -0.07014 " pathEditMode="relative" rAng="0" ptsTypes="AA">
                                      <p:cBhvr>
                                        <p:cTn id="138" dur="1000" fill="hold"/>
                                        <p:tgtEl>
                                          <p:spTgt spid="54"/>
                                        </p:tgtEl>
                                        <p:attrNameLst>
                                          <p:attrName>ppt_x</p:attrName>
                                          <p:attrName>ppt_y</p:attrName>
                                        </p:attrNameLst>
                                      </p:cBhvr>
                                      <p:rCtr x="0" y="-3519"/>
                                    </p:animMotion>
                                  </p:childTnLst>
                                </p:cTn>
                              </p:par>
                              <p:par>
                                <p:cTn id="139" presetID="0" presetClass="path" presetSubtype="0" accel="50000" decel="50000" fill="hold" grpId="0" nodeType="withEffect">
                                  <p:stCondLst>
                                    <p:cond delay="0"/>
                                  </p:stCondLst>
                                  <p:childTnLst>
                                    <p:animMotion origin="layout" path="M -2.70833E-6 4.07407E-6 L -2.70833E-6 -0.07917 " pathEditMode="relative" rAng="0" ptsTypes="AA">
                                      <p:cBhvr>
                                        <p:cTn id="140" dur="1000" fill="hold"/>
                                        <p:tgtEl>
                                          <p:spTgt spid="57"/>
                                        </p:tgtEl>
                                        <p:attrNameLst>
                                          <p:attrName>ppt_x</p:attrName>
                                          <p:attrName>ppt_y</p:attrName>
                                        </p:attrNameLst>
                                      </p:cBhvr>
                                      <p:rCtr x="0" y="-3958"/>
                                    </p:animMotion>
                                  </p:childTnLst>
                                </p:cTn>
                              </p:par>
                              <p:par>
                                <p:cTn id="141" presetID="0" presetClass="path" presetSubtype="0" accel="50000" decel="50000" fill="hold" grpId="0" nodeType="withEffect">
                                  <p:stCondLst>
                                    <p:cond delay="0"/>
                                  </p:stCondLst>
                                  <p:childTnLst>
                                    <p:animMotion origin="layout" path="M -2.70833E-6 2.59259E-6 L -2.70833E-6 -0.07014 " pathEditMode="relative" rAng="0" ptsTypes="AA">
                                      <p:cBhvr>
                                        <p:cTn id="142" dur="1000" fill="hold"/>
                                        <p:tgtEl>
                                          <p:spTgt spid="58"/>
                                        </p:tgtEl>
                                        <p:attrNameLst>
                                          <p:attrName>ppt_x</p:attrName>
                                          <p:attrName>ppt_y</p:attrName>
                                        </p:attrNameLst>
                                      </p:cBhvr>
                                      <p:rCtr x="0" y="-3519"/>
                                    </p:animMotion>
                                  </p:childTnLst>
                                </p:cTn>
                              </p:par>
                              <p:par>
                                <p:cTn id="143" presetID="0" presetClass="path" presetSubtype="0" accel="50000" decel="50000" fill="hold" grpId="0" nodeType="withEffect">
                                  <p:stCondLst>
                                    <p:cond delay="0"/>
                                  </p:stCondLst>
                                  <p:childTnLst>
                                    <p:animMotion origin="layout" path="M 4.16667E-7 2.59259E-6 L 4.16667E-7 -0.01551 " pathEditMode="relative" rAng="0" ptsTypes="AA">
                                      <p:cBhvr>
                                        <p:cTn id="144" dur="1000" fill="hold"/>
                                        <p:tgtEl>
                                          <p:spTgt spid="59"/>
                                        </p:tgtEl>
                                        <p:attrNameLst>
                                          <p:attrName>ppt_x</p:attrName>
                                          <p:attrName>ppt_y</p:attrName>
                                        </p:attrNameLst>
                                      </p:cBhvr>
                                      <p:rCtr x="0" y="-787"/>
                                    </p:animMotion>
                                  </p:childTnLst>
                                </p:cTn>
                              </p:par>
                              <p:par>
                                <p:cTn id="145" presetID="0" presetClass="path" presetSubtype="0" accel="50000" decel="50000" fill="hold" grpId="0" nodeType="withEffect">
                                  <p:stCondLst>
                                    <p:cond delay="0"/>
                                  </p:stCondLst>
                                  <p:childTnLst>
                                    <p:animMotion origin="layout" path="M -3.75E-6 2.96296E-6 L -3.75E-6 -0.0213 " pathEditMode="relative" rAng="0" ptsTypes="AA">
                                      <p:cBhvr>
                                        <p:cTn id="146" dur="1000" fill="hold"/>
                                        <p:tgtEl>
                                          <p:spTgt spid="78"/>
                                        </p:tgtEl>
                                        <p:attrNameLst>
                                          <p:attrName>ppt_x</p:attrName>
                                          <p:attrName>ppt_y</p:attrName>
                                        </p:attrNameLst>
                                      </p:cBhvr>
                                      <p:rCtr x="0" y="-1065"/>
                                    </p:animMotion>
                                  </p:childTnLst>
                                </p:cTn>
                              </p:par>
                              <p:par>
                                <p:cTn id="147" presetID="0" presetClass="path" presetSubtype="0" accel="50000" decel="50000" fill="hold" grpId="0" nodeType="withEffect">
                                  <p:stCondLst>
                                    <p:cond delay="0"/>
                                  </p:stCondLst>
                                  <p:childTnLst>
                                    <p:animMotion origin="layout" path="M 3.125E-6 2.96296E-6 L 3.125E-6 -0.02176 " pathEditMode="relative" rAng="0" ptsTypes="AA">
                                      <p:cBhvr>
                                        <p:cTn id="148" dur="1000" fill="hold"/>
                                        <p:tgtEl>
                                          <p:spTgt spid="79"/>
                                        </p:tgtEl>
                                        <p:attrNameLst>
                                          <p:attrName>ppt_x</p:attrName>
                                          <p:attrName>ppt_y</p:attrName>
                                        </p:attrNameLst>
                                      </p:cBhvr>
                                      <p:rCtr x="0" y="-1088"/>
                                    </p:animMotion>
                                  </p:childTnLst>
                                </p:cTn>
                              </p:par>
                              <p:par>
                                <p:cTn id="149" presetID="0" presetClass="path" presetSubtype="0" accel="50000" decel="50000" fill="hold" grpId="0" nodeType="withEffect">
                                  <p:stCondLst>
                                    <p:cond delay="0"/>
                                  </p:stCondLst>
                                  <p:childTnLst>
                                    <p:animMotion origin="layout" path="M -2.5E-6 4.44444E-6 L -2.5E-6 -0.06112 " pathEditMode="relative" rAng="0" ptsTypes="AA">
                                      <p:cBhvr>
                                        <p:cTn id="150" dur="1000" fill="hold"/>
                                        <p:tgtEl>
                                          <p:spTgt spid="80"/>
                                        </p:tgtEl>
                                        <p:attrNameLst>
                                          <p:attrName>ppt_x</p:attrName>
                                          <p:attrName>ppt_y</p:attrName>
                                        </p:attrNameLst>
                                      </p:cBhvr>
                                      <p:rCtr x="0" y="-3056"/>
                                    </p:animMotion>
                                  </p:childTnLst>
                                </p:cTn>
                              </p:par>
                              <p:par>
                                <p:cTn id="151" presetID="0" presetClass="path" presetSubtype="0" accel="50000" decel="50000" fill="hold" grpId="0" nodeType="withEffect">
                                  <p:stCondLst>
                                    <p:cond delay="0"/>
                                  </p:stCondLst>
                                  <p:childTnLst>
                                    <p:animMotion origin="layout" path="M -4.16667E-7 4.44444E-6 L -4.16667E-7 -0.08681 " pathEditMode="relative" rAng="0" ptsTypes="AA">
                                      <p:cBhvr>
                                        <p:cTn id="152" dur="1000" fill="hold"/>
                                        <p:tgtEl>
                                          <p:spTgt spid="81"/>
                                        </p:tgtEl>
                                        <p:attrNameLst>
                                          <p:attrName>ppt_x</p:attrName>
                                          <p:attrName>ppt_y</p:attrName>
                                        </p:attrNameLst>
                                      </p:cBhvr>
                                      <p:rCtr x="0" y="-4352"/>
                                    </p:animMotion>
                                  </p:childTnLst>
                                </p:cTn>
                              </p:par>
                              <p:par>
                                <p:cTn id="153" presetID="0" presetClass="path" presetSubtype="0" accel="50000" decel="50000" fill="hold" grpId="0" nodeType="withEffect">
                                  <p:stCondLst>
                                    <p:cond delay="0"/>
                                  </p:stCondLst>
                                  <p:childTnLst>
                                    <p:animMotion origin="layout" path="M -3.75E-6 4.44444E-6 L -3.75E-6 -0.07639 " pathEditMode="relative" rAng="0" ptsTypes="AA">
                                      <p:cBhvr>
                                        <p:cTn id="154" dur="1000" fill="hold"/>
                                        <p:tgtEl>
                                          <p:spTgt spid="83"/>
                                        </p:tgtEl>
                                        <p:attrNameLst>
                                          <p:attrName>ppt_x</p:attrName>
                                          <p:attrName>ppt_y</p:attrName>
                                        </p:attrNameLst>
                                      </p:cBhvr>
                                      <p:rCtr x="0" y="-3819"/>
                                    </p:animMotion>
                                  </p:childTnLst>
                                </p:cTn>
                              </p:par>
                              <p:par>
                                <p:cTn id="155" presetID="0" presetClass="path" presetSubtype="0" accel="50000" decel="50000" fill="hold" grpId="0" nodeType="withEffect">
                                  <p:stCondLst>
                                    <p:cond delay="0"/>
                                  </p:stCondLst>
                                  <p:childTnLst>
                                    <p:animMotion origin="layout" path="M -2.70833E-6 4.44444E-6 L -2.70833E-6 -0.07084 " pathEditMode="relative" rAng="0" ptsTypes="AA">
                                      <p:cBhvr>
                                        <p:cTn id="156" dur="1000" fill="hold"/>
                                        <p:tgtEl>
                                          <p:spTgt spid="82"/>
                                        </p:tgtEl>
                                        <p:attrNameLst>
                                          <p:attrName>ppt_x</p:attrName>
                                          <p:attrName>ppt_y</p:attrName>
                                        </p:attrNameLst>
                                      </p:cBhvr>
                                      <p:rCtr x="0" y="-3542"/>
                                    </p:animMotion>
                                  </p:childTnLst>
                                </p:cTn>
                              </p:par>
                              <p:par>
                                <p:cTn id="157" presetID="0" presetClass="path" presetSubtype="0" accel="50000" decel="50000" fill="hold" grpId="0" nodeType="withEffect">
                                  <p:stCondLst>
                                    <p:cond delay="0"/>
                                  </p:stCondLst>
                                  <p:childTnLst>
                                    <p:animMotion origin="layout" path="M 2.29167E-6 1.48148E-6 L 2.29167E-6 -0.025 " pathEditMode="relative" rAng="0" ptsTypes="AA">
                                      <p:cBhvr>
                                        <p:cTn id="158" dur="1000" fill="hold"/>
                                        <p:tgtEl>
                                          <p:spTgt spid="90"/>
                                        </p:tgtEl>
                                        <p:attrNameLst>
                                          <p:attrName>ppt_x</p:attrName>
                                          <p:attrName>ppt_y</p:attrName>
                                        </p:attrNameLst>
                                      </p:cBhvr>
                                      <p:rCtr x="0" y="-1250"/>
                                    </p:animMotion>
                                  </p:childTnLst>
                                </p:cTn>
                              </p:par>
                              <p:par>
                                <p:cTn id="159" presetID="0" presetClass="path" presetSubtype="0" accel="50000" decel="50000" fill="hold" grpId="0" nodeType="withEffect">
                                  <p:stCondLst>
                                    <p:cond delay="0"/>
                                  </p:stCondLst>
                                  <p:childTnLst>
                                    <p:animMotion origin="layout" path="M -4.16667E-7 1.48148E-6 L -4.16667E-7 -0.01204 " pathEditMode="relative" rAng="0" ptsTypes="AA">
                                      <p:cBhvr>
                                        <p:cTn id="160" dur="1000" fill="hold"/>
                                        <p:tgtEl>
                                          <p:spTgt spid="91"/>
                                        </p:tgtEl>
                                        <p:attrNameLst>
                                          <p:attrName>ppt_x</p:attrName>
                                          <p:attrName>ppt_y</p:attrName>
                                        </p:attrNameLst>
                                      </p:cBhvr>
                                      <p:rCtr x="0" y="-602"/>
                                    </p:animMotion>
                                  </p:childTnLst>
                                </p:cTn>
                              </p:par>
                              <p:par>
                                <p:cTn id="161" presetID="0" presetClass="path" presetSubtype="0" accel="50000" decel="50000" fill="hold" grpId="0" nodeType="withEffect">
                                  <p:stCondLst>
                                    <p:cond delay="0"/>
                                  </p:stCondLst>
                                  <p:childTnLst>
                                    <p:animMotion origin="layout" path="M 1.25E-6 1.48148E-6 L 1.25E-6 -0.025 " pathEditMode="relative" rAng="0" ptsTypes="AA">
                                      <p:cBhvr>
                                        <p:cTn id="162" dur="1000" fill="hold"/>
                                        <p:tgtEl>
                                          <p:spTgt spid="92"/>
                                        </p:tgtEl>
                                        <p:attrNameLst>
                                          <p:attrName>ppt_x</p:attrName>
                                          <p:attrName>ppt_y</p:attrName>
                                        </p:attrNameLst>
                                      </p:cBhvr>
                                      <p:rCtr x="0" y="-1250"/>
                                    </p:animMotion>
                                  </p:childTnLst>
                                </p:cTn>
                              </p:par>
                              <p:par>
                                <p:cTn id="163" presetID="0" presetClass="path" presetSubtype="0" accel="50000" decel="50000" fill="hold" grpId="0" nodeType="withEffect">
                                  <p:stCondLst>
                                    <p:cond delay="0"/>
                                  </p:stCondLst>
                                  <p:childTnLst>
                                    <p:animMotion origin="layout" path="M -4.16667E-7 1.48148E-6 L -4.16667E-7 -0.01296 " pathEditMode="relative" rAng="0" ptsTypes="AA">
                                      <p:cBhvr>
                                        <p:cTn id="164" dur="1000" fill="hold"/>
                                        <p:tgtEl>
                                          <p:spTgt spid="94"/>
                                        </p:tgtEl>
                                        <p:attrNameLst>
                                          <p:attrName>ppt_x</p:attrName>
                                          <p:attrName>ppt_y</p:attrName>
                                        </p:attrNameLst>
                                      </p:cBhvr>
                                      <p:rCtr x="0" y="-648"/>
                                    </p:animMotion>
                                  </p:childTnLst>
                                </p:cTn>
                              </p:par>
                              <p:par>
                                <p:cTn id="165" presetID="0" presetClass="path" presetSubtype="0" accel="50000" decel="50000" fill="hold" grpId="0" nodeType="withEffect">
                                  <p:stCondLst>
                                    <p:cond delay="0"/>
                                  </p:stCondLst>
                                  <p:childTnLst>
                                    <p:animMotion origin="layout" path="M 4.16667E-7 1.48148E-6 L 4.16667E-7 -0.03171 " pathEditMode="relative" rAng="0" ptsTypes="AA">
                                      <p:cBhvr>
                                        <p:cTn id="166" dur="1000" fill="hold"/>
                                        <p:tgtEl>
                                          <p:spTgt spid="93"/>
                                        </p:tgtEl>
                                        <p:attrNameLst>
                                          <p:attrName>ppt_x</p:attrName>
                                          <p:attrName>ppt_y</p:attrName>
                                        </p:attrNameLst>
                                      </p:cBhvr>
                                      <p:rCtr x="0" y="-1597"/>
                                    </p:animMotion>
                                  </p:childTnLst>
                                </p:cTn>
                              </p:par>
                              <p:par>
                                <p:cTn id="167" presetID="0" presetClass="path" presetSubtype="0" accel="50000" decel="50000" fill="hold" grpId="0" nodeType="withEffect">
                                  <p:stCondLst>
                                    <p:cond delay="0"/>
                                  </p:stCondLst>
                                  <p:childTnLst>
                                    <p:animMotion origin="layout" path="M -4.375E-6 1.48148E-6 L -4.375E-6 -0.02755 " pathEditMode="relative" rAng="0" ptsTypes="AA">
                                      <p:cBhvr>
                                        <p:cTn id="168" dur="1000" fill="hold"/>
                                        <p:tgtEl>
                                          <p:spTgt spid="95"/>
                                        </p:tgtEl>
                                        <p:attrNameLst>
                                          <p:attrName>ppt_x</p:attrName>
                                          <p:attrName>ppt_y</p:attrName>
                                        </p:attrNameLst>
                                      </p:cBhvr>
                                      <p:rCtr x="0" y="-1389"/>
                                    </p:animMotion>
                                  </p:childTnLst>
                                </p:cTn>
                              </p:par>
                            </p:childTnLst>
                          </p:cTn>
                        </p:par>
                        <p:par>
                          <p:cTn id="169" fill="hold">
                            <p:stCondLst>
                              <p:cond delay="1000"/>
                            </p:stCondLst>
                            <p:childTnLst>
                              <p:par>
                                <p:cTn id="170" presetID="1" presetClass="entr" presetSubtype="0" fill="hold" grpId="0" nodeType="afterEffect">
                                  <p:stCondLst>
                                    <p:cond delay="0"/>
                                  </p:stCondLst>
                                  <p:childTnLst>
                                    <p:set>
                                      <p:cBhvr>
                                        <p:cTn id="171" dur="1" fill="hold">
                                          <p:stCondLst>
                                            <p:cond delay="0"/>
                                          </p:stCondLst>
                                        </p:cTn>
                                        <p:tgtEl>
                                          <p:spTgt spid="5"/>
                                        </p:tgtEl>
                                        <p:attrNameLst>
                                          <p:attrName>style.visibility</p:attrName>
                                        </p:attrNameLst>
                                      </p:cBhvr>
                                      <p:to>
                                        <p:strVal val="visible"/>
                                      </p:to>
                                    </p:set>
                                  </p:childTnLst>
                                </p:cTn>
                              </p:par>
                            </p:childTnLst>
                          </p:cTn>
                        </p:par>
                        <p:par>
                          <p:cTn id="172" fill="hold">
                            <p:stCondLst>
                              <p:cond delay="1000"/>
                            </p:stCondLst>
                            <p:childTnLst>
                              <p:par>
                                <p:cTn id="173" presetID="1" presetClass="entr" presetSubtype="0" fill="hold" grpId="0" nodeType="afterEffect">
                                  <p:stCondLst>
                                    <p:cond delay="0"/>
                                  </p:stCondLst>
                                  <p:childTnLst>
                                    <p:set>
                                      <p:cBhvr>
                                        <p:cTn id="174" dur="1" fill="hold">
                                          <p:stCondLst>
                                            <p:cond delay="0"/>
                                          </p:stCondLst>
                                        </p:cTn>
                                        <p:tgtEl>
                                          <p:spTgt spid="9"/>
                                        </p:tgtEl>
                                        <p:attrNameLst>
                                          <p:attrName>style.visibility</p:attrName>
                                        </p:attrNameLst>
                                      </p:cBhvr>
                                      <p:to>
                                        <p:strVal val="visible"/>
                                      </p:to>
                                    </p:set>
                                  </p:childTnLst>
                                </p:cTn>
                              </p:par>
                            </p:childTnLst>
                          </p:cTn>
                        </p:par>
                        <p:par>
                          <p:cTn id="175" fill="hold">
                            <p:stCondLst>
                              <p:cond delay="1000"/>
                            </p:stCondLst>
                            <p:childTnLst>
                              <p:par>
                                <p:cTn id="176" presetID="1" presetClass="entr" presetSubtype="0" fill="hold" grpId="0" nodeType="afterEffect">
                                  <p:stCondLst>
                                    <p:cond delay="0"/>
                                  </p:stCondLst>
                                  <p:childTnLst>
                                    <p:set>
                                      <p:cBhvr>
                                        <p:cTn id="177" dur="1" fill="hold">
                                          <p:stCondLst>
                                            <p:cond delay="0"/>
                                          </p:stCondLst>
                                        </p:cTn>
                                        <p:tgtEl>
                                          <p:spTgt spid="13"/>
                                        </p:tgtEl>
                                        <p:attrNameLst>
                                          <p:attrName>style.visibility</p:attrName>
                                        </p:attrNameLst>
                                      </p:cBhvr>
                                      <p:to>
                                        <p:strVal val="visible"/>
                                      </p:to>
                                    </p:set>
                                  </p:childTnLst>
                                </p:cTn>
                              </p:par>
                              <p:par>
                                <p:cTn id="178" presetID="1" presetClass="entr" presetSubtype="0" fill="hold" grpId="0" nodeType="withEffect">
                                  <p:stCondLst>
                                    <p:cond delay="0"/>
                                  </p:stCondLst>
                                  <p:childTnLst>
                                    <p:set>
                                      <p:cBhvr>
                                        <p:cTn id="179"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2" grpId="0" animBg="1"/>
      <p:bldP spid="46" grpId="0" animBg="1"/>
      <p:bldP spid="47" grpId="0" animBg="1"/>
      <p:bldP spid="48" grpId="0" animBg="1"/>
      <p:bldP spid="49" grpId="0" animBg="1"/>
      <p:bldP spid="50" grpId="0" animBg="1"/>
      <p:bldP spid="50" grpId="1" animBg="1"/>
      <p:bldP spid="53" grpId="0" animBg="1"/>
      <p:bldP spid="53" grpId="1" animBg="1"/>
      <p:bldP spid="54" grpId="0" animBg="1"/>
      <p:bldP spid="54" grpId="1" animBg="1"/>
      <p:bldP spid="57" grpId="0" animBg="1"/>
      <p:bldP spid="57" grpId="1" animBg="1"/>
      <p:bldP spid="58" grpId="0" animBg="1"/>
      <p:bldP spid="58" grpId="1" animBg="1"/>
      <p:bldP spid="59" grpId="0" animBg="1"/>
      <p:bldP spid="59" grpId="1" animBg="1"/>
      <p:bldP spid="72" grpId="0" animBg="1"/>
      <p:bldP spid="73" grpId="0" animBg="1"/>
      <p:bldP spid="74" grpId="0" animBg="1"/>
      <p:bldP spid="75" grpId="0" animBg="1"/>
      <p:bldP spid="76" grpId="0" animBg="1"/>
      <p:bldP spid="77" grpId="0" animBg="1"/>
      <p:bldP spid="78" grpId="0" animBg="1"/>
      <p:bldP spid="78" grpId="1" animBg="1"/>
      <p:bldP spid="79" grpId="0" animBg="1"/>
      <p:bldP spid="79" grpId="1" animBg="1"/>
      <p:bldP spid="80" grpId="0" animBg="1"/>
      <p:bldP spid="80" grpId="1" animBg="1"/>
      <p:bldP spid="81" grpId="0" animBg="1"/>
      <p:bldP spid="81" grpId="1" animBg="1"/>
      <p:bldP spid="82" grpId="0" animBg="1"/>
      <p:bldP spid="82" grpId="1" animBg="1"/>
      <p:bldP spid="83" grpId="0" animBg="1"/>
      <p:bldP spid="83" grpId="1" animBg="1"/>
      <p:bldP spid="84" grpId="0" animBg="1"/>
      <p:bldP spid="85" grpId="0" animBg="1"/>
      <p:bldP spid="86" grpId="0" animBg="1"/>
      <p:bldP spid="87" grpId="0" animBg="1"/>
      <p:bldP spid="88" grpId="0" animBg="1"/>
      <p:bldP spid="89" grpId="0" animBg="1"/>
      <p:bldP spid="90" grpId="0" animBg="1"/>
      <p:bldP spid="90" grpId="1" animBg="1"/>
      <p:bldP spid="91" grpId="0" animBg="1"/>
      <p:bldP spid="91" grpId="1" animBg="1"/>
      <p:bldP spid="92" grpId="0" animBg="1"/>
      <p:bldP spid="92" grpId="1" animBg="1"/>
      <p:bldP spid="93" grpId="0" animBg="1"/>
      <p:bldP spid="93" grpId="1" animBg="1"/>
      <p:bldP spid="94" grpId="0" animBg="1"/>
      <p:bldP spid="94" grpId="1" animBg="1"/>
      <p:bldP spid="95" grpId="0" animBg="1"/>
      <p:bldP spid="95" grpId="1" animBg="1"/>
      <p:bldP spid="4" grpId="0"/>
      <p:bldP spid="5" grpId="0"/>
      <p:bldP spid="8" grpId="0"/>
      <p:bldP spid="9" grpId="0"/>
      <p:bldP spid="10" grpId="0"/>
      <p:bldP spid="13" grpId="0"/>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81DB7-CBC9-4ACF-D228-4DD3D8D77384}"/>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67F7240-2E48-0288-C9E5-AFBBD54DA27B}"/>
              </a:ext>
            </a:extLst>
          </p:cNvPr>
          <p:cNvSpPr>
            <a:spLocks noGrp="1"/>
          </p:cNvSpPr>
          <p:nvPr>
            <p:ph type="sldNum" sz="quarter" idx="12"/>
          </p:nvPr>
        </p:nvSpPr>
        <p:spPr/>
        <p:txBody>
          <a:bodyPr/>
          <a:lstStyle/>
          <a:p>
            <a:fld id="{5ACA52AF-F19D-405C-AD5F-7D94B96A5CC3}" type="slidenum">
              <a:rPr lang="de-CH" noProof="0" smtClean="0"/>
              <a:t>14</a:t>
            </a:fld>
            <a:endParaRPr lang="de-CH" noProof="0"/>
          </a:p>
        </p:txBody>
      </p:sp>
      <p:sp>
        <p:nvSpPr>
          <p:cNvPr id="41" name="Content Placeholder 2">
            <a:extLst>
              <a:ext uri="{FF2B5EF4-FFF2-40B4-BE49-F238E27FC236}">
                <a16:creationId xmlns:a16="http://schemas.microsoft.com/office/drawing/2014/main" id="{D496CB40-082A-2215-D46F-7AE6BFC2A1BE}"/>
              </a:ext>
            </a:extLst>
          </p:cNvPr>
          <p:cNvSpPr txBox="1">
            <a:spLocks/>
          </p:cNvSpPr>
          <p:nvPr/>
        </p:nvSpPr>
        <p:spPr>
          <a:xfrm rot="5400000">
            <a:off x="4047852" y="3493019"/>
            <a:ext cx="588349" cy="308805"/>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a:t>…</a:t>
            </a:r>
          </a:p>
          <a:p>
            <a:pPr marL="0" indent="0">
              <a:buNone/>
            </a:pPr>
            <a:endParaRPr lang="en-CH"/>
          </a:p>
        </p:txBody>
      </p:sp>
      <p:sp>
        <p:nvSpPr>
          <p:cNvPr id="21" name="Footer Placeholder 4">
            <a:extLst>
              <a:ext uri="{FF2B5EF4-FFF2-40B4-BE49-F238E27FC236}">
                <a16:creationId xmlns:a16="http://schemas.microsoft.com/office/drawing/2014/main" id="{7023ECD4-6518-8311-D8CA-7DB7098BA8FF}"/>
              </a:ext>
            </a:extLst>
          </p:cNvPr>
          <p:cNvSpPr txBox="1">
            <a:spLocks/>
          </p:cNvSpPr>
          <p:nvPr/>
        </p:nvSpPr>
        <p:spPr>
          <a:xfrm>
            <a:off x="5723751" y="6522444"/>
            <a:ext cx="744495" cy="216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a:t>Motivation</a:t>
            </a:r>
            <a:endParaRPr lang="de-CH"/>
          </a:p>
        </p:txBody>
      </p:sp>
      <p:sp>
        <p:nvSpPr>
          <p:cNvPr id="11" name="Oval 10">
            <a:extLst>
              <a:ext uri="{FF2B5EF4-FFF2-40B4-BE49-F238E27FC236}">
                <a16:creationId xmlns:a16="http://schemas.microsoft.com/office/drawing/2014/main" id="{4B0AEA92-9466-8CB3-70B5-33240805F983}"/>
              </a:ext>
            </a:extLst>
          </p:cNvPr>
          <p:cNvSpPr/>
          <p:nvPr/>
        </p:nvSpPr>
        <p:spPr>
          <a:xfrm>
            <a:off x="491203" y="2152173"/>
            <a:ext cx="1920672" cy="192067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Freeform 21">
            <a:extLst>
              <a:ext uri="{FF2B5EF4-FFF2-40B4-BE49-F238E27FC236}">
                <a16:creationId xmlns:a16="http://schemas.microsoft.com/office/drawing/2014/main" id="{3DF729B5-97EC-E769-0926-A643878ABC49}"/>
              </a:ext>
            </a:extLst>
          </p:cNvPr>
          <p:cNvSpPr/>
          <p:nvPr/>
        </p:nvSpPr>
        <p:spPr>
          <a:xfrm>
            <a:off x="742858" y="2835759"/>
            <a:ext cx="1483895" cy="357504"/>
          </a:xfrm>
          <a:custGeom>
            <a:avLst/>
            <a:gdLst>
              <a:gd name="connsiteX0" fmla="*/ 0 w 1483895"/>
              <a:gd name="connsiteY0" fmla="*/ 238112 h 357504"/>
              <a:gd name="connsiteX1" fmla="*/ 533400 w 1483895"/>
              <a:gd name="connsiteY1" fmla="*/ 1490 h 357504"/>
              <a:gd name="connsiteX2" fmla="*/ 1122948 w 1483895"/>
              <a:gd name="connsiteY2" fmla="*/ 338375 h 357504"/>
              <a:gd name="connsiteX3" fmla="*/ 1483895 w 1483895"/>
              <a:gd name="connsiteY3" fmla="*/ 286238 h 357504"/>
            </a:gdLst>
            <a:ahLst/>
            <a:cxnLst>
              <a:cxn ang="0">
                <a:pos x="connsiteX0" y="connsiteY0"/>
              </a:cxn>
              <a:cxn ang="0">
                <a:pos x="connsiteX1" y="connsiteY1"/>
              </a:cxn>
              <a:cxn ang="0">
                <a:pos x="connsiteX2" y="connsiteY2"/>
              </a:cxn>
              <a:cxn ang="0">
                <a:pos x="connsiteX3" y="connsiteY3"/>
              </a:cxn>
            </a:cxnLst>
            <a:rect l="l" t="t" r="r" b="b"/>
            <a:pathLst>
              <a:path w="1483895" h="357504">
                <a:moveTo>
                  <a:pt x="0" y="238112"/>
                </a:moveTo>
                <a:cubicBezTo>
                  <a:pt x="173121" y="111445"/>
                  <a:pt x="346242" y="-15221"/>
                  <a:pt x="533400" y="1490"/>
                </a:cubicBezTo>
                <a:cubicBezTo>
                  <a:pt x="720558" y="18200"/>
                  <a:pt x="964532" y="290917"/>
                  <a:pt x="1122948" y="338375"/>
                </a:cubicBezTo>
                <a:cubicBezTo>
                  <a:pt x="1281364" y="385833"/>
                  <a:pt x="1382629" y="336035"/>
                  <a:pt x="1483895" y="286238"/>
                </a:cubicBezTo>
              </a:path>
            </a:pathLst>
          </a:custGeom>
          <a:noFill/>
          <a:ln w="38100">
            <a:solidFill>
              <a:srgbClr val="A307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4" name="Freeform 33">
            <a:extLst>
              <a:ext uri="{FF2B5EF4-FFF2-40B4-BE49-F238E27FC236}">
                <a16:creationId xmlns:a16="http://schemas.microsoft.com/office/drawing/2014/main" id="{9FB221FB-CD10-768E-72FE-DE74812C38BA}"/>
              </a:ext>
            </a:extLst>
          </p:cNvPr>
          <p:cNvSpPr/>
          <p:nvPr/>
        </p:nvSpPr>
        <p:spPr>
          <a:xfrm>
            <a:off x="749968" y="2470484"/>
            <a:ext cx="1263316" cy="340895"/>
          </a:xfrm>
          <a:custGeom>
            <a:avLst/>
            <a:gdLst>
              <a:gd name="connsiteX0" fmla="*/ 0 w 1263316"/>
              <a:gd name="connsiteY0" fmla="*/ 340895 h 340895"/>
              <a:gd name="connsiteX1" fmla="*/ 176464 w 1263316"/>
              <a:gd name="connsiteY1" fmla="*/ 200527 h 340895"/>
              <a:gd name="connsiteX2" fmla="*/ 557464 w 1263316"/>
              <a:gd name="connsiteY2" fmla="*/ 332874 h 340895"/>
              <a:gd name="connsiteX3" fmla="*/ 978569 w 1263316"/>
              <a:gd name="connsiteY3" fmla="*/ 64169 h 340895"/>
              <a:gd name="connsiteX4" fmla="*/ 1263316 w 1263316"/>
              <a:gd name="connsiteY4" fmla="*/ 0 h 340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316" h="340895">
                <a:moveTo>
                  <a:pt x="0" y="340895"/>
                </a:moveTo>
                <a:cubicBezTo>
                  <a:pt x="41776" y="271379"/>
                  <a:pt x="83553" y="201864"/>
                  <a:pt x="176464" y="200527"/>
                </a:cubicBezTo>
                <a:cubicBezTo>
                  <a:pt x="269375" y="199190"/>
                  <a:pt x="423780" y="355600"/>
                  <a:pt x="557464" y="332874"/>
                </a:cubicBezTo>
                <a:cubicBezTo>
                  <a:pt x="691148" y="310148"/>
                  <a:pt x="860927" y="119648"/>
                  <a:pt x="978569" y="64169"/>
                </a:cubicBezTo>
                <a:cubicBezTo>
                  <a:pt x="1096211" y="8690"/>
                  <a:pt x="1179763" y="4345"/>
                  <a:pt x="1263316" y="0"/>
                </a:cubicBezTo>
              </a:path>
            </a:pathLst>
          </a:cu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7" name="Freeform 36">
            <a:extLst>
              <a:ext uri="{FF2B5EF4-FFF2-40B4-BE49-F238E27FC236}">
                <a16:creationId xmlns:a16="http://schemas.microsoft.com/office/drawing/2014/main" id="{00A6C2A3-DF14-767A-7742-69734A192F36}"/>
              </a:ext>
            </a:extLst>
          </p:cNvPr>
          <p:cNvSpPr/>
          <p:nvPr/>
        </p:nvSpPr>
        <p:spPr>
          <a:xfrm>
            <a:off x="822158" y="2749743"/>
            <a:ext cx="1411705" cy="803583"/>
          </a:xfrm>
          <a:custGeom>
            <a:avLst/>
            <a:gdLst>
              <a:gd name="connsiteX0" fmla="*/ 0 w 1411705"/>
              <a:gd name="connsiteY0" fmla="*/ 803583 h 803583"/>
              <a:gd name="connsiteX1" fmla="*/ 268705 w 1411705"/>
              <a:gd name="connsiteY1" fmla="*/ 394510 h 803583"/>
              <a:gd name="connsiteX2" fmla="*/ 573505 w 1411705"/>
              <a:gd name="connsiteY2" fmla="*/ 643162 h 803583"/>
              <a:gd name="connsiteX3" fmla="*/ 966537 w 1411705"/>
              <a:gd name="connsiteY3" fmla="*/ 13510 h 803583"/>
              <a:gd name="connsiteX4" fmla="*/ 1231231 w 1411705"/>
              <a:gd name="connsiteY4" fmla="*/ 202004 h 803583"/>
              <a:gd name="connsiteX5" fmla="*/ 1411705 w 1411705"/>
              <a:gd name="connsiteY5" fmla="*/ 85699 h 803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1705" h="803583">
                <a:moveTo>
                  <a:pt x="0" y="803583"/>
                </a:moveTo>
                <a:cubicBezTo>
                  <a:pt x="86560" y="612415"/>
                  <a:pt x="173121" y="421247"/>
                  <a:pt x="268705" y="394510"/>
                </a:cubicBezTo>
                <a:cubicBezTo>
                  <a:pt x="364289" y="367773"/>
                  <a:pt x="457200" y="706662"/>
                  <a:pt x="573505" y="643162"/>
                </a:cubicBezTo>
                <a:cubicBezTo>
                  <a:pt x="689810" y="579662"/>
                  <a:pt x="856916" y="87036"/>
                  <a:pt x="966537" y="13510"/>
                </a:cubicBezTo>
                <a:cubicBezTo>
                  <a:pt x="1076158" y="-60016"/>
                  <a:pt x="1157036" y="189973"/>
                  <a:pt x="1231231" y="202004"/>
                </a:cubicBezTo>
                <a:cubicBezTo>
                  <a:pt x="1305426" y="214035"/>
                  <a:pt x="1358565" y="149867"/>
                  <a:pt x="1411705" y="85699"/>
                </a:cubicBezTo>
              </a:path>
            </a:pathLst>
          </a:custGeom>
          <a:noFill/>
          <a:ln w="3810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8" name="Freeform 37">
            <a:extLst>
              <a:ext uri="{FF2B5EF4-FFF2-40B4-BE49-F238E27FC236}">
                <a16:creationId xmlns:a16="http://schemas.microsoft.com/office/drawing/2014/main" id="{F9BE9540-B24D-A87F-6136-AF215DC25E5B}"/>
              </a:ext>
            </a:extLst>
          </p:cNvPr>
          <p:cNvSpPr/>
          <p:nvPr/>
        </p:nvSpPr>
        <p:spPr>
          <a:xfrm>
            <a:off x="757418" y="3357051"/>
            <a:ext cx="1427747" cy="253063"/>
          </a:xfrm>
          <a:custGeom>
            <a:avLst/>
            <a:gdLst>
              <a:gd name="connsiteX0" fmla="*/ 0 w 1427747"/>
              <a:gd name="connsiteY0" fmla="*/ 0 h 253063"/>
              <a:gd name="connsiteX1" fmla="*/ 364958 w 1427747"/>
              <a:gd name="connsiteY1" fmla="*/ 252663 h 253063"/>
              <a:gd name="connsiteX2" fmla="*/ 994611 w 1427747"/>
              <a:gd name="connsiteY2" fmla="*/ 60158 h 253063"/>
              <a:gd name="connsiteX3" fmla="*/ 1259305 w 1427747"/>
              <a:gd name="connsiteY3" fmla="*/ 124326 h 253063"/>
              <a:gd name="connsiteX4" fmla="*/ 1427747 w 1427747"/>
              <a:gd name="connsiteY4" fmla="*/ 60158 h 253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7747" h="253063">
                <a:moveTo>
                  <a:pt x="0" y="0"/>
                </a:moveTo>
                <a:cubicBezTo>
                  <a:pt x="99595" y="121318"/>
                  <a:pt x="199190" y="242637"/>
                  <a:pt x="364958" y="252663"/>
                </a:cubicBezTo>
                <a:cubicBezTo>
                  <a:pt x="530726" y="262689"/>
                  <a:pt x="845553" y="81548"/>
                  <a:pt x="994611" y="60158"/>
                </a:cubicBezTo>
                <a:cubicBezTo>
                  <a:pt x="1143669" y="38769"/>
                  <a:pt x="1187116" y="124326"/>
                  <a:pt x="1259305" y="124326"/>
                </a:cubicBezTo>
                <a:cubicBezTo>
                  <a:pt x="1331494" y="124326"/>
                  <a:pt x="1379620" y="92242"/>
                  <a:pt x="1427747" y="60158"/>
                </a:cubicBezTo>
              </a:path>
            </a:pathLst>
          </a:custGeom>
          <a:noFill/>
          <a:ln w="38100">
            <a:solidFill>
              <a:srgbClr val="7AAB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9" name="Freeform 38">
            <a:extLst>
              <a:ext uri="{FF2B5EF4-FFF2-40B4-BE49-F238E27FC236}">
                <a16:creationId xmlns:a16="http://schemas.microsoft.com/office/drawing/2014/main" id="{EA05600E-E4D2-0BC4-7E4B-2211C43BDC43}"/>
              </a:ext>
            </a:extLst>
          </p:cNvPr>
          <p:cNvSpPr/>
          <p:nvPr/>
        </p:nvSpPr>
        <p:spPr>
          <a:xfrm>
            <a:off x="914400" y="3275509"/>
            <a:ext cx="1203158" cy="559029"/>
          </a:xfrm>
          <a:custGeom>
            <a:avLst/>
            <a:gdLst>
              <a:gd name="connsiteX0" fmla="*/ 0 w 1203158"/>
              <a:gd name="connsiteY0" fmla="*/ 354017 h 559029"/>
              <a:gd name="connsiteX1" fmla="*/ 160421 w 1203158"/>
              <a:gd name="connsiteY1" fmla="*/ 558554 h 559029"/>
              <a:gd name="connsiteX2" fmla="*/ 336884 w 1203158"/>
              <a:gd name="connsiteY2" fmla="*/ 414175 h 559029"/>
              <a:gd name="connsiteX3" fmla="*/ 509337 w 1203158"/>
              <a:gd name="connsiteY3" fmla="*/ 542512 h 559029"/>
              <a:gd name="connsiteX4" fmla="*/ 818147 w 1203158"/>
              <a:gd name="connsiteY4" fmla="*/ 1091 h 559029"/>
              <a:gd name="connsiteX5" fmla="*/ 1030705 w 1203158"/>
              <a:gd name="connsiteY5" fmla="*/ 402144 h 559029"/>
              <a:gd name="connsiteX6" fmla="*/ 1203158 w 1203158"/>
              <a:gd name="connsiteY6" fmla="*/ 390112 h 559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3158" h="559029">
                <a:moveTo>
                  <a:pt x="0" y="354017"/>
                </a:moveTo>
                <a:cubicBezTo>
                  <a:pt x="52137" y="451272"/>
                  <a:pt x="104274" y="548528"/>
                  <a:pt x="160421" y="558554"/>
                </a:cubicBezTo>
                <a:cubicBezTo>
                  <a:pt x="216568" y="568580"/>
                  <a:pt x="278732" y="416849"/>
                  <a:pt x="336884" y="414175"/>
                </a:cubicBezTo>
                <a:cubicBezTo>
                  <a:pt x="395036" y="411501"/>
                  <a:pt x="429127" y="611359"/>
                  <a:pt x="509337" y="542512"/>
                </a:cubicBezTo>
                <a:cubicBezTo>
                  <a:pt x="589548" y="473665"/>
                  <a:pt x="731252" y="24486"/>
                  <a:pt x="818147" y="1091"/>
                </a:cubicBezTo>
                <a:cubicBezTo>
                  <a:pt x="905042" y="-22304"/>
                  <a:pt x="966537" y="337307"/>
                  <a:pt x="1030705" y="402144"/>
                </a:cubicBezTo>
                <a:cubicBezTo>
                  <a:pt x="1094873" y="466981"/>
                  <a:pt x="1149015" y="428546"/>
                  <a:pt x="1203158" y="390112"/>
                </a:cubicBezTo>
              </a:path>
            </a:pathLst>
          </a:custGeom>
          <a:noFill/>
          <a:ln w="38100">
            <a:solidFill>
              <a:srgbClr val="A693B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 name="Freeform 11">
            <a:extLst>
              <a:ext uri="{FF2B5EF4-FFF2-40B4-BE49-F238E27FC236}">
                <a16:creationId xmlns:a16="http://schemas.microsoft.com/office/drawing/2014/main" id="{5975A369-D56F-C4A9-1784-E271B347FC6C}"/>
              </a:ext>
            </a:extLst>
          </p:cNvPr>
          <p:cNvSpPr/>
          <p:nvPr/>
        </p:nvSpPr>
        <p:spPr>
          <a:xfrm>
            <a:off x="858253" y="2430307"/>
            <a:ext cx="1283368" cy="717956"/>
          </a:xfrm>
          <a:custGeom>
            <a:avLst/>
            <a:gdLst>
              <a:gd name="connsiteX0" fmla="*/ 0 w 1283368"/>
              <a:gd name="connsiteY0" fmla="*/ 717956 h 717956"/>
              <a:gd name="connsiteX1" fmla="*/ 264694 w 1283368"/>
              <a:gd name="connsiteY1" fmla="*/ 36167 h 717956"/>
              <a:gd name="connsiteX2" fmla="*/ 481263 w 1283368"/>
              <a:gd name="connsiteY2" fmla="*/ 292840 h 717956"/>
              <a:gd name="connsiteX3" fmla="*/ 673768 w 1283368"/>
              <a:gd name="connsiteY3" fmla="*/ 72 h 717956"/>
              <a:gd name="connsiteX4" fmla="*/ 778042 w 1283368"/>
              <a:gd name="connsiteY4" fmla="*/ 324925 h 717956"/>
              <a:gd name="connsiteX5" fmla="*/ 966536 w 1283368"/>
              <a:gd name="connsiteY5" fmla="*/ 124398 h 717956"/>
              <a:gd name="connsiteX6" fmla="*/ 1102894 w 1283368"/>
              <a:gd name="connsiteY6" fmla="*/ 661809 h 717956"/>
              <a:gd name="connsiteX7" fmla="*/ 1283368 w 1283368"/>
              <a:gd name="connsiteY7" fmla="*/ 573577 h 717956"/>
              <a:gd name="connsiteX8" fmla="*/ 1283368 w 1283368"/>
              <a:gd name="connsiteY8" fmla="*/ 573577 h 71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68" h="717956">
                <a:moveTo>
                  <a:pt x="0" y="717956"/>
                </a:moveTo>
                <a:cubicBezTo>
                  <a:pt x="92242" y="412488"/>
                  <a:pt x="184484" y="107020"/>
                  <a:pt x="264694" y="36167"/>
                </a:cubicBezTo>
                <a:cubicBezTo>
                  <a:pt x="344904" y="-34686"/>
                  <a:pt x="413084" y="298856"/>
                  <a:pt x="481263" y="292840"/>
                </a:cubicBezTo>
                <a:cubicBezTo>
                  <a:pt x="549442" y="286824"/>
                  <a:pt x="624305" y="-5276"/>
                  <a:pt x="673768" y="72"/>
                </a:cubicBezTo>
                <a:cubicBezTo>
                  <a:pt x="723231" y="5419"/>
                  <a:pt x="729247" y="304204"/>
                  <a:pt x="778042" y="324925"/>
                </a:cubicBezTo>
                <a:cubicBezTo>
                  <a:pt x="826837" y="345646"/>
                  <a:pt x="912394" y="68251"/>
                  <a:pt x="966536" y="124398"/>
                </a:cubicBezTo>
                <a:cubicBezTo>
                  <a:pt x="1020678" y="180545"/>
                  <a:pt x="1050089" y="586946"/>
                  <a:pt x="1102894" y="661809"/>
                </a:cubicBezTo>
                <a:cubicBezTo>
                  <a:pt x="1155699" y="736672"/>
                  <a:pt x="1283368" y="573577"/>
                  <a:pt x="1283368" y="573577"/>
                </a:cubicBezTo>
                <a:lnTo>
                  <a:pt x="1283368" y="573577"/>
                </a:lnTo>
              </a:path>
            </a:pathLst>
          </a:custGeom>
          <a:noFill/>
          <a:ln w="38100">
            <a:solidFill>
              <a:srgbClr val="E5CE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4" name="Picture 3">
            <a:extLst>
              <a:ext uri="{FF2B5EF4-FFF2-40B4-BE49-F238E27FC236}">
                <a16:creationId xmlns:a16="http://schemas.microsoft.com/office/drawing/2014/main" id="{0AC0395B-F9E3-3535-A90F-1CF4DCF36DF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50742" y="1568367"/>
            <a:ext cx="656639" cy="806400"/>
          </a:xfrm>
          <a:prstGeom prst="rect">
            <a:avLst/>
          </a:prstGeom>
          <a:solidFill>
            <a:srgbClr val="5787C0"/>
          </a:solidFill>
          <a:ln w="6350"/>
        </p:spPr>
      </p:pic>
      <p:sp>
        <p:nvSpPr>
          <p:cNvPr id="36" name="Oval 35">
            <a:extLst>
              <a:ext uri="{FF2B5EF4-FFF2-40B4-BE49-F238E27FC236}">
                <a16:creationId xmlns:a16="http://schemas.microsoft.com/office/drawing/2014/main" id="{A556CC2B-109C-8E9A-1DC8-A0DFD9C8270E}"/>
              </a:ext>
            </a:extLst>
          </p:cNvPr>
          <p:cNvSpPr>
            <a:spLocks noChangeAspect="1"/>
          </p:cNvSpPr>
          <p:nvPr/>
        </p:nvSpPr>
        <p:spPr>
          <a:xfrm>
            <a:off x="4110875" y="1714967"/>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2" name="Oval 41">
            <a:extLst>
              <a:ext uri="{FF2B5EF4-FFF2-40B4-BE49-F238E27FC236}">
                <a16:creationId xmlns:a16="http://schemas.microsoft.com/office/drawing/2014/main" id="{8CE96A69-7FA4-E680-3BE8-D973F35EDC7A}"/>
              </a:ext>
            </a:extLst>
          </p:cNvPr>
          <p:cNvSpPr>
            <a:spLocks noChangeAspect="1"/>
          </p:cNvSpPr>
          <p:nvPr/>
        </p:nvSpPr>
        <p:spPr>
          <a:xfrm>
            <a:off x="4110875" y="2283262"/>
            <a:ext cx="49131" cy="49131"/>
          </a:xfrm>
          <a:prstGeom prst="ellipse">
            <a:avLst/>
          </a:prstGeom>
          <a:solidFill>
            <a:srgbClr val="FC6B65"/>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6" name="Oval 45">
            <a:extLst>
              <a:ext uri="{FF2B5EF4-FFF2-40B4-BE49-F238E27FC236}">
                <a16:creationId xmlns:a16="http://schemas.microsoft.com/office/drawing/2014/main" id="{793893BC-5051-FE31-DAC1-4BC4ECE0CD84}"/>
              </a:ext>
            </a:extLst>
          </p:cNvPr>
          <p:cNvSpPr>
            <a:spLocks noChangeAspect="1"/>
          </p:cNvSpPr>
          <p:nvPr/>
        </p:nvSpPr>
        <p:spPr>
          <a:xfrm>
            <a:off x="4110875" y="1830676"/>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7" name="Oval 46">
            <a:extLst>
              <a:ext uri="{FF2B5EF4-FFF2-40B4-BE49-F238E27FC236}">
                <a16:creationId xmlns:a16="http://schemas.microsoft.com/office/drawing/2014/main" id="{BE6467D2-5868-0BE9-E388-EFF11B9330CD}"/>
              </a:ext>
            </a:extLst>
          </p:cNvPr>
          <p:cNvSpPr/>
          <p:nvPr/>
        </p:nvSpPr>
        <p:spPr>
          <a:xfrm>
            <a:off x="4110875" y="1948678"/>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8" name="Oval 47">
            <a:extLst>
              <a:ext uri="{FF2B5EF4-FFF2-40B4-BE49-F238E27FC236}">
                <a16:creationId xmlns:a16="http://schemas.microsoft.com/office/drawing/2014/main" id="{3BEA8915-90C7-E311-9722-C7FBE3426839}"/>
              </a:ext>
            </a:extLst>
          </p:cNvPr>
          <p:cNvSpPr>
            <a:spLocks/>
          </p:cNvSpPr>
          <p:nvPr/>
        </p:nvSpPr>
        <p:spPr>
          <a:xfrm>
            <a:off x="4110875" y="2061554"/>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9" name="Oval 48">
            <a:extLst>
              <a:ext uri="{FF2B5EF4-FFF2-40B4-BE49-F238E27FC236}">
                <a16:creationId xmlns:a16="http://schemas.microsoft.com/office/drawing/2014/main" id="{A74D0946-6CA7-8451-9CD6-ABB275C700E8}"/>
              </a:ext>
            </a:extLst>
          </p:cNvPr>
          <p:cNvSpPr>
            <a:spLocks noChangeAspect="1"/>
          </p:cNvSpPr>
          <p:nvPr/>
        </p:nvSpPr>
        <p:spPr>
          <a:xfrm>
            <a:off x="4110875" y="2170158"/>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0" name="!!Oval 49">
            <a:extLst>
              <a:ext uri="{FF2B5EF4-FFF2-40B4-BE49-F238E27FC236}">
                <a16:creationId xmlns:a16="http://schemas.microsoft.com/office/drawing/2014/main" id="{468D36FF-6FDE-97B3-6B79-22C12D4EDA5B}"/>
              </a:ext>
            </a:extLst>
          </p:cNvPr>
          <p:cNvSpPr>
            <a:spLocks noChangeAspect="1"/>
          </p:cNvSpPr>
          <p:nvPr/>
        </p:nvSpPr>
        <p:spPr>
          <a:xfrm>
            <a:off x="4410491" y="2281284"/>
            <a:ext cx="49131" cy="49131"/>
          </a:xfrm>
          <a:prstGeom prst="ellipse">
            <a:avLst/>
          </a:prstGeom>
          <a:solidFill>
            <a:srgbClr val="FC6B65"/>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3" name="Oval 52">
            <a:extLst>
              <a:ext uri="{FF2B5EF4-FFF2-40B4-BE49-F238E27FC236}">
                <a16:creationId xmlns:a16="http://schemas.microsoft.com/office/drawing/2014/main" id="{04FEB46A-A28D-F7F8-44CF-2655AFF919E7}"/>
              </a:ext>
            </a:extLst>
          </p:cNvPr>
          <p:cNvSpPr>
            <a:spLocks noChangeAspect="1"/>
          </p:cNvSpPr>
          <p:nvPr/>
        </p:nvSpPr>
        <p:spPr>
          <a:xfrm>
            <a:off x="4406158" y="1718761"/>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4" name="Oval 53">
            <a:extLst>
              <a:ext uri="{FF2B5EF4-FFF2-40B4-BE49-F238E27FC236}">
                <a16:creationId xmlns:a16="http://schemas.microsoft.com/office/drawing/2014/main" id="{1407BF7B-87D8-64C8-E3A2-D2F1C678F5C6}"/>
              </a:ext>
            </a:extLst>
          </p:cNvPr>
          <p:cNvSpPr>
            <a:spLocks noChangeAspect="1"/>
          </p:cNvSpPr>
          <p:nvPr/>
        </p:nvSpPr>
        <p:spPr>
          <a:xfrm>
            <a:off x="4401825" y="1828929"/>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7" name="Oval 56">
            <a:extLst>
              <a:ext uri="{FF2B5EF4-FFF2-40B4-BE49-F238E27FC236}">
                <a16:creationId xmlns:a16="http://schemas.microsoft.com/office/drawing/2014/main" id="{A3136596-85E7-D5E7-8E6D-ACD45C309957}"/>
              </a:ext>
            </a:extLst>
          </p:cNvPr>
          <p:cNvSpPr>
            <a:spLocks noChangeAspect="1"/>
          </p:cNvSpPr>
          <p:nvPr/>
        </p:nvSpPr>
        <p:spPr>
          <a:xfrm>
            <a:off x="4406158" y="1945642"/>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8" name="Oval 57">
            <a:extLst>
              <a:ext uri="{FF2B5EF4-FFF2-40B4-BE49-F238E27FC236}">
                <a16:creationId xmlns:a16="http://schemas.microsoft.com/office/drawing/2014/main" id="{B5C9EF42-ABEB-B910-7D2B-8D9F2CA0A64F}"/>
              </a:ext>
            </a:extLst>
          </p:cNvPr>
          <p:cNvSpPr>
            <a:spLocks noChangeAspect="1"/>
          </p:cNvSpPr>
          <p:nvPr/>
        </p:nvSpPr>
        <p:spPr>
          <a:xfrm>
            <a:off x="4406158" y="2065558"/>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9" name="Oval 58">
            <a:extLst>
              <a:ext uri="{FF2B5EF4-FFF2-40B4-BE49-F238E27FC236}">
                <a16:creationId xmlns:a16="http://schemas.microsoft.com/office/drawing/2014/main" id="{8035D6EB-833E-0409-D394-D050DDA9067B}"/>
              </a:ext>
            </a:extLst>
          </p:cNvPr>
          <p:cNvSpPr>
            <a:spLocks noChangeAspect="1"/>
          </p:cNvSpPr>
          <p:nvPr/>
        </p:nvSpPr>
        <p:spPr>
          <a:xfrm>
            <a:off x="4406158" y="2168142"/>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3" name="Picture 12">
            <a:extLst>
              <a:ext uri="{FF2B5EF4-FFF2-40B4-BE49-F238E27FC236}">
                <a16:creationId xmlns:a16="http://schemas.microsoft.com/office/drawing/2014/main" id="{75442B6B-B79C-5B85-A466-D4E7488BBE4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44168" y="3665948"/>
            <a:ext cx="656639" cy="806400"/>
          </a:xfrm>
          <a:prstGeom prst="rect">
            <a:avLst/>
          </a:prstGeom>
          <a:solidFill>
            <a:srgbClr val="5787C0"/>
          </a:solidFill>
          <a:ln w="6350"/>
        </p:spPr>
      </p:pic>
      <p:sp>
        <p:nvSpPr>
          <p:cNvPr id="31" name="!!pinkx4">
            <a:extLst>
              <a:ext uri="{FF2B5EF4-FFF2-40B4-BE49-F238E27FC236}">
                <a16:creationId xmlns:a16="http://schemas.microsoft.com/office/drawing/2014/main" id="{E4F029C1-5A3F-06E9-69CF-E425FFDF07AE}"/>
              </a:ext>
            </a:extLst>
          </p:cNvPr>
          <p:cNvSpPr>
            <a:spLocks noChangeAspect="1"/>
          </p:cNvSpPr>
          <p:nvPr/>
        </p:nvSpPr>
        <p:spPr>
          <a:xfrm>
            <a:off x="4104301" y="3812548"/>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3" name="!!pinkx3">
            <a:extLst>
              <a:ext uri="{FF2B5EF4-FFF2-40B4-BE49-F238E27FC236}">
                <a16:creationId xmlns:a16="http://schemas.microsoft.com/office/drawing/2014/main" id="{1FB86ED0-F048-5CA3-6EE7-4E55B9D335BF}"/>
              </a:ext>
            </a:extLst>
          </p:cNvPr>
          <p:cNvSpPr>
            <a:spLocks noChangeAspect="1"/>
          </p:cNvSpPr>
          <p:nvPr/>
        </p:nvSpPr>
        <p:spPr>
          <a:xfrm>
            <a:off x="4104301" y="4380843"/>
            <a:ext cx="49131" cy="49131"/>
          </a:xfrm>
          <a:prstGeom prst="ellipse">
            <a:avLst/>
          </a:prstGeom>
          <a:solidFill>
            <a:srgbClr val="FC6B65"/>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5" name="!!pinkx5">
            <a:extLst>
              <a:ext uri="{FF2B5EF4-FFF2-40B4-BE49-F238E27FC236}">
                <a16:creationId xmlns:a16="http://schemas.microsoft.com/office/drawing/2014/main" id="{AA62F32B-B91C-0AB2-C71F-D2C3C1E0644D}"/>
              </a:ext>
            </a:extLst>
          </p:cNvPr>
          <p:cNvSpPr>
            <a:spLocks noChangeAspect="1"/>
          </p:cNvSpPr>
          <p:nvPr/>
        </p:nvSpPr>
        <p:spPr>
          <a:xfrm>
            <a:off x="4104301" y="3928257"/>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0" name="!!pinkx6">
            <a:extLst>
              <a:ext uri="{FF2B5EF4-FFF2-40B4-BE49-F238E27FC236}">
                <a16:creationId xmlns:a16="http://schemas.microsoft.com/office/drawing/2014/main" id="{DA843998-3180-D308-352F-19B591888797}"/>
              </a:ext>
            </a:extLst>
          </p:cNvPr>
          <p:cNvSpPr/>
          <p:nvPr/>
        </p:nvSpPr>
        <p:spPr>
          <a:xfrm>
            <a:off x="4104301" y="4046259"/>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4" name="!!pinkx2">
            <a:extLst>
              <a:ext uri="{FF2B5EF4-FFF2-40B4-BE49-F238E27FC236}">
                <a16:creationId xmlns:a16="http://schemas.microsoft.com/office/drawing/2014/main" id="{187CED17-0820-143B-4DED-B94A2DFB570F}"/>
              </a:ext>
            </a:extLst>
          </p:cNvPr>
          <p:cNvSpPr>
            <a:spLocks/>
          </p:cNvSpPr>
          <p:nvPr/>
        </p:nvSpPr>
        <p:spPr>
          <a:xfrm>
            <a:off x="4104301" y="4159135"/>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1" name="!!pinkx1">
            <a:extLst>
              <a:ext uri="{FF2B5EF4-FFF2-40B4-BE49-F238E27FC236}">
                <a16:creationId xmlns:a16="http://schemas.microsoft.com/office/drawing/2014/main" id="{FD9FEA2C-08C4-31FD-4E5E-CA23D73BA296}"/>
              </a:ext>
            </a:extLst>
          </p:cNvPr>
          <p:cNvSpPr>
            <a:spLocks noChangeAspect="1"/>
          </p:cNvSpPr>
          <p:nvPr/>
        </p:nvSpPr>
        <p:spPr>
          <a:xfrm>
            <a:off x="4104301" y="4267739"/>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2" name="!!pinky3">
            <a:extLst>
              <a:ext uri="{FF2B5EF4-FFF2-40B4-BE49-F238E27FC236}">
                <a16:creationId xmlns:a16="http://schemas.microsoft.com/office/drawing/2014/main" id="{0B461735-A433-E656-3A10-0C0851F2E3E1}"/>
              </a:ext>
            </a:extLst>
          </p:cNvPr>
          <p:cNvSpPr>
            <a:spLocks noChangeAspect="1"/>
          </p:cNvSpPr>
          <p:nvPr/>
        </p:nvSpPr>
        <p:spPr>
          <a:xfrm>
            <a:off x="4403917" y="4378865"/>
            <a:ext cx="49131" cy="49131"/>
          </a:xfrm>
          <a:prstGeom prst="ellipse">
            <a:avLst/>
          </a:prstGeom>
          <a:solidFill>
            <a:srgbClr val="FC6B65"/>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5" name="!!pinky4">
            <a:extLst>
              <a:ext uri="{FF2B5EF4-FFF2-40B4-BE49-F238E27FC236}">
                <a16:creationId xmlns:a16="http://schemas.microsoft.com/office/drawing/2014/main" id="{62B4FC94-06F0-FF67-8BD1-FDAF16F66841}"/>
              </a:ext>
            </a:extLst>
          </p:cNvPr>
          <p:cNvSpPr>
            <a:spLocks noChangeAspect="1"/>
          </p:cNvSpPr>
          <p:nvPr/>
        </p:nvSpPr>
        <p:spPr>
          <a:xfrm>
            <a:off x="4399584" y="3816342"/>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6" name="!!pinky5">
            <a:extLst>
              <a:ext uri="{FF2B5EF4-FFF2-40B4-BE49-F238E27FC236}">
                <a16:creationId xmlns:a16="http://schemas.microsoft.com/office/drawing/2014/main" id="{DAD2952E-36D7-E323-99B7-B325483E2282}"/>
              </a:ext>
            </a:extLst>
          </p:cNvPr>
          <p:cNvSpPr>
            <a:spLocks noChangeAspect="1"/>
          </p:cNvSpPr>
          <p:nvPr/>
        </p:nvSpPr>
        <p:spPr>
          <a:xfrm>
            <a:off x="4395251" y="3926510"/>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0" name="!!pinky6">
            <a:extLst>
              <a:ext uri="{FF2B5EF4-FFF2-40B4-BE49-F238E27FC236}">
                <a16:creationId xmlns:a16="http://schemas.microsoft.com/office/drawing/2014/main" id="{69E4503F-CBB1-B2C8-CFD4-1F0F38CE1FD2}"/>
              </a:ext>
            </a:extLst>
          </p:cNvPr>
          <p:cNvSpPr>
            <a:spLocks noChangeAspect="1"/>
          </p:cNvSpPr>
          <p:nvPr/>
        </p:nvSpPr>
        <p:spPr>
          <a:xfrm>
            <a:off x="4399584" y="4043223"/>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1" name="!!pinky2">
            <a:extLst>
              <a:ext uri="{FF2B5EF4-FFF2-40B4-BE49-F238E27FC236}">
                <a16:creationId xmlns:a16="http://schemas.microsoft.com/office/drawing/2014/main" id="{DE62C4E7-F5E4-4310-C759-C1BBC8D2B014}"/>
              </a:ext>
            </a:extLst>
          </p:cNvPr>
          <p:cNvSpPr>
            <a:spLocks noChangeAspect="1"/>
          </p:cNvSpPr>
          <p:nvPr/>
        </p:nvSpPr>
        <p:spPr>
          <a:xfrm>
            <a:off x="4399584" y="4163139"/>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2" name="!!pinky1">
            <a:extLst>
              <a:ext uri="{FF2B5EF4-FFF2-40B4-BE49-F238E27FC236}">
                <a16:creationId xmlns:a16="http://schemas.microsoft.com/office/drawing/2014/main" id="{22C931DE-4B5F-2D3E-F99A-605E6EF35417}"/>
              </a:ext>
            </a:extLst>
          </p:cNvPr>
          <p:cNvSpPr>
            <a:spLocks noChangeAspect="1"/>
          </p:cNvSpPr>
          <p:nvPr/>
        </p:nvSpPr>
        <p:spPr>
          <a:xfrm>
            <a:off x="4399584" y="4265723"/>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63" name="Picture 62">
            <a:extLst>
              <a:ext uri="{FF2B5EF4-FFF2-40B4-BE49-F238E27FC236}">
                <a16:creationId xmlns:a16="http://schemas.microsoft.com/office/drawing/2014/main" id="{E55359B9-FEA4-3BB1-CEFD-E25DD625E80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50742" y="2463187"/>
            <a:ext cx="656639" cy="806400"/>
          </a:xfrm>
          <a:prstGeom prst="rect">
            <a:avLst/>
          </a:prstGeom>
          <a:solidFill>
            <a:srgbClr val="5787C0"/>
          </a:solidFill>
          <a:ln w="6350"/>
        </p:spPr>
      </p:pic>
      <p:sp>
        <p:nvSpPr>
          <p:cNvPr id="64" name="!!x1">
            <a:extLst>
              <a:ext uri="{FF2B5EF4-FFF2-40B4-BE49-F238E27FC236}">
                <a16:creationId xmlns:a16="http://schemas.microsoft.com/office/drawing/2014/main" id="{69030C2B-669F-AFF9-A73B-DCB5292FB169}"/>
              </a:ext>
            </a:extLst>
          </p:cNvPr>
          <p:cNvSpPr>
            <a:spLocks noChangeAspect="1"/>
          </p:cNvSpPr>
          <p:nvPr/>
        </p:nvSpPr>
        <p:spPr>
          <a:xfrm>
            <a:off x="4110875" y="2609787"/>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5" name="!!x6">
            <a:extLst>
              <a:ext uri="{FF2B5EF4-FFF2-40B4-BE49-F238E27FC236}">
                <a16:creationId xmlns:a16="http://schemas.microsoft.com/office/drawing/2014/main" id="{CE34A03F-3F84-CA36-7EBB-BBEDB4BCAD62}"/>
              </a:ext>
            </a:extLst>
          </p:cNvPr>
          <p:cNvSpPr>
            <a:spLocks noChangeAspect="1"/>
          </p:cNvSpPr>
          <p:nvPr/>
        </p:nvSpPr>
        <p:spPr>
          <a:xfrm>
            <a:off x="4110875" y="3178082"/>
            <a:ext cx="49131" cy="49131"/>
          </a:xfrm>
          <a:prstGeom prst="ellipse">
            <a:avLst/>
          </a:prstGeom>
          <a:solidFill>
            <a:srgbClr val="FC6B65"/>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6" name="!!x4">
            <a:extLst>
              <a:ext uri="{FF2B5EF4-FFF2-40B4-BE49-F238E27FC236}">
                <a16:creationId xmlns:a16="http://schemas.microsoft.com/office/drawing/2014/main" id="{8AE2D584-88FB-E6C5-C9DB-8CC3B2D6F8DB}"/>
              </a:ext>
            </a:extLst>
          </p:cNvPr>
          <p:cNvSpPr>
            <a:spLocks noChangeAspect="1"/>
          </p:cNvSpPr>
          <p:nvPr/>
        </p:nvSpPr>
        <p:spPr>
          <a:xfrm>
            <a:off x="4110875" y="2725496"/>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7" name="!!x2">
            <a:extLst>
              <a:ext uri="{FF2B5EF4-FFF2-40B4-BE49-F238E27FC236}">
                <a16:creationId xmlns:a16="http://schemas.microsoft.com/office/drawing/2014/main" id="{0FB312FA-B175-CBFB-F571-1404CF219CF5}"/>
              </a:ext>
            </a:extLst>
          </p:cNvPr>
          <p:cNvSpPr/>
          <p:nvPr/>
        </p:nvSpPr>
        <p:spPr>
          <a:xfrm>
            <a:off x="4110875" y="2843498"/>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8" name="!!x5">
            <a:extLst>
              <a:ext uri="{FF2B5EF4-FFF2-40B4-BE49-F238E27FC236}">
                <a16:creationId xmlns:a16="http://schemas.microsoft.com/office/drawing/2014/main" id="{03B0A471-78DC-C810-0740-AE639C5153D5}"/>
              </a:ext>
            </a:extLst>
          </p:cNvPr>
          <p:cNvSpPr>
            <a:spLocks/>
          </p:cNvSpPr>
          <p:nvPr/>
        </p:nvSpPr>
        <p:spPr>
          <a:xfrm>
            <a:off x="4110875" y="2956374"/>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9" name="!!x3">
            <a:extLst>
              <a:ext uri="{FF2B5EF4-FFF2-40B4-BE49-F238E27FC236}">
                <a16:creationId xmlns:a16="http://schemas.microsoft.com/office/drawing/2014/main" id="{186F3BEC-D534-6E51-9230-70539A5CD0B9}"/>
              </a:ext>
            </a:extLst>
          </p:cNvPr>
          <p:cNvSpPr>
            <a:spLocks noChangeAspect="1"/>
          </p:cNvSpPr>
          <p:nvPr/>
        </p:nvSpPr>
        <p:spPr>
          <a:xfrm>
            <a:off x="4110875" y="3064978"/>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0" name="!!y6">
            <a:extLst>
              <a:ext uri="{FF2B5EF4-FFF2-40B4-BE49-F238E27FC236}">
                <a16:creationId xmlns:a16="http://schemas.microsoft.com/office/drawing/2014/main" id="{1D76A846-0A7A-4DB0-B307-D6AF329E16FC}"/>
              </a:ext>
            </a:extLst>
          </p:cNvPr>
          <p:cNvSpPr>
            <a:spLocks noChangeAspect="1"/>
          </p:cNvSpPr>
          <p:nvPr/>
        </p:nvSpPr>
        <p:spPr>
          <a:xfrm>
            <a:off x="4410491" y="3176104"/>
            <a:ext cx="49131" cy="49131"/>
          </a:xfrm>
          <a:prstGeom prst="ellipse">
            <a:avLst/>
          </a:prstGeom>
          <a:solidFill>
            <a:srgbClr val="FC6B65"/>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1" name="!!y1">
            <a:extLst>
              <a:ext uri="{FF2B5EF4-FFF2-40B4-BE49-F238E27FC236}">
                <a16:creationId xmlns:a16="http://schemas.microsoft.com/office/drawing/2014/main" id="{0B4FAECC-CCD5-2003-1ECE-AFC381579C8D}"/>
              </a:ext>
            </a:extLst>
          </p:cNvPr>
          <p:cNvSpPr>
            <a:spLocks noChangeAspect="1"/>
          </p:cNvSpPr>
          <p:nvPr/>
        </p:nvSpPr>
        <p:spPr>
          <a:xfrm>
            <a:off x="4406158" y="2613581"/>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2" name="!!y4">
            <a:extLst>
              <a:ext uri="{FF2B5EF4-FFF2-40B4-BE49-F238E27FC236}">
                <a16:creationId xmlns:a16="http://schemas.microsoft.com/office/drawing/2014/main" id="{09F09278-052F-C87D-3B33-2EB32B496991}"/>
              </a:ext>
            </a:extLst>
          </p:cNvPr>
          <p:cNvSpPr>
            <a:spLocks noChangeAspect="1"/>
          </p:cNvSpPr>
          <p:nvPr/>
        </p:nvSpPr>
        <p:spPr>
          <a:xfrm>
            <a:off x="4401825" y="2723749"/>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3" name="!!y2">
            <a:extLst>
              <a:ext uri="{FF2B5EF4-FFF2-40B4-BE49-F238E27FC236}">
                <a16:creationId xmlns:a16="http://schemas.microsoft.com/office/drawing/2014/main" id="{93AE1232-35DC-A4FF-404D-A155E650783C}"/>
              </a:ext>
            </a:extLst>
          </p:cNvPr>
          <p:cNvSpPr>
            <a:spLocks noChangeAspect="1"/>
          </p:cNvSpPr>
          <p:nvPr/>
        </p:nvSpPr>
        <p:spPr>
          <a:xfrm>
            <a:off x="4406158" y="2840462"/>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4" name="!!y5">
            <a:extLst>
              <a:ext uri="{FF2B5EF4-FFF2-40B4-BE49-F238E27FC236}">
                <a16:creationId xmlns:a16="http://schemas.microsoft.com/office/drawing/2014/main" id="{6CEAE8DC-17F3-0BE5-5359-6C6FE6EABF21}"/>
              </a:ext>
            </a:extLst>
          </p:cNvPr>
          <p:cNvSpPr>
            <a:spLocks noChangeAspect="1"/>
          </p:cNvSpPr>
          <p:nvPr/>
        </p:nvSpPr>
        <p:spPr>
          <a:xfrm>
            <a:off x="4406158" y="2960378"/>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5" name="!!y3">
            <a:extLst>
              <a:ext uri="{FF2B5EF4-FFF2-40B4-BE49-F238E27FC236}">
                <a16:creationId xmlns:a16="http://schemas.microsoft.com/office/drawing/2014/main" id="{2EFE39DA-3BCA-3B28-5DB6-B6C8C0FAD8CD}"/>
              </a:ext>
            </a:extLst>
          </p:cNvPr>
          <p:cNvSpPr>
            <a:spLocks noChangeAspect="1"/>
          </p:cNvSpPr>
          <p:nvPr/>
        </p:nvSpPr>
        <p:spPr>
          <a:xfrm>
            <a:off x="4406158" y="3062962"/>
            <a:ext cx="49131" cy="49131"/>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6" name="TextBox 75">
            <a:extLst>
              <a:ext uri="{FF2B5EF4-FFF2-40B4-BE49-F238E27FC236}">
                <a16:creationId xmlns:a16="http://schemas.microsoft.com/office/drawing/2014/main" id="{659A0853-3515-CD31-760C-C4CAEE187E86}"/>
              </a:ext>
            </a:extLst>
          </p:cNvPr>
          <p:cNvSpPr txBox="1"/>
          <p:nvPr/>
        </p:nvSpPr>
        <p:spPr>
          <a:xfrm>
            <a:off x="3387392" y="1492871"/>
            <a:ext cx="589220" cy="369332"/>
          </a:xfrm>
          <a:prstGeom prst="rect">
            <a:avLst/>
          </a:prstGeom>
          <a:noFill/>
        </p:spPr>
        <p:txBody>
          <a:bodyPr wrap="square" rtlCol="0">
            <a:spAutoFit/>
          </a:bodyPr>
          <a:lstStyle/>
          <a:p>
            <a:pPr algn="ctr"/>
            <a:r>
              <a:rPr lang="en-CH" b="1">
                <a:solidFill>
                  <a:srgbClr val="5787C0"/>
                </a:solidFill>
              </a:rPr>
              <a:t>D</a:t>
            </a:r>
            <a:r>
              <a:rPr lang="en-CH" b="1" baseline="30000">
                <a:solidFill>
                  <a:srgbClr val="5787C0"/>
                </a:solidFill>
              </a:rPr>
              <a:t>(1)</a:t>
            </a:r>
            <a:endParaRPr lang="en-CH">
              <a:solidFill>
                <a:srgbClr val="5787C0"/>
              </a:solidFill>
            </a:endParaRPr>
          </a:p>
        </p:txBody>
      </p:sp>
      <p:sp>
        <p:nvSpPr>
          <p:cNvPr id="77" name="TextBox 76">
            <a:extLst>
              <a:ext uri="{FF2B5EF4-FFF2-40B4-BE49-F238E27FC236}">
                <a16:creationId xmlns:a16="http://schemas.microsoft.com/office/drawing/2014/main" id="{B56CCFFD-A8E4-86A5-9568-4CD356BC3371}"/>
              </a:ext>
            </a:extLst>
          </p:cNvPr>
          <p:cNvSpPr txBox="1"/>
          <p:nvPr/>
        </p:nvSpPr>
        <p:spPr>
          <a:xfrm>
            <a:off x="3420270" y="2394996"/>
            <a:ext cx="573860" cy="369332"/>
          </a:xfrm>
          <a:prstGeom prst="rect">
            <a:avLst/>
          </a:prstGeom>
          <a:noFill/>
        </p:spPr>
        <p:txBody>
          <a:bodyPr wrap="square" rtlCol="0">
            <a:spAutoFit/>
          </a:bodyPr>
          <a:lstStyle/>
          <a:p>
            <a:pPr algn="ctr"/>
            <a:r>
              <a:rPr lang="en-CH" b="1">
                <a:solidFill>
                  <a:srgbClr val="5787C0"/>
                </a:solidFill>
              </a:rPr>
              <a:t>D</a:t>
            </a:r>
            <a:r>
              <a:rPr lang="en-CH" b="1" baseline="30000">
                <a:solidFill>
                  <a:srgbClr val="5787C0"/>
                </a:solidFill>
              </a:rPr>
              <a:t>(2)</a:t>
            </a:r>
            <a:endParaRPr lang="en-CH">
              <a:solidFill>
                <a:srgbClr val="5787C0"/>
              </a:solidFill>
            </a:endParaRPr>
          </a:p>
        </p:txBody>
      </p:sp>
      <p:sp>
        <p:nvSpPr>
          <p:cNvPr id="78" name="TextBox 77">
            <a:extLst>
              <a:ext uri="{FF2B5EF4-FFF2-40B4-BE49-F238E27FC236}">
                <a16:creationId xmlns:a16="http://schemas.microsoft.com/office/drawing/2014/main" id="{76DEDBE7-6EEB-8E7B-29F1-55AAE01E1BC5}"/>
              </a:ext>
            </a:extLst>
          </p:cNvPr>
          <p:cNvSpPr txBox="1"/>
          <p:nvPr/>
        </p:nvSpPr>
        <p:spPr>
          <a:xfrm>
            <a:off x="3420270" y="3590171"/>
            <a:ext cx="607510" cy="369332"/>
          </a:xfrm>
          <a:prstGeom prst="rect">
            <a:avLst/>
          </a:prstGeom>
          <a:noFill/>
        </p:spPr>
        <p:txBody>
          <a:bodyPr wrap="square" rtlCol="0">
            <a:spAutoFit/>
          </a:bodyPr>
          <a:lstStyle/>
          <a:p>
            <a:pPr algn="ctr"/>
            <a:r>
              <a:rPr lang="en-CH" b="1">
                <a:solidFill>
                  <a:srgbClr val="5787C0"/>
                </a:solidFill>
              </a:rPr>
              <a:t>D</a:t>
            </a:r>
            <a:r>
              <a:rPr lang="en-CH" b="1" baseline="30000">
                <a:solidFill>
                  <a:srgbClr val="5787C0"/>
                </a:solidFill>
              </a:rPr>
              <a:t>(k)</a:t>
            </a:r>
            <a:endParaRPr lang="en-CH">
              <a:solidFill>
                <a:srgbClr val="5787C0"/>
              </a:solidFill>
            </a:endParaRPr>
          </a:p>
        </p:txBody>
      </p:sp>
      <p:sp>
        <p:nvSpPr>
          <p:cNvPr id="80" name="Rectangle 79">
            <a:extLst>
              <a:ext uri="{FF2B5EF4-FFF2-40B4-BE49-F238E27FC236}">
                <a16:creationId xmlns:a16="http://schemas.microsoft.com/office/drawing/2014/main" id="{EDC921E1-42AC-541F-3244-1BFD78925E35}"/>
              </a:ext>
            </a:extLst>
          </p:cNvPr>
          <p:cNvSpPr/>
          <p:nvPr/>
        </p:nvSpPr>
        <p:spPr>
          <a:xfrm>
            <a:off x="491203" y="6364845"/>
            <a:ext cx="1522081" cy="373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39" name="Content Placeholder 2">
            <a:extLst>
              <a:ext uri="{FF2B5EF4-FFF2-40B4-BE49-F238E27FC236}">
                <a16:creationId xmlns:a16="http://schemas.microsoft.com/office/drawing/2014/main" id="{C82D9D4A-22F1-1C4C-ECE1-84D062F9ABE2}"/>
              </a:ext>
            </a:extLst>
          </p:cNvPr>
          <p:cNvSpPr txBox="1">
            <a:spLocks/>
          </p:cNvSpPr>
          <p:nvPr/>
        </p:nvSpPr>
        <p:spPr>
          <a:xfrm>
            <a:off x="4099688" y="1581760"/>
            <a:ext cx="746872" cy="103512"/>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800">
                <a:ea typeface="Cambria Math" panose="02040503050406030204" pitchFamily="18" charset="0"/>
              </a:rPr>
              <a:t>X        Y</a:t>
            </a:r>
          </a:p>
        </p:txBody>
      </p:sp>
      <p:sp>
        <p:nvSpPr>
          <p:cNvPr id="240" name="Content Placeholder 2">
            <a:extLst>
              <a:ext uri="{FF2B5EF4-FFF2-40B4-BE49-F238E27FC236}">
                <a16:creationId xmlns:a16="http://schemas.microsoft.com/office/drawing/2014/main" id="{4E5D9438-8A15-CFA8-6C5B-2FD2656D2ED9}"/>
              </a:ext>
            </a:extLst>
          </p:cNvPr>
          <p:cNvSpPr txBox="1">
            <a:spLocks/>
          </p:cNvSpPr>
          <p:nvPr/>
        </p:nvSpPr>
        <p:spPr>
          <a:xfrm>
            <a:off x="4095515" y="3677276"/>
            <a:ext cx="746872" cy="178760"/>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800">
                <a:ea typeface="Cambria Math" panose="02040503050406030204" pitchFamily="18" charset="0"/>
              </a:rPr>
              <a:t>X        Y</a:t>
            </a:r>
          </a:p>
        </p:txBody>
      </p:sp>
      <p:sp>
        <p:nvSpPr>
          <p:cNvPr id="241" name="Content Placeholder 2">
            <a:extLst>
              <a:ext uri="{FF2B5EF4-FFF2-40B4-BE49-F238E27FC236}">
                <a16:creationId xmlns:a16="http://schemas.microsoft.com/office/drawing/2014/main" id="{3D25D751-A174-E1E3-092B-CEE6284604A8}"/>
              </a:ext>
            </a:extLst>
          </p:cNvPr>
          <p:cNvSpPr txBox="1">
            <a:spLocks/>
          </p:cNvSpPr>
          <p:nvPr/>
        </p:nvSpPr>
        <p:spPr>
          <a:xfrm>
            <a:off x="4106324" y="2474023"/>
            <a:ext cx="746872" cy="178760"/>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800">
                <a:ea typeface="Cambria Math" panose="02040503050406030204" pitchFamily="18" charset="0"/>
              </a:rPr>
              <a:t>X        Y</a:t>
            </a:r>
          </a:p>
        </p:txBody>
      </p:sp>
      <p:sp>
        <p:nvSpPr>
          <p:cNvPr id="248" name="Titel 1">
            <a:extLst>
              <a:ext uri="{FF2B5EF4-FFF2-40B4-BE49-F238E27FC236}">
                <a16:creationId xmlns:a16="http://schemas.microsoft.com/office/drawing/2014/main" id="{6E1BA1AA-920F-DCFD-1682-F8256B080CB2}"/>
              </a:ext>
            </a:extLst>
          </p:cNvPr>
          <p:cNvSpPr txBox="1">
            <a:spLocks/>
          </p:cNvSpPr>
          <p:nvPr/>
        </p:nvSpPr>
        <p:spPr>
          <a:xfrm>
            <a:off x="532002" y="473802"/>
            <a:ext cx="2383473" cy="747227"/>
          </a:xfrm>
          <a:prstGeom prst="rect">
            <a:avLst/>
          </a:prstGeom>
          <a:ln>
            <a:solidFill>
              <a:schemeClr val="tx1"/>
            </a:solidFill>
          </a:ln>
        </p:spPr>
        <p:txBody>
          <a:bodyPr vert="horz" lIns="0" tIns="0" rIns="0" bIns="0" rtlCol="0" anchor="t" anchorCtr="0">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CH">
                <a:solidFill>
                  <a:srgbClr val="5787C0"/>
                </a:solidFill>
              </a:rPr>
              <a:t> ●</a:t>
            </a:r>
            <a:r>
              <a:rPr lang="en-GB" sz="1800">
                <a:solidFill>
                  <a:srgbClr val="5787C0"/>
                </a:solidFill>
              </a:rPr>
              <a:t> 	</a:t>
            </a:r>
            <a:r>
              <a:rPr lang="en-GB" sz="1800">
                <a:solidFill>
                  <a:schemeClr val="accent1">
                    <a:lumMod val="60000"/>
                    <a:lumOff val="40000"/>
                  </a:schemeClr>
                </a:solidFill>
              </a:rPr>
              <a:t>Training data</a:t>
            </a:r>
          </a:p>
          <a:p>
            <a:r>
              <a:rPr lang="en-CH">
                <a:solidFill>
                  <a:srgbClr val="FC6B65"/>
                </a:solidFill>
              </a:rPr>
              <a:t> ●	</a:t>
            </a:r>
            <a:r>
              <a:rPr lang="en-GB" sz="1800">
                <a:solidFill>
                  <a:srgbClr val="FC6B65"/>
                </a:solidFill>
              </a:rPr>
              <a:t>Test data</a:t>
            </a:r>
          </a:p>
          <a:p>
            <a:endParaRPr lang="de-CH" sz="1800"/>
          </a:p>
        </p:txBody>
      </p:sp>
      <p:pic>
        <p:nvPicPr>
          <p:cNvPr id="249" name="Graphic 248" descr="Arrow Right outline">
            <a:extLst>
              <a:ext uri="{FF2B5EF4-FFF2-40B4-BE49-F238E27FC236}">
                <a16:creationId xmlns:a16="http://schemas.microsoft.com/office/drawing/2014/main" id="{E35CC293-7B6E-D5A0-1C13-E98239E1261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43520" y="2594902"/>
            <a:ext cx="620325" cy="914400"/>
          </a:xfrm>
          <a:prstGeom prst="rect">
            <a:avLst/>
          </a:prstGeom>
        </p:spPr>
      </p:pic>
      <p:sp>
        <p:nvSpPr>
          <p:cNvPr id="3" name="TextBox 2">
            <a:extLst>
              <a:ext uri="{FF2B5EF4-FFF2-40B4-BE49-F238E27FC236}">
                <a16:creationId xmlns:a16="http://schemas.microsoft.com/office/drawing/2014/main" id="{BC14DEAE-BADF-5F9D-BB32-8230F7F3B85F}"/>
              </a:ext>
            </a:extLst>
          </p:cNvPr>
          <p:cNvSpPr txBox="1"/>
          <p:nvPr/>
        </p:nvSpPr>
        <p:spPr>
          <a:xfrm>
            <a:off x="192411" y="4887517"/>
            <a:ext cx="3503042" cy="1477328"/>
          </a:xfrm>
          <a:prstGeom prst="rect">
            <a:avLst/>
          </a:prstGeom>
          <a:noFill/>
        </p:spPr>
        <p:txBody>
          <a:bodyPr wrap="square" rtlCol="0">
            <a:spAutoFit/>
          </a:bodyPr>
          <a:lstStyle/>
          <a:p>
            <a:pPr algn="ctr"/>
            <a:r>
              <a:rPr lang="en-CH" b="1"/>
              <a:t>Prior</a:t>
            </a:r>
            <a:br>
              <a:rPr lang="en-CH" b="1"/>
            </a:br>
            <a:br>
              <a:rPr lang="en-CH"/>
            </a:br>
            <a:r>
              <a:rPr lang="en-CH"/>
              <a:t>Generate K </a:t>
            </a:r>
            <a:r>
              <a:rPr lang="en-CH" b="1"/>
              <a:t>synthetic datasets</a:t>
            </a:r>
            <a:r>
              <a:rPr lang="en-CH"/>
              <a:t> by sampling from a prior p(t) over </a:t>
            </a:r>
            <a:r>
              <a:rPr lang="en-CH" b="1"/>
              <a:t>supervised</a:t>
            </a:r>
            <a:r>
              <a:rPr lang="en-CH"/>
              <a:t> </a:t>
            </a:r>
            <a:r>
              <a:rPr lang="en-CH" b="1"/>
              <a:t>learning</a:t>
            </a:r>
            <a:r>
              <a:rPr lang="en-CH"/>
              <a:t> </a:t>
            </a:r>
            <a:r>
              <a:rPr lang="en-CH" b="1"/>
              <a:t>tasks</a:t>
            </a:r>
            <a:endParaRPr lang="en-CH"/>
          </a:p>
        </p:txBody>
      </p:sp>
    </p:spTree>
    <p:extLst>
      <p:ext uri="{BB962C8B-B14F-4D97-AF65-F5344CB8AC3E}">
        <p14:creationId xmlns:p14="http://schemas.microsoft.com/office/powerpoint/2010/main" val="9336950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51E86-627F-B3F0-517E-F8F7E37C5D07}"/>
            </a:ext>
          </a:extLst>
        </p:cNvPr>
        <p:cNvGrpSpPr/>
        <p:nvPr/>
      </p:nvGrpSpPr>
      <p:grpSpPr>
        <a:xfrm>
          <a:off x="0" y="0"/>
          <a:ext cx="0" cy="0"/>
          <a:chOff x="0" y="0"/>
          <a:chExt cx="0" cy="0"/>
        </a:xfrm>
      </p:grpSpPr>
      <p:grpSp>
        <p:nvGrpSpPr>
          <p:cNvPr id="89" name="Group 88">
            <a:extLst>
              <a:ext uri="{FF2B5EF4-FFF2-40B4-BE49-F238E27FC236}">
                <a16:creationId xmlns:a16="http://schemas.microsoft.com/office/drawing/2014/main" id="{46C02B3C-1A34-9BE8-D446-2A00A168F30D}"/>
              </a:ext>
            </a:extLst>
          </p:cNvPr>
          <p:cNvGrpSpPr/>
          <p:nvPr/>
        </p:nvGrpSpPr>
        <p:grpSpPr>
          <a:xfrm>
            <a:off x="9672475" y="225141"/>
            <a:ext cx="987786" cy="1213071"/>
            <a:chOff x="8563626" y="70171"/>
            <a:chExt cx="987786" cy="1213071"/>
          </a:xfrm>
        </p:grpSpPr>
        <p:pic>
          <p:nvPicPr>
            <p:cNvPr id="110" name="Picture 109">
              <a:extLst>
                <a:ext uri="{FF2B5EF4-FFF2-40B4-BE49-F238E27FC236}">
                  <a16:creationId xmlns:a16="http://schemas.microsoft.com/office/drawing/2014/main" id="{7CC5424C-4505-9748-FFD2-2E5A75FFCFF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563626" y="70171"/>
              <a:ext cx="987786" cy="1213071"/>
            </a:xfrm>
            <a:prstGeom prst="rect">
              <a:avLst/>
            </a:prstGeom>
          </p:spPr>
        </p:pic>
        <p:sp>
          <p:nvSpPr>
            <p:cNvPr id="114" name="Content Placeholder 2">
              <a:extLst>
                <a:ext uri="{FF2B5EF4-FFF2-40B4-BE49-F238E27FC236}">
                  <a16:creationId xmlns:a16="http://schemas.microsoft.com/office/drawing/2014/main" id="{DEE93F0B-4E03-BBA5-CA0A-5CF002F2711C}"/>
                </a:ext>
              </a:extLst>
            </p:cNvPr>
            <p:cNvSpPr txBox="1">
              <a:spLocks/>
            </p:cNvSpPr>
            <p:nvPr/>
          </p:nvSpPr>
          <p:spPr>
            <a:xfrm>
              <a:off x="8765514" y="81709"/>
              <a:ext cx="746872" cy="178760"/>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200">
                  <a:ea typeface="Cambria Math" panose="02040503050406030204" pitchFamily="18" charset="0"/>
                </a:rPr>
                <a:t>X         Y	</a:t>
              </a:r>
            </a:p>
          </p:txBody>
        </p:sp>
        <p:sp>
          <p:nvSpPr>
            <p:cNvPr id="123" name="Rectangle 122">
              <a:extLst>
                <a:ext uri="{FF2B5EF4-FFF2-40B4-BE49-F238E27FC236}">
                  <a16:creationId xmlns:a16="http://schemas.microsoft.com/office/drawing/2014/main" id="{B86BF5B9-7A8B-2E0A-D530-4C00658B09D2}"/>
                </a:ext>
              </a:extLst>
            </p:cNvPr>
            <p:cNvSpPr/>
            <p:nvPr/>
          </p:nvSpPr>
          <p:spPr>
            <a:xfrm>
              <a:off x="9174405" y="1110742"/>
              <a:ext cx="258162" cy="1180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grpSp>
      <p:pic>
        <p:nvPicPr>
          <p:cNvPr id="26" name="Graphic 25" descr="Arrow Right outline">
            <a:extLst>
              <a:ext uri="{FF2B5EF4-FFF2-40B4-BE49-F238E27FC236}">
                <a16:creationId xmlns:a16="http://schemas.microsoft.com/office/drawing/2014/main" id="{2799F592-8026-BFB3-5414-3287176899D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43520" y="2594902"/>
            <a:ext cx="620325" cy="914400"/>
          </a:xfrm>
          <a:prstGeom prst="rect">
            <a:avLst/>
          </a:prstGeom>
        </p:spPr>
      </p:pic>
      <p:grpSp>
        <p:nvGrpSpPr>
          <p:cNvPr id="160" name="Group 159">
            <a:extLst>
              <a:ext uri="{FF2B5EF4-FFF2-40B4-BE49-F238E27FC236}">
                <a16:creationId xmlns:a16="http://schemas.microsoft.com/office/drawing/2014/main" id="{4906DB3F-21DC-8ABC-AD03-440B438394FD}"/>
              </a:ext>
            </a:extLst>
          </p:cNvPr>
          <p:cNvGrpSpPr/>
          <p:nvPr/>
        </p:nvGrpSpPr>
        <p:grpSpPr>
          <a:xfrm>
            <a:off x="4455795" y="1608285"/>
            <a:ext cx="3633044" cy="5123585"/>
            <a:chOff x="4455795" y="1608285"/>
            <a:chExt cx="3633044" cy="5123585"/>
          </a:xfrm>
        </p:grpSpPr>
        <p:pic>
          <p:nvPicPr>
            <p:cNvPr id="120" name="Picture 119">
              <a:extLst>
                <a:ext uri="{FF2B5EF4-FFF2-40B4-BE49-F238E27FC236}">
                  <a16:creationId xmlns:a16="http://schemas.microsoft.com/office/drawing/2014/main" id="{35ADAAD1-D738-7976-373D-460D7A2065B5}"/>
                </a:ext>
              </a:extLst>
            </p:cNvPr>
            <p:cNvPicPr>
              <a:picLocks noChangeAspect="1"/>
            </p:cNvPicPr>
            <p:nvPr/>
          </p:nvPicPr>
          <p:blipFill>
            <a:blip r:embed="rId6" cstate="screen">
              <a:extLst>
                <a:ext uri="{28A0092B-C50C-407E-A947-70E740481C1C}">
                  <a14:useLocalDpi xmlns:a14="http://schemas.microsoft.com/office/drawing/2010/main"/>
                </a:ext>
              </a:extLst>
            </a:blip>
            <a:srcRect l="349" t="27442" r="-349" b="481"/>
            <a:stretch>
              <a:fillRect/>
            </a:stretch>
          </p:blipFill>
          <p:spPr>
            <a:xfrm>
              <a:off x="4455795" y="1608285"/>
              <a:ext cx="2934953" cy="3173065"/>
            </a:xfrm>
            <a:prstGeom prst="rect">
              <a:avLst/>
            </a:prstGeom>
          </p:spPr>
        </p:pic>
        <p:sp>
          <p:nvSpPr>
            <p:cNvPr id="90" name="TextBox 89">
              <a:extLst>
                <a:ext uri="{FF2B5EF4-FFF2-40B4-BE49-F238E27FC236}">
                  <a16:creationId xmlns:a16="http://schemas.microsoft.com/office/drawing/2014/main" id="{2AE7873B-F9C5-4E87-FD14-68B19A4E8CC8}"/>
                </a:ext>
              </a:extLst>
            </p:cNvPr>
            <p:cNvSpPr txBox="1"/>
            <p:nvPr/>
          </p:nvSpPr>
          <p:spPr>
            <a:xfrm>
              <a:off x="4752615" y="6516426"/>
              <a:ext cx="2686770" cy="215444"/>
            </a:xfrm>
            <a:prstGeom prst="rect">
              <a:avLst/>
            </a:prstGeom>
            <a:noFill/>
          </p:spPr>
          <p:txBody>
            <a:bodyPr wrap="square">
              <a:spAutoFit/>
            </a:bodyPr>
            <a:lstStyle/>
            <a:p>
              <a:r>
                <a:rPr lang="en-GB" sz="800"/>
                <a:t>Pretraining animation created with Claude (Anthropic)</a:t>
              </a:r>
              <a:endParaRPr lang="en-CH" sz="800"/>
            </a:p>
          </p:txBody>
        </p:sp>
        <p:sp>
          <p:nvSpPr>
            <p:cNvPr id="125" name="Footer Placeholder 4">
              <a:extLst>
                <a:ext uri="{FF2B5EF4-FFF2-40B4-BE49-F238E27FC236}">
                  <a16:creationId xmlns:a16="http://schemas.microsoft.com/office/drawing/2014/main" id="{B233F5F7-0143-C61E-53F8-5B1CE3F087D3}"/>
                </a:ext>
              </a:extLst>
            </p:cNvPr>
            <p:cNvSpPr txBox="1">
              <a:spLocks/>
            </p:cNvSpPr>
            <p:nvPr/>
          </p:nvSpPr>
          <p:spPr>
            <a:xfrm>
              <a:off x="6166105" y="2433190"/>
              <a:ext cx="812226" cy="22714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rgbClr val="FC6B65"/>
                  </a:solidFill>
                </a:rPr>
                <a:t>y</a:t>
              </a:r>
              <a:r>
                <a:rPr lang="de-DE" sz="1400" b="1" baseline="30000">
                  <a:solidFill>
                    <a:srgbClr val="FC6B65"/>
                  </a:solidFill>
                </a:rPr>
                <a:t>(1)</a:t>
              </a:r>
              <a:endParaRPr lang="de-DE" sz="1400" b="1">
                <a:solidFill>
                  <a:srgbClr val="FC6B65"/>
                </a:solidFill>
              </a:endParaRPr>
            </a:p>
          </p:txBody>
        </p:sp>
        <p:sp>
          <p:nvSpPr>
            <p:cNvPr id="137" name="Footer Placeholder 4">
              <a:extLst>
                <a:ext uri="{FF2B5EF4-FFF2-40B4-BE49-F238E27FC236}">
                  <a16:creationId xmlns:a16="http://schemas.microsoft.com/office/drawing/2014/main" id="{FD748A46-7E5F-B134-BCA1-BBF95CF207A2}"/>
                </a:ext>
              </a:extLst>
            </p:cNvPr>
            <p:cNvSpPr txBox="1">
              <a:spLocks/>
            </p:cNvSpPr>
            <p:nvPr/>
          </p:nvSpPr>
          <p:spPr>
            <a:xfrm>
              <a:off x="5132634" y="3247950"/>
              <a:ext cx="812226" cy="22714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rgbClr val="FC6B65"/>
                  </a:solidFill>
                </a:rPr>
                <a:t>y</a:t>
              </a:r>
              <a:r>
                <a:rPr lang="de-DE" sz="1400" b="1" baseline="30000">
                  <a:solidFill>
                    <a:srgbClr val="FC6B65"/>
                  </a:solidFill>
                </a:rPr>
                <a:t>(2)</a:t>
              </a:r>
              <a:endParaRPr lang="de-DE" sz="1400" b="1">
                <a:solidFill>
                  <a:srgbClr val="FC6B65"/>
                </a:solidFill>
              </a:endParaRPr>
            </a:p>
          </p:txBody>
        </p:sp>
        <p:sp>
          <p:nvSpPr>
            <p:cNvPr id="139" name="Footer Placeholder 4">
              <a:extLst>
                <a:ext uri="{FF2B5EF4-FFF2-40B4-BE49-F238E27FC236}">
                  <a16:creationId xmlns:a16="http://schemas.microsoft.com/office/drawing/2014/main" id="{4AAC23B1-775E-BA4F-4356-FFCA9FD8BE50}"/>
                </a:ext>
              </a:extLst>
            </p:cNvPr>
            <p:cNvSpPr txBox="1">
              <a:spLocks/>
            </p:cNvSpPr>
            <p:nvPr/>
          </p:nvSpPr>
          <p:spPr>
            <a:xfrm>
              <a:off x="6364664" y="4347673"/>
              <a:ext cx="812226" cy="22714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rgbClr val="FC6B65"/>
                  </a:solidFill>
                </a:rPr>
                <a:t>y</a:t>
              </a:r>
              <a:r>
                <a:rPr lang="de-DE" sz="1400" b="1" baseline="30000">
                  <a:solidFill>
                    <a:srgbClr val="FC6B65"/>
                  </a:solidFill>
                </a:rPr>
                <a:t>(k)</a:t>
              </a:r>
              <a:endParaRPr lang="de-DE" sz="1400" b="1">
                <a:solidFill>
                  <a:srgbClr val="FC6B65"/>
                </a:solidFill>
              </a:endParaRPr>
            </a:p>
          </p:txBody>
        </p:sp>
        <p:pic>
          <p:nvPicPr>
            <p:cNvPr id="156" name="Picture 155">
              <a:extLst>
                <a:ext uri="{FF2B5EF4-FFF2-40B4-BE49-F238E27FC236}">
                  <a16:creationId xmlns:a16="http://schemas.microsoft.com/office/drawing/2014/main" id="{9E161246-9484-1329-8C17-9809A2EE0345}"/>
                </a:ext>
              </a:extLst>
            </p:cNvPr>
            <p:cNvPicPr>
              <a:picLocks noChangeAspect="1"/>
            </p:cNvPicPr>
            <p:nvPr/>
          </p:nvPicPr>
          <p:blipFill>
            <a:blip r:embed="rId7" cstate="screen">
              <a:extLst>
                <a:ext uri="{28A0092B-C50C-407E-A947-70E740481C1C}">
                  <a14:useLocalDpi xmlns:a14="http://schemas.microsoft.com/office/drawing/2010/main"/>
                </a:ext>
              </a:extLst>
            </a:blip>
            <a:srcRect l="37043" t="5943" r="23234" b="72176"/>
            <a:stretch>
              <a:fillRect/>
            </a:stretch>
          </p:blipFill>
          <p:spPr>
            <a:xfrm>
              <a:off x="7043530" y="4635762"/>
              <a:ext cx="1045309" cy="863698"/>
            </a:xfrm>
            <a:prstGeom prst="rect">
              <a:avLst/>
            </a:prstGeom>
          </p:spPr>
        </p:pic>
      </p:grpSp>
      <p:sp>
        <p:nvSpPr>
          <p:cNvPr id="6" name="Slide Number Placeholder 5">
            <a:extLst>
              <a:ext uri="{FF2B5EF4-FFF2-40B4-BE49-F238E27FC236}">
                <a16:creationId xmlns:a16="http://schemas.microsoft.com/office/drawing/2014/main" id="{855035DB-18C0-8BB2-8F7F-FCB02BC5715C}"/>
              </a:ext>
            </a:extLst>
          </p:cNvPr>
          <p:cNvSpPr>
            <a:spLocks noGrp="1"/>
          </p:cNvSpPr>
          <p:nvPr>
            <p:ph type="sldNum" sz="quarter" idx="12"/>
          </p:nvPr>
        </p:nvSpPr>
        <p:spPr/>
        <p:txBody>
          <a:bodyPr/>
          <a:lstStyle/>
          <a:p>
            <a:fld id="{5ACA52AF-F19D-405C-AD5F-7D94B96A5CC3}" type="slidenum">
              <a:rPr lang="de-CH" noProof="0" smtClean="0"/>
              <a:t>15</a:t>
            </a:fld>
            <a:endParaRPr lang="de-CH" noProof="0"/>
          </a:p>
        </p:txBody>
      </p:sp>
      <p:sp>
        <p:nvSpPr>
          <p:cNvPr id="2" name="TextBox 1">
            <a:extLst>
              <a:ext uri="{FF2B5EF4-FFF2-40B4-BE49-F238E27FC236}">
                <a16:creationId xmlns:a16="http://schemas.microsoft.com/office/drawing/2014/main" id="{EDA6BB7B-3E7B-C9D7-F19D-A1B1D7F31298}"/>
              </a:ext>
            </a:extLst>
          </p:cNvPr>
          <p:cNvSpPr txBox="1"/>
          <p:nvPr/>
        </p:nvSpPr>
        <p:spPr>
          <a:xfrm>
            <a:off x="192411" y="4887517"/>
            <a:ext cx="3503042" cy="1477328"/>
          </a:xfrm>
          <a:prstGeom prst="rect">
            <a:avLst/>
          </a:prstGeom>
          <a:noFill/>
        </p:spPr>
        <p:txBody>
          <a:bodyPr wrap="square" rtlCol="0">
            <a:spAutoFit/>
          </a:bodyPr>
          <a:lstStyle/>
          <a:p>
            <a:pPr algn="ctr"/>
            <a:r>
              <a:rPr lang="en-CH" b="1"/>
              <a:t>Prior</a:t>
            </a:r>
            <a:br>
              <a:rPr lang="en-CH" b="1"/>
            </a:br>
            <a:br>
              <a:rPr lang="en-CH"/>
            </a:br>
            <a:r>
              <a:rPr lang="en-CH"/>
              <a:t>Generate K </a:t>
            </a:r>
            <a:r>
              <a:rPr lang="en-CH" b="1"/>
              <a:t>synthetic datasets</a:t>
            </a:r>
            <a:r>
              <a:rPr lang="en-CH"/>
              <a:t> by sampling from a prior p(t) over </a:t>
            </a:r>
            <a:r>
              <a:rPr lang="en-CH" b="1"/>
              <a:t>supervised</a:t>
            </a:r>
            <a:r>
              <a:rPr lang="en-CH"/>
              <a:t> </a:t>
            </a:r>
            <a:r>
              <a:rPr lang="en-CH" b="1"/>
              <a:t>learning</a:t>
            </a:r>
            <a:r>
              <a:rPr lang="en-CH"/>
              <a:t> </a:t>
            </a:r>
            <a:r>
              <a:rPr lang="en-CH" b="1"/>
              <a:t>tasks</a:t>
            </a:r>
            <a:endParaRPr lang="en-CH"/>
          </a:p>
        </p:txBody>
      </p:sp>
      <p:sp>
        <p:nvSpPr>
          <p:cNvPr id="41" name="Content Placeholder 2">
            <a:extLst>
              <a:ext uri="{FF2B5EF4-FFF2-40B4-BE49-F238E27FC236}">
                <a16:creationId xmlns:a16="http://schemas.microsoft.com/office/drawing/2014/main" id="{E4D77C60-91EE-FAEB-FBF6-D3C5803C6D6F}"/>
              </a:ext>
            </a:extLst>
          </p:cNvPr>
          <p:cNvSpPr txBox="1">
            <a:spLocks/>
          </p:cNvSpPr>
          <p:nvPr/>
        </p:nvSpPr>
        <p:spPr>
          <a:xfrm rot="5400000">
            <a:off x="4050396" y="3493681"/>
            <a:ext cx="588349" cy="308805"/>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a:t>…</a:t>
            </a:r>
          </a:p>
          <a:p>
            <a:pPr marL="0" indent="0">
              <a:buNone/>
            </a:pPr>
            <a:endParaRPr lang="en-CH"/>
          </a:p>
        </p:txBody>
      </p:sp>
      <p:sp>
        <p:nvSpPr>
          <p:cNvPr id="11" name="Oval 10">
            <a:extLst>
              <a:ext uri="{FF2B5EF4-FFF2-40B4-BE49-F238E27FC236}">
                <a16:creationId xmlns:a16="http://schemas.microsoft.com/office/drawing/2014/main" id="{64B9DF38-B44D-2BDE-DF7E-32225876D11C}"/>
              </a:ext>
            </a:extLst>
          </p:cNvPr>
          <p:cNvSpPr/>
          <p:nvPr/>
        </p:nvSpPr>
        <p:spPr>
          <a:xfrm>
            <a:off x="491203" y="2152173"/>
            <a:ext cx="1920672" cy="192067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Freeform 21">
            <a:extLst>
              <a:ext uri="{FF2B5EF4-FFF2-40B4-BE49-F238E27FC236}">
                <a16:creationId xmlns:a16="http://schemas.microsoft.com/office/drawing/2014/main" id="{5A70EA1E-85C1-C284-2882-8ED96D2C3DAC}"/>
              </a:ext>
            </a:extLst>
          </p:cNvPr>
          <p:cNvSpPr/>
          <p:nvPr/>
        </p:nvSpPr>
        <p:spPr>
          <a:xfrm>
            <a:off x="742858" y="2835759"/>
            <a:ext cx="1483895" cy="357504"/>
          </a:xfrm>
          <a:custGeom>
            <a:avLst/>
            <a:gdLst>
              <a:gd name="connsiteX0" fmla="*/ 0 w 1483895"/>
              <a:gd name="connsiteY0" fmla="*/ 238112 h 357504"/>
              <a:gd name="connsiteX1" fmla="*/ 533400 w 1483895"/>
              <a:gd name="connsiteY1" fmla="*/ 1490 h 357504"/>
              <a:gd name="connsiteX2" fmla="*/ 1122948 w 1483895"/>
              <a:gd name="connsiteY2" fmla="*/ 338375 h 357504"/>
              <a:gd name="connsiteX3" fmla="*/ 1483895 w 1483895"/>
              <a:gd name="connsiteY3" fmla="*/ 286238 h 357504"/>
            </a:gdLst>
            <a:ahLst/>
            <a:cxnLst>
              <a:cxn ang="0">
                <a:pos x="connsiteX0" y="connsiteY0"/>
              </a:cxn>
              <a:cxn ang="0">
                <a:pos x="connsiteX1" y="connsiteY1"/>
              </a:cxn>
              <a:cxn ang="0">
                <a:pos x="connsiteX2" y="connsiteY2"/>
              </a:cxn>
              <a:cxn ang="0">
                <a:pos x="connsiteX3" y="connsiteY3"/>
              </a:cxn>
            </a:cxnLst>
            <a:rect l="l" t="t" r="r" b="b"/>
            <a:pathLst>
              <a:path w="1483895" h="357504">
                <a:moveTo>
                  <a:pt x="0" y="238112"/>
                </a:moveTo>
                <a:cubicBezTo>
                  <a:pt x="173121" y="111445"/>
                  <a:pt x="346242" y="-15221"/>
                  <a:pt x="533400" y="1490"/>
                </a:cubicBezTo>
                <a:cubicBezTo>
                  <a:pt x="720558" y="18200"/>
                  <a:pt x="964532" y="290917"/>
                  <a:pt x="1122948" y="338375"/>
                </a:cubicBezTo>
                <a:cubicBezTo>
                  <a:pt x="1281364" y="385833"/>
                  <a:pt x="1382629" y="336035"/>
                  <a:pt x="1483895" y="286238"/>
                </a:cubicBezTo>
              </a:path>
            </a:pathLst>
          </a:custGeom>
          <a:noFill/>
          <a:ln w="38100">
            <a:solidFill>
              <a:srgbClr val="A307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4" name="Freeform 33">
            <a:extLst>
              <a:ext uri="{FF2B5EF4-FFF2-40B4-BE49-F238E27FC236}">
                <a16:creationId xmlns:a16="http://schemas.microsoft.com/office/drawing/2014/main" id="{C1994F3A-0FC0-9578-DB75-871AA3C8465E}"/>
              </a:ext>
            </a:extLst>
          </p:cNvPr>
          <p:cNvSpPr/>
          <p:nvPr/>
        </p:nvSpPr>
        <p:spPr>
          <a:xfrm>
            <a:off x="749968" y="2470484"/>
            <a:ext cx="1263316" cy="340895"/>
          </a:xfrm>
          <a:custGeom>
            <a:avLst/>
            <a:gdLst>
              <a:gd name="connsiteX0" fmla="*/ 0 w 1263316"/>
              <a:gd name="connsiteY0" fmla="*/ 340895 h 340895"/>
              <a:gd name="connsiteX1" fmla="*/ 176464 w 1263316"/>
              <a:gd name="connsiteY1" fmla="*/ 200527 h 340895"/>
              <a:gd name="connsiteX2" fmla="*/ 557464 w 1263316"/>
              <a:gd name="connsiteY2" fmla="*/ 332874 h 340895"/>
              <a:gd name="connsiteX3" fmla="*/ 978569 w 1263316"/>
              <a:gd name="connsiteY3" fmla="*/ 64169 h 340895"/>
              <a:gd name="connsiteX4" fmla="*/ 1263316 w 1263316"/>
              <a:gd name="connsiteY4" fmla="*/ 0 h 340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316" h="340895">
                <a:moveTo>
                  <a:pt x="0" y="340895"/>
                </a:moveTo>
                <a:cubicBezTo>
                  <a:pt x="41776" y="271379"/>
                  <a:pt x="83553" y="201864"/>
                  <a:pt x="176464" y="200527"/>
                </a:cubicBezTo>
                <a:cubicBezTo>
                  <a:pt x="269375" y="199190"/>
                  <a:pt x="423780" y="355600"/>
                  <a:pt x="557464" y="332874"/>
                </a:cubicBezTo>
                <a:cubicBezTo>
                  <a:pt x="691148" y="310148"/>
                  <a:pt x="860927" y="119648"/>
                  <a:pt x="978569" y="64169"/>
                </a:cubicBezTo>
                <a:cubicBezTo>
                  <a:pt x="1096211" y="8690"/>
                  <a:pt x="1179763" y="4345"/>
                  <a:pt x="1263316" y="0"/>
                </a:cubicBezTo>
              </a:path>
            </a:pathLst>
          </a:cu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7" name="Freeform 36">
            <a:extLst>
              <a:ext uri="{FF2B5EF4-FFF2-40B4-BE49-F238E27FC236}">
                <a16:creationId xmlns:a16="http://schemas.microsoft.com/office/drawing/2014/main" id="{595A5923-2F30-2168-FF3E-77B184A3FCA3}"/>
              </a:ext>
            </a:extLst>
          </p:cNvPr>
          <p:cNvSpPr/>
          <p:nvPr/>
        </p:nvSpPr>
        <p:spPr>
          <a:xfrm>
            <a:off x="822158" y="2749743"/>
            <a:ext cx="1411705" cy="803583"/>
          </a:xfrm>
          <a:custGeom>
            <a:avLst/>
            <a:gdLst>
              <a:gd name="connsiteX0" fmla="*/ 0 w 1411705"/>
              <a:gd name="connsiteY0" fmla="*/ 803583 h 803583"/>
              <a:gd name="connsiteX1" fmla="*/ 268705 w 1411705"/>
              <a:gd name="connsiteY1" fmla="*/ 394510 h 803583"/>
              <a:gd name="connsiteX2" fmla="*/ 573505 w 1411705"/>
              <a:gd name="connsiteY2" fmla="*/ 643162 h 803583"/>
              <a:gd name="connsiteX3" fmla="*/ 966537 w 1411705"/>
              <a:gd name="connsiteY3" fmla="*/ 13510 h 803583"/>
              <a:gd name="connsiteX4" fmla="*/ 1231231 w 1411705"/>
              <a:gd name="connsiteY4" fmla="*/ 202004 h 803583"/>
              <a:gd name="connsiteX5" fmla="*/ 1411705 w 1411705"/>
              <a:gd name="connsiteY5" fmla="*/ 85699 h 803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1705" h="803583">
                <a:moveTo>
                  <a:pt x="0" y="803583"/>
                </a:moveTo>
                <a:cubicBezTo>
                  <a:pt x="86560" y="612415"/>
                  <a:pt x="173121" y="421247"/>
                  <a:pt x="268705" y="394510"/>
                </a:cubicBezTo>
                <a:cubicBezTo>
                  <a:pt x="364289" y="367773"/>
                  <a:pt x="457200" y="706662"/>
                  <a:pt x="573505" y="643162"/>
                </a:cubicBezTo>
                <a:cubicBezTo>
                  <a:pt x="689810" y="579662"/>
                  <a:pt x="856916" y="87036"/>
                  <a:pt x="966537" y="13510"/>
                </a:cubicBezTo>
                <a:cubicBezTo>
                  <a:pt x="1076158" y="-60016"/>
                  <a:pt x="1157036" y="189973"/>
                  <a:pt x="1231231" y="202004"/>
                </a:cubicBezTo>
                <a:cubicBezTo>
                  <a:pt x="1305426" y="214035"/>
                  <a:pt x="1358565" y="149867"/>
                  <a:pt x="1411705" y="85699"/>
                </a:cubicBezTo>
              </a:path>
            </a:pathLst>
          </a:custGeom>
          <a:noFill/>
          <a:ln w="3810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8" name="Freeform 37">
            <a:extLst>
              <a:ext uri="{FF2B5EF4-FFF2-40B4-BE49-F238E27FC236}">
                <a16:creationId xmlns:a16="http://schemas.microsoft.com/office/drawing/2014/main" id="{FAA4C125-502B-06F7-8B1E-7028C340C6DD}"/>
              </a:ext>
            </a:extLst>
          </p:cNvPr>
          <p:cNvSpPr/>
          <p:nvPr/>
        </p:nvSpPr>
        <p:spPr>
          <a:xfrm>
            <a:off x="757418" y="3357051"/>
            <a:ext cx="1427747" cy="253063"/>
          </a:xfrm>
          <a:custGeom>
            <a:avLst/>
            <a:gdLst>
              <a:gd name="connsiteX0" fmla="*/ 0 w 1427747"/>
              <a:gd name="connsiteY0" fmla="*/ 0 h 253063"/>
              <a:gd name="connsiteX1" fmla="*/ 364958 w 1427747"/>
              <a:gd name="connsiteY1" fmla="*/ 252663 h 253063"/>
              <a:gd name="connsiteX2" fmla="*/ 994611 w 1427747"/>
              <a:gd name="connsiteY2" fmla="*/ 60158 h 253063"/>
              <a:gd name="connsiteX3" fmla="*/ 1259305 w 1427747"/>
              <a:gd name="connsiteY3" fmla="*/ 124326 h 253063"/>
              <a:gd name="connsiteX4" fmla="*/ 1427747 w 1427747"/>
              <a:gd name="connsiteY4" fmla="*/ 60158 h 253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7747" h="253063">
                <a:moveTo>
                  <a:pt x="0" y="0"/>
                </a:moveTo>
                <a:cubicBezTo>
                  <a:pt x="99595" y="121318"/>
                  <a:pt x="199190" y="242637"/>
                  <a:pt x="364958" y="252663"/>
                </a:cubicBezTo>
                <a:cubicBezTo>
                  <a:pt x="530726" y="262689"/>
                  <a:pt x="845553" y="81548"/>
                  <a:pt x="994611" y="60158"/>
                </a:cubicBezTo>
                <a:cubicBezTo>
                  <a:pt x="1143669" y="38769"/>
                  <a:pt x="1187116" y="124326"/>
                  <a:pt x="1259305" y="124326"/>
                </a:cubicBezTo>
                <a:cubicBezTo>
                  <a:pt x="1331494" y="124326"/>
                  <a:pt x="1379620" y="92242"/>
                  <a:pt x="1427747" y="60158"/>
                </a:cubicBezTo>
              </a:path>
            </a:pathLst>
          </a:custGeom>
          <a:noFill/>
          <a:ln w="38100">
            <a:solidFill>
              <a:srgbClr val="7AAB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9" name="Freeform 38">
            <a:extLst>
              <a:ext uri="{FF2B5EF4-FFF2-40B4-BE49-F238E27FC236}">
                <a16:creationId xmlns:a16="http://schemas.microsoft.com/office/drawing/2014/main" id="{085C4789-1813-3F2A-0C60-BD8C3829A4BA}"/>
              </a:ext>
            </a:extLst>
          </p:cNvPr>
          <p:cNvSpPr/>
          <p:nvPr/>
        </p:nvSpPr>
        <p:spPr>
          <a:xfrm>
            <a:off x="914400" y="3275509"/>
            <a:ext cx="1203158" cy="559029"/>
          </a:xfrm>
          <a:custGeom>
            <a:avLst/>
            <a:gdLst>
              <a:gd name="connsiteX0" fmla="*/ 0 w 1203158"/>
              <a:gd name="connsiteY0" fmla="*/ 354017 h 559029"/>
              <a:gd name="connsiteX1" fmla="*/ 160421 w 1203158"/>
              <a:gd name="connsiteY1" fmla="*/ 558554 h 559029"/>
              <a:gd name="connsiteX2" fmla="*/ 336884 w 1203158"/>
              <a:gd name="connsiteY2" fmla="*/ 414175 h 559029"/>
              <a:gd name="connsiteX3" fmla="*/ 509337 w 1203158"/>
              <a:gd name="connsiteY3" fmla="*/ 542512 h 559029"/>
              <a:gd name="connsiteX4" fmla="*/ 818147 w 1203158"/>
              <a:gd name="connsiteY4" fmla="*/ 1091 h 559029"/>
              <a:gd name="connsiteX5" fmla="*/ 1030705 w 1203158"/>
              <a:gd name="connsiteY5" fmla="*/ 402144 h 559029"/>
              <a:gd name="connsiteX6" fmla="*/ 1203158 w 1203158"/>
              <a:gd name="connsiteY6" fmla="*/ 390112 h 559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3158" h="559029">
                <a:moveTo>
                  <a:pt x="0" y="354017"/>
                </a:moveTo>
                <a:cubicBezTo>
                  <a:pt x="52137" y="451272"/>
                  <a:pt x="104274" y="548528"/>
                  <a:pt x="160421" y="558554"/>
                </a:cubicBezTo>
                <a:cubicBezTo>
                  <a:pt x="216568" y="568580"/>
                  <a:pt x="278732" y="416849"/>
                  <a:pt x="336884" y="414175"/>
                </a:cubicBezTo>
                <a:cubicBezTo>
                  <a:pt x="395036" y="411501"/>
                  <a:pt x="429127" y="611359"/>
                  <a:pt x="509337" y="542512"/>
                </a:cubicBezTo>
                <a:cubicBezTo>
                  <a:pt x="589548" y="473665"/>
                  <a:pt x="731252" y="24486"/>
                  <a:pt x="818147" y="1091"/>
                </a:cubicBezTo>
                <a:cubicBezTo>
                  <a:pt x="905042" y="-22304"/>
                  <a:pt x="966537" y="337307"/>
                  <a:pt x="1030705" y="402144"/>
                </a:cubicBezTo>
                <a:cubicBezTo>
                  <a:pt x="1094873" y="466981"/>
                  <a:pt x="1149015" y="428546"/>
                  <a:pt x="1203158" y="390112"/>
                </a:cubicBezTo>
              </a:path>
            </a:pathLst>
          </a:custGeom>
          <a:noFill/>
          <a:ln w="38100">
            <a:solidFill>
              <a:srgbClr val="A693B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 name="Freeform 11">
            <a:extLst>
              <a:ext uri="{FF2B5EF4-FFF2-40B4-BE49-F238E27FC236}">
                <a16:creationId xmlns:a16="http://schemas.microsoft.com/office/drawing/2014/main" id="{91D93951-239E-E459-B032-460476AEB072}"/>
              </a:ext>
            </a:extLst>
          </p:cNvPr>
          <p:cNvSpPr/>
          <p:nvPr/>
        </p:nvSpPr>
        <p:spPr>
          <a:xfrm>
            <a:off x="858253" y="2430307"/>
            <a:ext cx="1283368" cy="717956"/>
          </a:xfrm>
          <a:custGeom>
            <a:avLst/>
            <a:gdLst>
              <a:gd name="connsiteX0" fmla="*/ 0 w 1283368"/>
              <a:gd name="connsiteY0" fmla="*/ 717956 h 717956"/>
              <a:gd name="connsiteX1" fmla="*/ 264694 w 1283368"/>
              <a:gd name="connsiteY1" fmla="*/ 36167 h 717956"/>
              <a:gd name="connsiteX2" fmla="*/ 481263 w 1283368"/>
              <a:gd name="connsiteY2" fmla="*/ 292840 h 717956"/>
              <a:gd name="connsiteX3" fmla="*/ 673768 w 1283368"/>
              <a:gd name="connsiteY3" fmla="*/ 72 h 717956"/>
              <a:gd name="connsiteX4" fmla="*/ 778042 w 1283368"/>
              <a:gd name="connsiteY4" fmla="*/ 324925 h 717956"/>
              <a:gd name="connsiteX5" fmla="*/ 966536 w 1283368"/>
              <a:gd name="connsiteY5" fmla="*/ 124398 h 717956"/>
              <a:gd name="connsiteX6" fmla="*/ 1102894 w 1283368"/>
              <a:gd name="connsiteY6" fmla="*/ 661809 h 717956"/>
              <a:gd name="connsiteX7" fmla="*/ 1283368 w 1283368"/>
              <a:gd name="connsiteY7" fmla="*/ 573577 h 717956"/>
              <a:gd name="connsiteX8" fmla="*/ 1283368 w 1283368"/>
              <a:gd name="connsiteY8" fmla="*/ 573577 h 71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68" h="717956">
                <a:moveTo>
                  <a:pt x="0" y="717956"/>
                </a:moveTo>
                <a:cubicBezTo>
                  <a:pt x="92242" y="412488"/>
                  <a:pt x="184484" y="107020"/>
                  <a:pt x="264694" y="36167"/>
                </a:cubicBezTo>
                <a:cubicBezTo>
                  <a:pt x="344904" y="-34686"/>
                  <a:pt x="413084" y="298856"/>
                  <a:pt x="481263" y="292840"/>
                </a:cubicBezTo>
                <a:cubicBezTo>
                  <a:pt x="549442" y="286824"/>
                  <a:pt x="624305" y="-5276"/>
                  <a:pt x="673768" y="72"/>
                </a:cubicBezTo>
                <a:cubicBezTo>
                  <a:pt x="723231" y="5419"/>
                  <a:pt x="729247" y="304204"/>
                  <a:pt x="778042" y="324925"/>
                </a:cubicBezTo>
                <a:cubicBezTo>
                  <a:pt x="826837" y="345646"/>
                  <a:pt x="912394" y="68251"/>
                  <a:pt x="966536" y="124398"/>
                </a:cubicBezTo>
                <a:cubicBezTo>
                  <a:pt x="1020678" y="180545"/>
                  <a:pt x="1050089" y="586946"/>
                  <a:pt x="1102894" y="661809"/>
                </a:cubicBezTo>
                <a:cubicBezTo>
                  <a:pt x="1155699" y="736672"/>
                  <a:pt x="1283368" y="573577"/>
                  <a:pt x="1283368" y="573577"/>
                </a:cubicBezTo>
                <a:lnTo>
                  <a:pt x="1283368" y="573577"/>
                </a:lnTo>
              </a:path>
            </a:pathLst>
          </a:custGeom>
          <a:noFill/>
          <a:ln w="38100">
            <a:solidFill>
              <a:srgbClr val="E5CE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3" name="Rectangle 112">
            <a:extLst>
              <a:ext uri="{FF2B5EF4-FFF2-40B4-BE49-F238E27FC236}">
                <a16:creationId xmlns:a16="http://schemas.microsoft.com/office/drawing/2014/main" id="{48EE8C14-137B-EADA-7728-7C22EFBDBB78}"/>
              </a:ext>
            </a:extLst>
          </p:cNvPr>
          <p:cNvSpPr/>
          <p:nvPr/>
        </p:nvSpPr>
        <p:spPr>
          <a:xfrm>
            <a:off x="8747051" y="3417886"/>
            <a:ext cx="205055" cy="118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9" name="TextBox 118">
            <a:extLst>
              <a:ext uri="{FF2B5EF4-FFF2-40B4-BE49-F238E27FC236}">
                <a16:creationId xmlns:a16="http://schemas.microsoft.com/office/drawing/2014/main" id="{AD52E292-9A09-5D4E-A7C7-A8ABAE681AD5}"/>
              </a:ext>
            </a:extLst>
          </p:cNvPr>
          <p:cNvSpPr txBox="1"/>
          <p:nvPr/>
        </p:nvSpPr>
        <p:spPr>
          <a:xfrm>
            <a:off x="8289974" y="4891785"/>
            <a:ext cx="3788780" cy="1477328"/>
          </a:xfrm>
          <a:prstGeom prst="rect">
            <a:avLst/>
          </a:prstGeom>
          <a:noFill/>
        </p:spPr>
        <p:txBody>
          <a:bodyPr wrap="square" rtlCol="0">
            <a:spAutoFit/>
          </a:bodyPr>
          <a:lstStyle/>
          <a:p>
            <a:pPr algn="ctr"/>
            <a:r>
              <a:rPr lang="en-CH" b="1"/>
              <a:t>Inference</a:t>
            </a:r>
            <a:br>
              <a:rPr lang="en-CH" b="1"/>
            </a:br>
            <a:endParaRPr lang="en-CH"/>
          </a:p>
          <a:p>
            <a:pPr algn="ctr"/>
            <a:r>
              <a:rPr lang="en-GB"/>
              <a:t>The trained T</a:t>
            </a:r>
            <a:r>
              <a:rPr lang="el-GR" baseline="-25000"/>
              <a:t>θ</a:t>
            </a:r>
            <a:r>
              <a:rPr lang="en-GB"/>
              <a:t> performs </a:t>
            </a:r>
            <a:r>
              <a:rPr lang="en-GB" b="1"/>
              <a:t>instant</a:t>
            </a:r>
            <a:r>
              <a:rPr lang="en-GB"/>
              <a:t> Bayesian inference for </a:t>
            </a:r>
            <a:r>
              <a:rPr lang="en-GB">
                <a:solidFill>
                  <a:srgbClr val="FC6B65"/>
                </a:solidFill>
              </a:rPr>
              <a:t>query points </a:t>
            </a:r>
            <a:r>
              <a:rPr lang="en-GB"/>
              <a:t>given a new dataset as input</a:t>
            </a:r>
            <a:endParaRPr lang="en-CH"/>
          </a:p>
        </p:txBody>
      </p:sp>
      <p:sp>
        <p:nvSpPr>
          <p:cNvPr id="142" name="Content Placeholder 2">
            <a:extLst>
              <a:ext uri="{FF2B5EF4-FFF2-40B4-BE49-F238E27FC236}">
                <a16:creationId xmlns:a16="http://schemas.microsoft.com/office/drawing/2014/main" id="{D75C9DC7-0E16-707F-F61A-97D88023E715}"/>
              </a:ext>
            </a:extLst>
          </p:cNvPr>
          <p:cNvSpPr txBox="1">
            <a:spLocks/>
          </p:cNvSpPr>
          <p:nvPr/>
        </p:nvSpPr>
        <p:spPr>
          <a:xfrm>
            <a:off x="4099688" y="1581760"/>
            <a:ext cx="746872" cy="103512"/>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800">
                <a:ea typeface="Cambria Math" panose="02040503050406030204" pitchFamily="18" charset="0"/>
              </a:rPr>
              <a:t>X        Y</a:t>
            </a:r>
          </a:p>
        </p:txBody>
      </p:sp>
      <p:sp>
        <p:nvSpPr>
          <p:cNvPr id="147" name="Content Placeholder 2">
            <a:extLst>
              <a:ext uri="{FF2B5EF4-FFF2-40B4-BE49-F238E27FC236}">
                <a16:creationId xmlns:a16="http://schemas.microsoft.com/office/drawing/2014/main" id="{0DF0584D-FA2D-9361-7D42-3F5C88D0F145}"/>
              </a:ext>
            </a:extLst>
          </p:cNvPr>
          <p:cNvSpPr txBox="1">
            <a:spLocks/>
          </p:cNvSpPr>
          <p:nvPr/>
        </p:nvSpPr>
        <p:spPr>
          <a:xfrm>
            <a:off x="4095515" y="2471844"/>
            <a:ext cx="746872" cy="178760"/>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800">
                <a:ea typeface="Cambria Math" panose="02040503050406030204" pitchFamily="18" charset="0"/>
              </a:rPr>
              <a:t>X        Y</a:t>
            </a:r>
          </a:p>
        </p:txBody>
      </p:sp>
      <p:sp>
        <p:nvSpPr>
          <p:cNvPr id="149" name="Content Placeholder 2">
            <a:extLst>
              <a:ext uri="{FF2B5EF4-FFF2-40B4-BE49-F238E27FC236}">
                <a16:creationId xmlns:a16="http://schemas.microsoft.com/office/drawing/2014/main" id="{191004A3-2F3D-868A-8677-EB82CD92F403}"/>
              </a:ext>
            </a:extLst>
          </p:cNvPr>
          <p:cNvSpPr txBox="1">
            <a:spLocks/>
          </p:cNvSpPr>
          <p:nvPr/>
        </p:nvSpPr>
        <p:spPr>
          <a:xfrm>
            <a:off x="4103467" y="3668544"/>
            <a:ext cx="746872" cy="178760"/>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800">
                <a:ea typeface="Cambria Math" panose="02040503050406030204" pitchFamily="18" charset="0"/>
              </a:rPr>
              <a:t>X        Y</a:t>
            </a:r>
          </a:p>
        </p:txBody>
      </p:sp>
      <p:pic>
        <p:nvPicPr>
          <p:cNvPr id="157" name="Picture 156">
            <a:extLst>
              <a:ext uri="{FF2B5EF4-FFF2-40B4-BE49-F238E27FC236}">
                <a16:creationId xmlns:a16="http://schemas.microsoft.com/office/drawing/2014/main" id="{E1ADC5B4-8D5B-451F-D078-1571E2B2D789}"/>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583588" y="676707"/>
            <a:ext cx="3885127" cy="364429"/>
          </a:xfrm>
          <a:prstGeom prst="rect">
            <a:avLst/>
          </a:prstGeom>
        </p:spPr>
      </p:pic>
      <p:sp>
        <p:nvSpPr>
          <p:cNvPr id="158" name="Rectangle 157">
            <a:extLst>
              <a:ext uri="{FF2B5EF4-FFF2-40B4-BE49-F238E27FC236}">
                <a16:creationId xmlns:a16="http://schemas.microsoft.com/office/drawing/2014/main" id="{FE6202C6-888A-1971-C5C1-B2AB68940536}"/>
              </a:ext>
            </a:extLst>
          </p:cNvPr>
          <p:cNvSpPr/>
          <p:nvPr/>
        </p:nvSpPr>
        <p:spPr>
          <a:xfrm>
            <a:off x="491203" y="6364845"/>
            <a:ext cx="1522081" cy="373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2" name="Titel 1">
            <a:extLst>
              <a:ext uri="{FF2B5EF4-FFF2-40B4-BE49-F238E27FC236}">
                <a16:creationId xmlns:a16="http://schemas.microsoft.com/office/drawing/2014/main" id="{6016A620-0C74-C58B-FF73-FC191B68FA11}"/>
              </a:ext>
            </a:extLst>
          </p:cNvPr>
          <p:cNvSpPr txBox="1">
            <a:spLocks/>
          </p:cNvSpPr>
          <p:nvPr/>
        </p:nvSpPr>
        <p:spPr>
          <a:xfrm>
            <a:off x="532002" y="473802"/>
            <a:ext cx="2383473" cy="747227"/>
          </a:xfrm>
          <a:prstGeom prst="rect">
            <a:avLst/>
          </a:prstGeom>
          <a:ln>
            <a:solidFill>
              <a:schemeClr val="tx1"/>
            </a:solidFill>
          </a:ln>
        </p:spPr>
        <p:txBody>
          <a:bodyPr vert="horz" lIns="0" tIns="0" rIns="0" bIns="0" rtlCol="0" anchor="t" anchorCtr="0">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CH">
                <a:solidFill>
                  <a:srgbClr val="5787C0"/>
                </a:solidFill>
              </a:rPr>
              <a:t> ●</a:t>
            </a:r>
            <a:r>
              <a:rPr lang="en-GB" sz="1800">
                <a:solidFill>
                  <a:srgbClr val="5787C0"/>
                </a:solidFill>
              </a:rPr>
              <a:t> 	</a:t>
            </a:r>
            <a:r>
              <a:rPr lang="en-GB" sz="1800">
                <a:solidFill>
                  <a:schemeClr val="accent1">
                    <a:lumMod val="60000"/>
                    <a:lumOff val="40000"/>
                  </a:schemeClr>
                </a:solidFill>
              </a:rPr>
              <a:t>Training data</a:t>
            </a:r>
          </a:p>
          <a:p>
            <a:r>
              <a:rPr lang="en-CH">
                <a:solidFill>
                  <a:srgbClr val="FC6B65"/>
                </a:solidFill>
              </a:rPr>
              <a:t> ●	</a:t>
            </a:r>
            <a:r>
              <a:rPr lang="en-GB" sz="1800">
                <a:solidFill>
                  <a:srgbClr val="FC6B65"/>
                </a:solidFill>
              </a:rPr>
              <a:t>Test data</a:t>
            </a:r>
          </a:p>
          <a:p>
            <a:endParaRPr lang="de-CH" sz="1800"/>
          </a:p>
        </p:txBody>
      </p:sp>
      <p:grpSp>
        <p:nvGrpSpPr>
          <p:cNvPr id="145" name="Group 144">
            <a:extLst>
              <a:ext uri="{FF2B5EF4-FFF2-40B4-BE49-F238E27FC236}">
                <a16:creationId xmlns:a16="http://schemas.microsoft.com/office/drawing/2014/main" id="{8CEA3908-09FE-840B-5FA1-B89189663CE7}"/>
              </a:ext>
            </a:extLst>
          </p:cNvPr>
          <p:cNvGrpSpPr/>
          <p:nvPr/>
        </p:nvGrpSpPr>
        <p:grpSpPr>
          <a:xfrm>
            <a:off x="3949789" y="1568367"/>
            <a:ext cx="657592" cy="807570"/>
            <a:chOff x="3949789" y="1975759"/>
            <a:chExt cx="481142" cy="590877"/>
          </a:xfrm>
        </p:grpSpPr>
        <p:pic>
          <p:nvPicPr>
            <p:cNvPr id="4" name="Picture 3">
              <a:extLst>
                <a:ext uri="{FF2B5EF4-FFF2-40B4-BE49-F238E27FC236}">
                  <a16:creationId xmlns:a16="http://schemas.microsoft.com/office/drawing/2014/main" id="{3E7A7319-E897-4F30-1904-995C44A5BD5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949789" y="1975759"/>
              <a:ext cx="481142" cy="590877"/>
            </a:xfrm>
            <a:prstGeom prst="rect">
              <a:avLst/>
            </a:prstGeom>
            <a:solidFill>
              <a:srgbClr val="5787C0"/>
            </a:solidFill>
            <a:ln w="6350"/>
          </p:spPr>
        </p:pic>
        <p:sp>
          <p:nvSpPr>
            <p:cNvPr id="36" name="Oval 35">
              <a:extLst>
                <a:ext uri="{FF2B5EF4-FFF2-40B4-BE49-F238E27FC236}">
                  <a16:creationId xmlns:a16="http://schemas.microsoft.com/office/drawing/2014/main" id="{01B892B5-8C99-368E-91D2-3F4B0FA1E529}"/>
                </a:ext>
              </a:extLst>
            </p:cNvPr>
            <p:cNvSpPr>
              <a:spLocks noChangeAspect="1"/>
            </p:cNvSpPr>
            <p:nvPr/>
          </p:nvSpPr>
          <p:spPr>
            <a:xfrm>
              <a:off x="4067124" y="2083178"/>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2" name="Oval 41">
              <a:extLst>
                <a:ext uri="{FF2B5EF4-FFF2-40B4-BE49-F238E27FC236}">
                  <a16:creationId xmlns:a16="http://schemas.microsoft.com/office/drawing/2014/main" id="{F0C99650-9B13-EF24-DEAB-DE9FE54B7CC2}"/>
                </a:ext>
              </a:extLst>
            </p:cNvPr>
            <p:cNvSpPr>
              <a:spLocks noChangeAspect="1"/>
            </p:cNvSpPr>
            <p:nvPr/>
          </p:nvSpPr>
          <p:spPr>
            <a:xfrm>
              <a:off x="4067124" y="2499587"/>
              <a:ext cx="36000" cy="36000"/>
            </a:xfrm>
            <a:prstGeom prst="ellipse">
              <a:avLst/>
            </a:prstGeom>
            <a:solidFill>
              <a:srgbClr val="FC6B65"/>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6" name="Oval 45">
              <a:extLst>
                <a:ext uri="{FF2B5EF4-FFF2-40B4-BE49-F238E27FC236}">
                  <a16:creationId xmlns:a16="http://schemas.microsoft.com/office/drawing/2014/main" id="{A44508E5-2AE7-BE5C-7D24-BCECA8C4BDFD}"/>
                </a:ext>
              </a:extLst>
            </p:cNvPr>
            <p:cNvSpPr>
              <a:spLocks noChangeAspect="1"/>
            </p:cNvSpPr>
            <p:nvPr/>
          </p:nvSpPr>
          <p:spPr>
            <a:xfrm>
              <a:off x="4067124" y="2167962"/>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7" name="Oval 46">
              <a:extLst>
                <a:ext uri="{FF2B5EF4-FFF2-40B4-BE49-F238E27FC236}">
                  <a16:creationId xmlns:a16="http://schemas.microsoft.com/office/drawing/2014/main" id="{1C122744-8025-34CD-8208-C82263090DE5}"/>
                </a:ext>
              </a:extLst>
            </p:cNvPr>
            <p:cNvSpPr/>
            <p:nvPr/>
          </p:nvSpPr>
          <p:spPr>
            <a:xfrm>
              <a:off x="4067124" y="2254426"/>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8" name="Oval 47">
              <a:extLst>
                <a:ext uri="{FF2B5EF4-FFF2-40B4-BE49-F238E27FC236}">
                  <a16:creationId xmlns:a16="http://schemas.microsoft.com/office/drawing/2014/main" id="{A1BC2A52-A892-A213-5012-40B62937BE03}"/>
                </a:ext>
              </a:extLst>
            </p:cNvPr>
            <p:cNvSpPr>
              <a:spLocks/>
            </p:cNvSpPr>
            <p:nvPr/>
          </p:nvSpPr>
          <p:spPr>
            <a:xfrm>
              <a:off x="4067124" y="2337134"/>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9" name="Oval 48">
              <a:extLst>
                <a:ext uri="{FF2B5EF4-FFF2-40B4-BE49-F238E27FC236}">
                  <a16:creationId xmlns:a16="http://schemas.microsoft.com/office/drawing/2014/main" id="{BF91C864-0340-EB4E-A4E9-F50238755399}"/>
                </a:ext>
              </a:extLst>
            </p:cNvPr>
            <p:cNvSpPr>
              <a:spLocks noChangeAspect="1"/>
            </p:cNvSpPr>
            <p:nvPr/>
          </p:nvSpPr>
          <p:spPr>
            <a:xfrm>
              <a:off x="4067124" y="2416712"/>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0" name="Oval 49">
              <a:extLst>
                <a:ext uri="{FF2B5EF4-FFF2-40B4-BE49-F238E27FC236}">
                  <a16:creationId xmlns:a16="http://schemas.microsoft.com/office/drawing/2014/main" id="{FBCB5BDD-6864-FBDD-812B-73730BF79231}"/>
                </a:ext>
              </a:extLst>
            </p:cNvPr>
            <p:cNvSpPr>
              <a:spLocks noChangeAspect="1"/>
            </p:cNvSpPr>
            <p:nvPr/>
          </p:nvSpPr>
          <p:spPr>
            <a:xfrm>
              <a:off x="4286663" y="2498138"/>
              <a:ext cx="36000" cy="36000"/>
            </a:xfrm>
            <a:prstGeom prst="ellipse">
              <a:avLst/>
            </a:prstGeom>
            <a:solidFill>
              <a:srgbClr val="FC6B65"/>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3" name="Oval 52">
              <a:extLst>
                <a:ext uri="{FF2B5EF4-FFF2-40B4-BE49-F238E27FC236}">
                  <a16:creationId xmlns:a16="http://schemas.microsoft.com/office/drawing/2014/main" id="{864D81E9-FA4F-3455-06AA-BED07591E969}"/>
                </a:ext>
              </a:extLst>
            </p:cNvPr>
            <p:cNvSpPr>
              <a:spLocks noChangeAspect="1"/>
            </p:cNvSpPr>
            <p:nvPr/>
          </p:nvSpPr>
          <p:spPr>
            <a:xfrm>
              <a:off x="4283488" y="2085958"/>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4" name="Oval 53">
              <a:extLst>
                <a:ext uri="{FF2B5EF4-FFF2-40B4-BE49-F238E27FC236}">
                  <a16:creationId xmlns:a16="http://schemas.microsoft.com/office/drawing/2014/main" id="{DAC46715-0099-D7A4-8370-E307705E729D}"/>
                </a:ext>
              </a:extLst>
            </p:cNvPr>
            <p:cNvSpPr>
              <a:spLocks noChangeAspect="1"/>
            </p:cNvSpPr>
            <p:nvPr/>
          </p:nvSpPr>
          <p:spPr>
            <a:xfrm>
              <a:off x="4280313" y="2166682"/>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7" name="Oval 56">
              <a:extLst>
                <a:ext uri="{FF2B5EF4-FFF2-40B4-BE49-F238E27FC236}">
                  <a16:creationId xmlns:a16="http://schemas.microsoft.com/office/drawing/2014/main" id="{CDB61DC0-6B6C-5EDD-8CE6-28FC1DE7A84E}"/>
                </a:ext>
              </a:extLst>
            </p:cNvPr>
            <p:cNvSpPr>
              <a:spLocks noChangeAspect="1"/>
            </p:cNvSpPr>
            <p:nvPr/>
          </p:nvSpPr>
          <p:spPr>
            <a:xfrm>
              <a:off x="4283488" y="2252201"/>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8" name="Oval 57">
              <a:extLst>
                <a:ext uri="{FF2B5EF4-FFF2-40B4-BE49-F238E27FC236}">
                  <a16:creationId xmlns:a16="http://schemas.microsoft.com/office/drawing/2014/main" id="{88E6F774-87FF-3FE7-37F2-8BF4444A2939}"/>
                </a:ext>
              </a:extLst>
            </p:cNvPr>
            <p:cNvSpPr>
              <a:spLocks noChangeAspect="1"/>
            </p:cNvSpPr>
            <p:nvPr/>
          </p:nvSpPr>
          <p:spPr>
            <a:xfrm>
              <a:off x="4283488" y="2340068"/>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9" name="Oval 58">
              <a:extLst>
                <a:ext uri="{FF2B5EF4-FFF2-40B4-BE49-F238E27FC236}">
                  <a16:creationId xmlns:a16="http://schemas.microsoft.com/office/drawing/2014/main" id="{8061BE58-165F-6F09-76AA-EC035D1C8B53}"/>
                </a:ext>
              </a:extLst>
            </p:cNvPr>
            <p:cNvSpPr>
              <a:spLocks noChangeAspect="1"/>
            </p:cNvSpPr>
            <p:nvPr/>
          </p:nvSpPr>
          <p:spPr>
            <a:xfrm>
              <a:off x="4283488" y="2415235"/>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grpSp>
      <p:grpSp>
        <p:nvGrpSpPr>
          <p:cNvPr id="146" name="Group 145">
            <a:extLst>
              <a:ext uri="{FF2B5EF4-FFF2-40B4-BE49-F238E27FC236}">
                <a16:creationId xmlns:a16="http://schemas.microsoft.com/office/drawing/2014/main" id="{67D58946-2D97-5905-7D46-3698F145EC32}"/>
              </a:ext>
            </a:extLst>
          </p:cNvPr>
          <p:cNvGrpSpPr/>
          <p:nvPr/>
        </p:nvGrpSpPr>
        <p:grpSpPr>
          <a:xfrm>
            <a:off x="3947885" y="2460516"/>
            <a:ext cx="657592" cy="807570"/>
            <a:chOff x="3944168" y="2810580"/>
            <a:chExt cx="481142" cy="590877"/>
          </a:xfrm>
        </p:grpSpPr>
        <p:pic>
          <p:nvPicPr>
            <p:cNvPr id="13" name="Picture 12">
              <a:extLst>
                <a:ext uri="{FF2B5EF4-FFF2-40B4-BE49-F238E27FC236}">
                  <a16:creationId xmlns:a16="http://schemas.microsoft.com/office/drawing/2014/main" id="{65EA8668-7583-93F7-1CA2-E7D4028F227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944168" y="2810580"/>
              <a:ext cx="481142" cy="590877"/>
            </a:xfrm>
            <a:prstGeom prst="rect">
              <a:avLst/>
            </a:prstGeom>
            <a:solidFill>
              <a:srgbClr val="5787C0"/>
            </a:solidFill>
            <a:ln w="6350"/>
          </p:spPr>
        </p:pic>
        <p:sp>
          <p:nvSpPr>
            <p:cNvPr id="31" name="!!pinkx4">
              <a:extLst>
                <a:ext uri="{FF2B5EF4-FFF2-40B4-BE49-F238E27FC236}">
                  <a16:creationId xmlns:a16="http://schemas.microsoft.com/office/drawing/2014/main" id="{E06B2CC7-5CAA-4B44-9BEA-105DAE74C722}"/>
                </a:ext>
              </a:extLst>
            </p:cNvPr>
            <p:cNvSpPr>
              <a:spLocks noChangeAspect="1"/>
            </p:cNvSpPr>
            <p:nvPr/>
          </p:nvSpPr>
          <p:spPr>
            <a:xfrm>
              <a:off x="4061503" y="2917999"/>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3" name="!!pinkx3">
              <a:extLst>
                <a:ext uri="{FF2B5EF4-FFF2-40B4-BE49-F238E27FC236}">
                  <a16:creationId xmlns:a16="http://schemas.microsoft.com/office/drawing/2014/main" id="{456FC018-B3B3-02C5-BD75-035480DF6ECE}"/>
                </a:ext>
              </a:extLst>
            </p:cNvPr>
            <p:cNvSpPr>
              <a:spLocks noChangeAspect="1"/>
            </p:cNvSpPr>
            <p:nvPr/>
          </p:nvSpPr>
          <p:spPr>
            <a:xfrm>
              <a:off x="4061503" y="3334408"/>
              <a:ext cx="36000" cy="36000"/>
            </a:xfrm>
            <a:prstGeom prst="ellipse">
              <a:avLst/>
            </a:prstGeom>
            <a:solidFill>
              <a:srgbClr val="FC6B65"/>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5" name="!!pinkx5">
              <a:extLst>
                <a:ext uri="{FF2B5EF4-FFF2-40B4-BE49-F238E27FC236}">
                  <a16:creationId xmlns:a16="http://schemas.microsoft.com/office/drawing/2014/main" id="{4A5AF67C-A5D6-521A-833E-CD54E7216B73}"/>
                </a:ext>
              </a:extLst>
            </p:cNvPr>
            <p:cNvSpPr>
              <a:spLocks noChangeAspect="1"/>
            </p:cNvSpPr>
            <p:nvPr/>
          </p:nvSpPr>
          <p:spPr>
            <a:xfrm>
              <a:off x="4061503" y="3002783"/>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0" name="!!pinkx6">
              <a:extLst>
                <a:ext uri="{FF2B5EF4-FFF2-40B4-BE49-F238E27FC236}">
                  <a16:creationId xmlns:a16="http://schemas.microsoft.com/office/drawing/2014/main" id="{DA911BE5-049F-FE4D-8F5C-39539289DDC4}"/>
                </a:ext>
              </a:extLst>
            </p:cNvPr>
            <p:cNvSpPr/>
            <p:nvPr/>
          </p:nvSpPr>
          <p:spPr>
            <a:xfrm>
              <a:off x="4061503" y="3089247"/>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4" name="!!pinkx2">
              <a:extLst>
                <a:ext uri="{FF2B5EF4-FFF2-40B4-BE49-F238E27FC236}">
                  <a16:creationId xmlns:a16="http://schemas.microsoft.com/office/drawing/2014/main" id="{80BFC7A3-06A2-ECB7-3483-588979CBC402}"/>
                </a:ext>
              </a:extLst>
            </p:cNvPr>
            <p:cNvSpPr>
              <a:spLocks/>
            </p:cNvSpPr>
            <p:nvPr/>
          </p:nvSpPr>
          <p:spPr>
            <a:xfrm>
              <a:off x="4061503" y="3171955"/>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1" name="!!pinkx1">
              <a:extLst>
                <a:ext uri="{FF2B5EF4-FFF2-40B4-BE49-F238E27FC236}">
                  <a16:creationId xmlns:a16="http://schemas.microsoft.com/office/drawing/2014/main" id="{AB2754DF-5114-9C19-BAC5-3B98393D7F09}"/>
                </a:ext>
              </a:extLst>
            </p:cNvPr>
            <p:cNvSpPr>
              <a:spLocks noChangeAspect="1"/>
            </p:cNvSpPr>
            <p:nvPr/>
          </p:nvSpPr>
          <p:spPr>
            <a:xfrm>
              <a:off x="4061503" y="3251533"/>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2" name="pinky3">
              <a:extLst>
                <a:ext uri="{FF2B5EF4-FFF2-40B4-BE49-F238E27FC236}">
                  <a16:creationId xmlns:a16="http://schemas.microsoft.com/office/drawing/2014/main" id="{E5191BBC-1E2B-263E-69A9-C48C81408737}"/>
                </a:ext>
              </a:extLst>
            </p:cNvPr>
            <p:cNvSpPr>
              <a:spLocks noChangeAspect="1"/>
            </p:cNvSpPr>
            <p:nvPr/>
          </p:nvSpPr>
          <p:spPr>
            <a:xfrm>
              <a:off x="4281042" y="3332959"/>
              <a:ext cx="36000" cy="36000"/>
            </a:xfrm>
            <a:prstGeom prst="ellipse">
              <a:avLst/>
            </a:prstGeom>
            <a:solidFill>
              <a:srgbClr val="FC6B65"/>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5" name="!!pinky4">
              <a:extLst>
                <a:ext uri="{FF2B5EF4-FFF2-40B4-BE49-F238E27FC236}">
                  <a16:creationId xmlns:a16="http://schemas.microsoft.com/office/drawing/2014/main" id="{DCC763E1-8EE0-AF9A-53C8-FF35EFD29621}"/>
                </a:ext>
              </a:extLst>
            </p:cNvPr>
            <p:cNvSpPr>
              <a:spLocks noChangeAspect="1"/>
            </p:cNvSpPr>
            <p:nvPr/>
          </p:nvSpPr>
          <p:spPr>
            <a:xfrm>
              <a:off x="4277867" y="2920779"/>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6" name="!!pinky5">
              <a:extLst>
                <a:ext uri="{FF2B5EF4-FFF2-40B4-BE49-F238E27FC236}">
                  <a16:creationId xmlns:a16="http://schemas.microsoft.com/office/drawing/2014/main" id="{FC8A249C-7CD5-ADB9-2D8A-DD401A3C5588}"/>
                </a:ext>
              </a:extLst>
            </p:cNvPr>
            <p:cNvSpPr>
              <a:spLocks noChangeAspect="1"/>
            </p:cNvSpPr>
            <p:nvPr/>
          </p:nvSpPr>
          <p:spPr>
            <a:xfrm>
              <a:off x="4274692" y="3001503"/>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0" name="!!pinky6">
              <a:extLst>
                <a:ext uri="{FF2B5EF4-FFF2-40B4-BE49-F238E27FC236}">
                  <a16:creationId xmlns:a16="http://schemas.microsoft.com/office/drawing/2014/main" id="{9C708494-6395-C97B-387C-4FA2AACD4B01}"/>
                </a:ext>
              </a:extLst>
            </p:cNvPr>
            <p:cNvSpPr>
              <a:spLocks noChangeAspect="1"/>
            </p:cNvSpPr>
            <p:nvPr/>
          </p:nvSpPr>
          <p:spPr>
            <a:xfrm>
              <a:off x="4277867" y="3087022"/>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1" name="!!pinky2">
              <a:extLst>
                <a:ext uri="{FF2B5EF4-FFF2-40B4-BE49-F238E27FC236}">
                  <a16:creationId xmlns:a16="http://schemas.microsoft.com/office/drawing/2014/main" id="{41C90D04-0BCC-F438-8E25-A331638C2C59}"/>
                </a:ext>
              </a:extLst>
            </p:cNvPr>
            <p:cNvSpPr>
              <a:spLocks noChangeAspect="1"/>
            </p:cNvSpPr>
            <p:nvPr/>
          </p:nvSpPr>
          <p:spPr>
            <a:xfrm>
              <a:off x="4277867" y="3174889"/>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2" name="!!pinky1">
              <a:extLst>
                <a:ext uri="{FF2B5EF4-FFF2-40B4-BE49-F238E27FC236}">
                  <a16:creationId xmlns:a16="http://schemas.microsoft.com/office/drawing/2014/main" id="{4E0300BD-90BB-57D6-A97A-8332650212AB}"/>
                </a:ext>
              </a:extLst>
            </p:cNvPr>
            <p:cNvSpPr>
              <a:spLocks noChangeAspect="1"/>
            </p:cNvSpPr>
            <p:nvPr/>
          </p:nvSpPr>
          <p:spPr>
            <a:xfrm>
              <a:off x="4277867" y="3250056"/>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grpSp>
      <p:grpSp>
        <p:nvGrpSpPr>
          <p:cNvPr id="148" name="Group 147">
            <a:extLst>
              <a:ext uri="{FF2B5EF4-FFF2-40B4-BE49-F238E27FC236}">
                <a16:creationId xmlns:a16="http://schemas.microsoft.com/office/drawing/2014/main" id="{8879BAF3-365E-5331-6F6F-A1B9494C87DC}"/>
              </a:ext>
            </a:extLst>
          </p:cNvPr>
          <p:cNvGrpSpPr/>
          <p:nvPr/>
        </p:nvGrpSpPr>
        <p:grpSpPr>
          <a:xfrm>
            <a:off x="3947885" y="3657708"/>
            <a:ext cx="666742" cy="818807"/>
            <a:chOff x="3947885" y="3860214"/>
            <a:chExt cx="481142" cy="590877"/>
          </a:xfrm>
        </p:grpSpPr>
        <p:pic>
          <p:nvPicPr>
            <p:cNvPr id="63" name="Picture 62">
              <a:extLst>
                <a:ext uri="{FF2B5EF4-FFF2-40B4-BE49-F238E27FC236}">
                  <a16:creationId xmlns:a16="http://schemas.microsoft.com/office/drawing/2014/main" id="{60A59E91-74CA-29AA-4770-604F637CF710}"/>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3947885" y="3860214"/>
              <a:ext cx="481142" cy="590877"/>
            </a:xfrm>
            <a:prstGeom prst="rect">
              <a:avLst/>
            </a:prstGeom>
            <a:solidFill>
              <a:srgbClr val="5787C0"/>
            </a:solidFill>
            <a:ln w="6350"/>
          </p:spPr>
        </p:pic>
        <p:sp>
          <p:nvSpPr>
            <p:cNvPr id="64" name="!!x1">
              <a:extLst>
                <a:ext uri="{FF2B5EF4-FFF2-40B4-BE49-F238E27FC236}">
                  <a16:creationId xmlns:a16="http://schemas.microsoft.com/office/drawing/2014/main" id="{06045DDA-C4B5-225F-2F47-C47035915B38}"/>
                </a:ext>
              </a:extLst>
            </p:cNvPr>
            <p:cNvSpPr>
              <a:spLocks noChangeAspect="1"/>
            </p:cNvSpPr>
            <p:nvPr/>
          </p:nvSpPr>
          <p:spPr>
            <a:xfrm>
              <a:off x="4065220" y="3967633"/>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5" name="!!x6">
              <a:extLst>
                <a:ext uri="{FF2B5EF4-FFF2-40B4-BE49-F238E27FC236}">
                  <a16:creationId xmlns:a16="http://schemas.microsoft.com/office/drawing/2014/main" id="{1303D15F-5D57-7D24-B2D1-5A42A7BBCB3A}"/>
                </a:ext>
              </a:extLst>
            </p:cNvPr>
            <p:cNvSpPr>
              <a:spLocks noChangeAspect="1"/>
            </p:cNvSpPr>
            <p:nvPr/>
          </p:nvSpPr>
          <p:spPr>
            <a:xfrm>
              <a:off x="4065220" y="4384042"/>
              <a:ext cx="36000" cy="36000"/>
            </a:xfrm>
            <a:prstGeom prst="ellipse">
              <a:avLst/>
            </a:prstGeom>
            <a:solidFill>
              <a:srgbClr val="FC6B65"/>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6" name="!!x4">
              <a:extLst>
                <a:ext uri="{FF2B5EF4-FFF2-40B4-BE49-F238E27FC236}">
                  <a16:creationId xmlns:a16="http://schemas.microsoft.com/office/drawing/2014/main" id="{A71584F6-38BD-AB94-CA46-F32BE38E7104}"/>
                </a:ext>
              </a:extLst>
            </p:cNvPr>
            <p:cNvSpPr>
              <a:spLocks noChangeAspect="1"/>
            </p:cNvSpPr>
            <p:nvPr/>
          </p:nvSpPr>
          <p:spPr>
            <a:xfrm>
              <a:off x="4065220" y="4052417"/>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7" name="!!x2">
              <a:extLst>
                <a:ext uri="{FF2B5EF4-FFF2-40B4-BE49-F238E27FC236}">
                  <a16:creationId xmlns:a16="http://schemas.microsoft.com/office/drawing/2014/main" id="{E82CB184-C461-CCF3-65AD-79698E5405C5}"/>
                </a:ext>
              </a:extLst>
            </p:cNvPr>
            <p:cNvSpPr/>
            <p:nvPr/>
          </p:nvSpPr>
          <p:spPr>
            <a:xfrm>
              <a:off x="4065220" y="4138881"/>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8" name="!!x5">
              <a:extLst>
                <a:ext uri="{FF2B5EF4-FFF2-40B4-BE49-F238E27FC236}">
                  <a16:creationId xmlns:a16="http://schemas.microsoft.com/office/drawing/2014/main" id="{5B63680B-8082-E107-BA80-07153CF5EFA3}"/>
                </a:ext>
              </a:extLst>
            </p:cNvPr>
            <p:cNvSpPr>
              <a:spLocks/>
            </p:cNvSpPr>
            <p:nvPr/>
          </p:nvSpPr>
          <p:spPr>
            <a:xfrm>
              <a:off x="4065220" y="4221589"/>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9" name="!!x3">
              <a:extLst>
                <a:ext uri="{FF2B5EF4-FFF2-40B4-BE49-F238E27FC236}">
                  <a16:creationId xmlns:a16="http://schemas.microsoft.com/office/drawing/2014/main" id="{AF53763B-CEC7-A0ED-6A79-D97406EE2138}"/>
                </a:ext>
              </a:extLst>
            </p:cNvPr>
            <p:cNvSpPr>
              <a:spLocks noChangeAspect="1"/>
            </p:cNvSpPr>
            <p:nvPr/>
          </p:nvSpPr>
          <p:spPr>
            <a:xfrm>
              <a:off x="4065220" y="4301167"/>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0" name="y6">
              <a:extLst>
                <a:ext uri="{FF2B5EF4-FFF2-40B4-BE49-F238E27FC236}">
                  <a16:creationId xmlns:a16="http://schemas.microsoft.com/office/drawing/2014/main" id="{6F03A951-8DDE-F7F4-EF03-BE9D9319D897}"/>
                </a:ext>
              </a:extLst>
            </p:cNvPr>
            <p:cNvSpPr>
              <a:spLocks noChangeAspect="1"/>
            </p:cNvSpPr>
            <p:nvPr/>
          </p:nvSpPr>
          <p:spPr>
            <a:xfrm>
              <a:off x="4284759" y="4382593"/>
              <a:ext cx="36000" cy="36000"/>
            </a:xfrm>
            <a:prstGeom prst="ellipse">
              <a:avLst/>
            </a:prstGeom>
            <a:solidFill>
              <a:srgbClr val="FC6B65"/>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1" name="!!y1">
              <a:extLst>
                <a:ext uri="{FF2B5EF4-FFF2-40B4-BE49-F238E27FC236}">
                  <a16:creationId xmlns:a16="http://schemas.microsoft.com/office/drawing/2014/main" id="{9BF00878-ADB0-4493-7E89-A7A6C2B2D1B3}"/>
                </a:ext>
              </a:extLst>
            </p:cNvPr>
            <p:cNvSpPr>
              <a:spLocks noChangeAspect="1"/>
            </p:cNvSpPr>
            <p:nvPr/>
          </p:nvSpPr>
          <p:spPr>
            <a:xfrm>
              <a:off x="4281584" y="3970413"/>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2" name="!!y4">
              <a:extLst>
                <a:ext uri="{FF2B5EF4-FFF2-40B4-BE49-F238E27FC236}">
                  <a16:creationId xmlns:a16="http://schemas.microsoft.com/office/drawing/2014/main" id="{62E838F2-470B-E1E7-CE86-26C154CF6697}"/>
                </a:ext>
              </a:extLst>
            </p:cNvPr>
            <p:cNvSpPr>
              <a:spLocks noChangeAspect="1"/>
            </p:cNvSpPr>
            <p:nvPr/>
          </p:nvSpPr>
          <p:spPr>
            <a:xfrm>
              <a:off x="4278409" y="4051137"/>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3" name="!!y2">
              <a:extLst>
                <a:ext uri="{FF2B5EF4-FFF2-40B4-BE49-F238E27FC236}">
                  <a16:creationId xmlns:a16="http://schemas.microsoft.com/office/drawing/2014/main" id="{9B108EF5-FAC0-CCE9-E265-6F4524EA24B2}"/>
                </a:ext>
              </a:extLst>
            </p:cNvPr>
            <p:cNvSpPr>
              <a:spLocks noChangeAspect="1"/>
            </p:cNvSpPr>
            <p:nvPr/>
          </p:nvSpPr>
          <p:spPr>
            <a:xfrm>
              <a:off x="4281584" y="4136656"/>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4" name="!!y5">
              <a:extLst>
                <a:ext uri="{FF2B5EF4-FFF2-40B4-BE49-F238E27FC236}">
                  <a16:creationId xmlns:a16="http://schemas.microsoft.com/office/drawing/2014/main" id="{22704025-AED9-E2A5-108B-AEBB47D4F931}"/>
                </a:ext>
              </a:extLst>
            </p:cNvPr>
            <p:cNvSpPr>
              <a:spLocks noChangeAspect="1"/>
            </p:cNvSpPr>
            <p:nvPr/>
          </p:nvSpPr>
          <p:spPr>
            <a:xfrm>
              <a:off x="4281584" y="4224523"/>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5" name="!!y3">
              <a:extLst>
                <a:ext uri="{FF2B5EF4-FFF2-40B4-BE49-F238E27FC236}">
                  <a16:creationId xmlns:a16="http://schemas.microsoft.com/office/drawing/2014/main" id="{F479D832-3889-344C-40DE-D5ED7079591D}"/>
                </a:ext>
              </a:extLst>
            </p:cNvPr>
            <p:cNvSpPr>
              <a:spLocks noChangeAspect="1"/>
            </p:cNvSpPr>
            <p:nvPr/>
          </p:nvSpPr>
          <p:spPr>
            <a:xfrm>
              <a:off x="4281584" y="4299690"/>
              <a:ext cx="36000" cy="36000"/>
            </a:xfrm>
            <a:prstGeom prst="ellipse">
              <a:avLst/>
            </a:prstGeom>
            <a:solidFill>
              <a:srgbClr val="5787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grpSp>
      <p:pic>
        <p:nvPicPr>
          <p:cNvPr id="170" name="Picture 169" descr="A screenshot of a screen&#10;&#10;AI-generated content may be incorrect.">
            <a:extLst>
              <a:ext uri="{FF2B5EF4-FFF2-40B4-BE49-F238E27FC236}">
                <a16:creationId xmlns:a16="http://schemas.microsoft.com/office/drawing/2014/main" id="{B06C4C1C-417F-6E97-9BB7-495DBDCB804C}"/>
              </a:ext>
            </a:extLst>
          </p:cNvPr>
          <p:cNvPicPr>
            <a:picLocks noChangeAspect="1"/>
          </p:cNvPicPr>
          <p:nvPr/>
        </p:nvPicPr>
        <p:blipFill>
          <a:blip r:embed="rId11" cstate="screen">
            <a:alphaModFix/>
            <a:extLst>
              <a:ext uri="{28A0092B-C50C-407E-A947-70E740481C1C}">
                <a14:useLocalDpi xmlns:a14="http://schemas.microsoft.com/office/drawing/2010/main"/>
              </a:ext>
            </a:extLst>
          </a:blip>
          <a:srcRect/>
          <a:stretch>
            <a:fillRect/>
          </a:stretch>
        </p:blipFill>
        <p:spPr>
          <a:xfrm>
            <a:off x="7043530" y="4818687"/>
            <a:ext cx="998239" cy="601101"/>
          </a:xfrm>
          <a:prstGeom prst="rect">
            <a:avLst/>
          </a:prstGeom>
        </p:spPr>
      </p:pic>
      <p:sp>
        <p:nvSpPr>
          <p:cNvPr id="174" name="Rectangle 173">
            <a:extLst>
              <a:ext uri="{FF2B5EF4-FFF2-40B4-BE49-F238E27FC236}">
                <a16:creationId xmlns:a16="http://schemas.microsoft.com/office/drawing/2014/main" id="{E904731E-1D3E-3465-4AAF-F069D8766933}"/>
              </a:ext>
            </a:extLst>
          </p:cNvPr>
          <p:cNvSpPr/>
          <p:nvPr/>
        </p:nvSpPr>
        <p:spPr>
          <a:xfrm>
            <a:off x="192411" y="1581759"/>
            <a:ext cx="3410418" cy="4802439"/>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 name="TextBox 7">
            <a:extLst>
              <a:ext uri="{FF2B5EF4-FFF2-40B4-BE49-F238E27FC236}">
                <a16:creationId xmlns:a16="http://schemas.microsoft.com/office/drawing/2014/main" id="{6953B5E7-F763-59A3-C838-DEB92F951176}"/>
              </a:ext>
            </a:extLst>
          </p:cNvPr>
          <p:cNvSpPr txBox="1"/>
          <p:nvPr/>
        </p:nvSpPr>
        <p:spPr>
          <a:xfrm>
            <a:off x="4233262" y="4887517"/>
            <a:ext cx="3808507" cy="1477328"/>
          </a:xfrm>
          <a:prstGeom prst="rect">
            <a:avLst/>
          </a:prstGeom>
          <a:noFill/>
        </p:spPr>
        <p:txBody>
          <a:bodyPr wrap="square" rtlCol="0">
            <a:spAutoFit/>
          </a:bodyPr>
          <a:lstStyle/>
          <a:p>
            <a:pPr algn="ctr"/>
            <a:r>
              <a:rPr lang="en-CH" b="1"/>
              <a:t>Pretraining</a:t>
            </a:r>
            <a:r>
              <a:rPr lang="en-CH"/>
              <a:t> </a:t>
            </a:r>
            <a:br>
              <a:rPr lang="en-CH"/>
            </a:br>
            <a:endParaRPr lang="en-CH"/>
          </a:p>
          <a:p>
            <a:pPr algn="ctr"/>
            <a:r>
              <a:rPr lang="en-GB"/>
              <a:t>Optimize the transformer T</a:t>
            </a:r>
            <a:r>
              <a:rPr lang="el-GR" baseline="-25000"/>
              <a:t>θ</a:t>
            </a:r>
            <a:r>
              <a:rPr lang="el-GR"/>
              <a:t> </a:t>
            </a:r>
            <a:r>
              <a:rPr lang="en-GB"/>
              <a:t>to minimize the negative log-likelihood of </a:t>
            </a:r>
            <a:r>
              <a:rPr lang="en-GB">
                <a:solidFill>
                  <a:srgbClr val="FC6B65"/>
                </a:solidFill>
              </a:rPr>
              <a:t>test points</a:t>
            </a:r>
            <a:r>
              <a:rPr lang="en-GB"/>
              <a:t> across the K datasets</a:t>
            </a:r>
            <a:endParaRPr lang="en-CH"/>
          </a:p>
        </p:txBody>
      </p:sp>
      <mc:AlternateContent xmlns:mc="http://schemas.openxmlformats.org/markup-compatibility/2006" xmlns:a14="http://schemas.microsoft.com/office/drawing/2010/main">
        <mc:Choice Requires="a14">
          <p:sp>
            <p:nvSpPr>
              <p:cNvPr id="9" name="Title 1">
                <a:extLst>
                  <a:ext uri="{FF2B5EF4-FFF2-40B4-BE49-F238E27FC236}">
                    <a16:creationId xmlns:a16="http://schemas.microsoft.com/office/drawing/2014/main" id="{52078D19-22AD-0EFD-D3BF-B4A19117B291}"/>
                  </a:ext>
                </a:extLst>
              </p:cNvPr>
              <p:cNvSpPr txBox="1">
                <a:spLocks/>
              </p:cNvSpPr>
              <p:nvPr/>
            </p:nvSpPr>
            <p:spPr>
              <a:xfrm>
                <a:off x="7705777" y="4887517"/>
                <a:ext cx="697443" cy="576543"/>
              </a:xfrm>
              <a:prstGeom prst="rect">
                <a:avLst/>
              </a:prstGeom>
            </p:spPr>
            <p:txBody>
              <a:bodyPr vert="horz" lIns="0" tIns="0" rIns="0" bIns="0" rtlCol="0" anchor="t" anchorCtr="0">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r>
                        <a:rPr lang="en-CH" sz="2000" b="1" i="1">
                          <a:latin typeface="Cambria Math" panose="02040503050406030204" pitchFamily="18" charset="0"/>
                          <a:ea typeface="Cambria Math" panose="02040503050406030204" pitchFamily="18" charset="0"/>
                        </a:rPr>
                        <m:t>𝜽</m:t>
                      </m:r>
                    </m:oMath>
                  </m:oMathPara>
                </a14:m>
                <a:endParaRPr lang="en-CH" sz="2000" b="1">
                  <a:latin typeface="+mn-lt"/>
                </a:endParaRPr>
              </a:p>
            </p:txBody>
          </p:sp>
        </mc:Choice>
        <mc:Fallback xmlns="">
          <p:sp>
            <p:nvSpPr>
              <p:cNvPr id="9" name="Title 1">
                <a:extLst>
                  <a:ext uri="{FF2B5EF4-FFF2-40B4-BE49-F238E27FC236}">
                    <a16:creationId xmlns:a16="http://schemas.microsoft.com/office/drawing/2014/main" id="{52078D19-22AD-0EFD-D3BF-B4A19117B291}"/>
                  </a:ext>
                </a:extLst>
              </p:cNvPr>
              <p:cNvSpPr txBox="1">
                <a:spLocks noRot="1" noChangeAspect="1" noMove="1" noResize="1" noEditPoints="1" noAdjustHandles="1" noChangeArrowheads="1" noChangeShapeType="1" noTextEdit="1"/>
              </p:cNvSpPr>
              <p:nvPr/>
            </p:nvSpPr>
            <p:spPr>
              <a:xfrm>
                <a:off x="7705777" y="4887517"/>
                <a:ext cx="697443" cy="576543"/>
              </a:xfrm>
              <a:prstGeom prst="rect">
                <a:avLst/>
              </a:prstGeom>
              <a:blipFill>
                <a:blip r:embed="rId12"/>
                <a:stretch>
                  <a:fillRect/>
                </a:stretch>
              </a:blipFill>
            </p:spPr>
            <p:txBody>
              <a:bodyPr/>
              <a:lstStyle/>
              <a:p>
                <a:r>
                  <a:rPr lang="en-CH">
                    <a:noFill/>
                  </a:rPr>
                  <a:t> </a:t>
                </a:r>
              </a:p>
            </p:txBody>
          </p:sp>
        </mc:Fallback>
      </mc:AlternateContent>
      <p:sp>
        <p:nvSpPr>
          <p:cNvPr id="176" name="Rectangle 175">
            <a:extLst>
              <a:ext uri="{FF2B5EF4-FFF2-40B4-BE49-F238E27FC236}">
                <a16:creationId xmlns:a16="http://schemas.microsoft.com/office/drawing/2014/main" id="{69A2541D-4AAE-90C1-2CD4-2CB5074619ED}"/>
              </a:ext>
            </a:extLst>
          </p:cNvPr>
          <p:cNvSpPr/>
          <p:nvPr/>
        </p:nvSpPr>
        <p:spPr>
          <a:xfrm>
            <a:off x="4266421" y="4802543"/>
            <a:ext cx="3980516" cy="1935901"/>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8" name="Picture 17" descr="A screenshot of a graph&#10;&#10;AI-generated content may be incorrect.">
            <a:extLst>
              <a:ext uri="{FF2B5EF4-FFF2-40B4-BE49-F238E27FC236}">
                <a16:creationId xmlns:a16="http://schemas.microsoft.com/office/drawing/2014/main" id="{E5BA37AF-6A41-88FE-152B-58288CC50EAE}"/>
              </a:ext>
            </a:extLst>
          </p:cNvPr>
          <p:cNvPicPr>
            <a:picLocks noChangeAspect="1"/>
          </p:cNvPicPr>
          <p:nvPr/>
        </p:nvPicPr>
        <p:blipFill>
          <a:blip r:embed="rId13" cstate="screen">
            <a:alphaModFix/>
            <a:extLst>
              <a:ext uri="{28A0092B-C50C-407E-A947-70E740481C1C}">
                <a14:useLocalDpi xmlns:a14="http://schemas.microsoft.com/office/drawing/2010/main"/>
              </a:ext>
            </a:extLst>
          </a:blip>
          <a:srcRect/>
          <a:stretch>
            <a:fillRect/>
          </a:stretch>
        </p:blipFill>
        <p:spPr>
          <a:xfrm>
            <a:off x="4709412" y="1611655"/>
            <a:ext cx="2672221" cy="2769642"/>
          </a:xfrm>
          <a:prstGeom prst="rect">
            <a:avLst/>
          </a:prstGeom>
        </p:spPr>
      </p:pic>
      <p:sp>
        <p:nvSpPr>
          <p:cNvPr id="166" name="Footer Placeholder 4">
            <a:extLst>
              <a:ext uri="{FF2B5EF4-FFF2-40B4-BE49-F238E27FC236}">
                <a16:creationId xmlns:a16="http://schemas.microsoft.com/office/drawing/2014/main" id="{CE2337D4-6CA9-E44D-3C92-15351263CAF3}"/>
              </a:ext>
            </a:extLst>
          </p:cNvPr>
          <p:cNvSpPr txBox="1">
            <a:spLocks/>
          </p:cNvSpPr>
          <p:nvPr/>
        </p:nvSpPr>
        <p:spPr>
          <a:xfrm>
            <a:off x="6166105" y="2433190"/>
            <a:ext cx="812226" cy="22714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rgbClr val="FC6B65"/>
                </a:solidFill>
              </a:rPr>
              <a:t>y</a:t>
            </a:r>
            <a:r>
              <a:rPr lang="de-DE" sz="1400" b="1" baseline="30000">
                <a:solidFill>
                  <a:srgbClr val="FC6B65"/>
                </a:solidFill>
              </a:rPr>
              <a:t>(1)</a:t>
            </a:r>
            <a:endParaRPr lang="de-DE" sz="1400" b="1">
              <a:solidFill>
                <a:srgbClr val="FC6B65"/>
              </a:solidFill>
            </a:endParaRPr>
          </a:p>
        </p:txBody>
      </p:sp>
      <p:sp>
        <p:nvSpPr>
          <p:cNvPr id="167" name="Footer Placeholder 4">
            <a:extLst>
              <a:ext uri="{FF2B5EF4-FFF2-40B4-BE49-F238E27FC236}">
                <a16:creationId xmlns:a16="http://schemas.microsoft.com/office/drawing/2014/main" id="{49FFEEC6-0C92-17E3-A548-1690CF1BE575}"/>
              </a:ext>
            </a:extLst>
          </p:cNvPr>
          <p:cNvSpPr txBox="1">
            <a:spLocks/>
          </p:cNvSpPr>
          <p:nvPr/>
        </p:nvSpPr>
        <p:spPr>
          <a:xfrm>
            <a:off x="5132634" y="3247950"/>
            <a:ext cx="812226" cy="22714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rgbClr val="FC6B65"/>
                </a:solidFill>
              </a:rPr>
              <a:t>y</a:t>
            </a:r>
            <a:r>
              <a:rPr lang="de-DE" sz="1400" b="1" baseline="30000">
                <a:solidFill>
                  <a:srgbClr val="FC6B65"/>
                </a:solidFill>
              </a:rPr>
              <a:t>(2)</a:t>
            </a:r>
            <a:endParaRPr lang="de-DE" sz="1400" b="1">
              <a:solidFill>
                <a:srgbClr val="FC6B65"/>
              </a:solidFill>
            </a:endParaRPr>
          </a:p>
        </p:txBody>
      </p:sp>
      <p:sp>
        <p:nvSpPr>
          <p:cNvPr id="168" name="Footer Placeholder 4">
            <a:extLst>
              <a:ext uri="{FF2B5EF4-FFF2-40B4-BE49-F238E27FC236}">
                <a16:creationId xmlns:a16="http://schemas.microsoft.com/office/drawing/2014/main" id="{0ACDAE68-2D44-9734-7F81-C4949DE101C6}"/>
              </a:ext>
            </a:extLst>
          </p:cNvPr>
          <p:cNvSpPr txBox="1">
            <a:spLocks/>
          </p:cNvSpPr>
          <p:nvPr/>
        </p:nvSpPr>
        <p:spPr>
          <a:xfrm>
            <a:off x="6364664" y="4347673"/>
            <a:ext cx="812226" cy="22714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rgbClr val="FC6B65"/>
                </a:solidFill>
              </a:rPr>
              <a:t>y</a:t>
            </a:r>
            <a:r>
              <a:rPr lang="de-DE" sz="1400" b="1" baseline="30000">
                <a:solidFill>
                  <a:srgbClr val="FC6B65"/>
                </a:solidFill>
              </a:rPr>
              <a:t>(k)</a:t>
            </a:r>
            <a:endParaRPr lang="de-DE" sz="1400" b="1">
              <a:solidFill>
                <a:srgbClr val="FC6B65"/>
              </a:solidFill>
            </a:endParaRPr>
          </a:p>
        </p:txBody>
      </p:sp>
      <p:sp>
        <p:nvSpPr>
          <p:cNvPr id="19" name="TextBox 18">
            <a:extLst>
              <a:ext uri="{FF2B5EF4-FFF2-40B4-BE49-F238E27FC236}">
                <a16:creationId xmlns:a16="http://schemas.microsoft.com/office/drawing/2014/main" id="{56F8C16C-BC06-93DE-3BC8-B2CFC31E7014}"/>
              </a:ext>
            </a:extLst>
          </p:cNvPr>
          <p:cNvSpPr txBox="1"/>
          <p:nvPr/>
        </p:nvSpPr>
        <p:spPr>
          <a:xfrm>
            <a:off x="4525212" y="1611558"/>
            <a:ext cx="634349" cy="276999"/>
          </a:xfrm>
          <a:prstGeom prst="rect">
            <a:avLst/>
          </a:prstGeom>
          <a:noFill/>
        </p:spPr>
        <p:txBody>
          <a:bodyPr wrap="square">
            <a:spAutoFit/>
          </a:bodyPr>
          <a:lstStyle/>
          <a:p>
            <a:pPr algn="ctr"/>
            <a:r>
              <a:rPr lang="en-GB" sz="1200" b="1"/>
              <a:t>q</a:t>
            </a:r>
            <a:r>
              <a:rPr lang="en-GB" sz="1200" b="1" baseline="-25000"/>
              <a:t>𝜽</a:t>
            </a:r>
          </a:p>
        </p:txBody>
      </p:sp>
      <p:sp>
        <p:nvSpPr>
          <p:cNvPr id="20" name="TextBox 19">
            <a:extLst>
              <a:ext uri="{FF2B5EF4-FFF2-40B4-BE49-F238E27FC236}">
                <a16:creationId xmlns:a16="http://schemas.microsoft.com/office/drawing/2014/main" id="{4DB50320-3468-9480-3492-BB6625B2073D}"/>
              </a:ext>
            </a:extLst>
          </p:cNvPr>
          <p:cNvSpPr txBox="1"/>
          <p:nvPr/>
        </p:nvSpPr>
        <p:spPr>
          <a:xfrm>
            <a:off x="6868186" y="2202550"/>
            <a:ext cx="634349" cy="276999"/>
          </a:xfrm>
          <a:prstGeom prst="rect">
            <a:avLst/>
          </a:prstGeom>
          <a:noFill/>
        </p:spPr>
        <p:txBody>
          <a:bodyPr wrap="square">
            <a:spAutoFit/>
          </a:bodyPr>
          <a:lstStyle/>
          <a:p>
            <a:pPr algn="ctr"/>
            <a:r>
              <a:rPr lang="en-GB" sz="1200" b="1"/>
              <a:t>y</a:t>
            </a:r>
            <a:endParaRPr lang="en-GB" sz="1200" b="1" baseline="-25000"/>
          </a:p>
        </p:txBody>
      </p:sp>
      <p:sp>
        <p:nvSpPr>
          <p:cNvPr id="23" name="TextBox 22">
            <a:extLst>
              <a:ext uri="{FF2B5EF4-FFF2-40B4-BE49-F238E27FC236}">
                <a16:creationId xmlns:a16="http://schemas.microsoft.com/office/drawing/2014/main" id="{D4ACF7EB-DAD8-F95E-5BC1-49B6DC194D5F}"/>
              </a:ext>
            </a:extLst>
          </p:cNvPr>
          <p:cNvSpPr txBox="1"/>
          <p:nvPr/>
        </p:nvSpPr>
        <p:spPr>
          <a:xfrm>
            <a:off x="3387392" y="1492871"/>
            <a:ext cx="589220" cy="369332"/>
          </a:xfrm>
          <a:prstGeom prst="rect">
            <a:avLst/>
          </a:prstGeom>
          <a:noFill/>
        </p:spPr>
        <p:txBody>
          <a:bodyPr wrap="square" rtlCol="0">
            <a:spAutoFit/>
          </a:bodyPr>
          <a:lstStyle/>
          <a:p>
            <a:pPr algn="ctr"/>
            <a:r>
              <a:rPr lang="en-CH">
                <a:solidFill>
                  <a:srgbClr val="5787C0"/>
                </a:solidFill>
              </a:rPr>
              <a:t>D</a:t>
            </a:r>
            <a:r>
              <a:rPr lang="en-CH" baseline="30000">
                <a:solidFill>
                  <a:srgbClr val="5787C0"/>
                </a:solidFill>
              </a:rPr>
              <a:t>(1)</a:t>
            </a:r>
            <a:endParaRPr lang="en-CH">
              <a:solidFill>
                <a:srgbClr val="5787C0"/>
              </a:solidFill>
            </a:endParaRPr>
          </a:p>
        </p:txBody>
      </p:sp>
      <p:sp>
        <p:nvSpPr>
          <p:cNvPr id="24" name="TextBox 23">
            <a:extLst>
              <a:ext uri="{FF2B5EF4-FFF2-40B4-BE49-F238E27FC236}">
                <a16:creationId xmlns:a16="http://schemas.microsoft.com/office/drawing/2014/main" id="{7FF31F18-F04F-BA82-9660-003C2A652646}"/>
              </a:ext>
            </a:extLst>
          </p:cNvPr>
          <p:cNvSpPr txBox="1"/>
          <p:nvPr/>
        </p:nvSpPr>
        <p:spPr>
          <a:xfrm>
            <a:off x="3420270" y="2394996"/>
            <a:ext cx="573860" cy="369332"/>
          </a:xfrm>
          <a:prstGeom prst="rect">
            <a:avLst/>
          </a:prstGeom>
          <a:noFill/>
        </p:spPr>
        <p:txBody>
          <a:bodyPr wrap="square" rtlCol="0">
            <a:spAutoFit/>
          </a:bodyPr>
          <a:lstStyle/>
          <a:p>
            <a:pPr algn="ctr"/>
            <a:r>
              <a:rPr lang="en-CH">
                <a:solidFill>
                  <a:srgbClr val="5787C0"/>
                </a:solidFill>
              </a:rPr>
              <a:t>D</a:t>
            </a:r>
            <a:r>
              <a:rPr lang="en-CH" baseline="30000">
                <a:solidFill>
                  <a:srgbClr val="5787C0"/>
                </a:solidFill>
              </a:rPr>
              <a:t>(2)</a:t>
            </a:r>
            <a:endParaRPr lang="en-CH">
              <a:solidFill>
                <a:srgbClr val="5787C0"/>
              </a:solidFill>
            </a:endParaRPr>
          </a:p>
        </p:txBody>
      </p:sp>
      <p:sp>
        <p:nvSpPr>
          <p:cNvPr id="25" name="TextBox 24">
            <a:extLst>
              <a:ext uri="{FF2B5EF4-FFF2-40B4-BE49-F238E27FC236}">
                <a16:creationId xmlns:a16="http://schemas.microsoft.com/office/drawing/2014/main" id="{24F0370B-DCE1-43EF-8D41-8AFDCC184A42}"/>
              </a:ext>
            </a:extLst>
          </p:cNvPr>
          <p:cNvSpPr txBox="1"/>
          <p:nvPr/>
        </p:nvSpPr>
        <p:spPr>
          <a:xfrm>
            <a:off x="3420270" y="3590171"/>
            <a:ext cx="607510" cy="369332"/>
          </a:xfrm>
          <a:prstGeom prst="rect">
            <a:avLst/>
          </a:prstGeom>
          <a:noFill/>
        </p:spPr>
        <p:txBody>
          <a:bodyPr wrap="square" rtlCol="0">
            <a:spAutoFit/>
          </a:bodyPr>
          <a:lstStyle/>
          <a:p>
            <a:pPr algn="ctr"/>
            <a:r>
              <a:rPr lang="en-CH">
                <a:solidFill>
                  <a:srgbClr val="5787C0"/>
                </a:solidFill>
              </a:rPr>
              <a:t>D</a:t>
            </a:r>
            <a:r>
              <a:rPr lang="en-CH" baseline="30000">
                <a:solidFill>
                  <a:srgbClr val="5787C0"/>
                </a:solidFill>
              </a:rPr>
              <a:t>(k)</a:t>
            </a:r>
            <a:endParaRPr lang="en-CH">
              <a:solidFill>
                <a:srgbClr val="5787C0"/>
              </a:solidFill>
            </a:endParaRPr>
          </a:p>
        </p:txBody>
      </p:sp>
      <p:pic>
        <p:nvPicPr>
          <p:cNvPr id="112" name="Picture 111">
            <a:extLst>
              <a:ext uri="{FF2B5EF4-FFF2-40B4-BE49-F238E27FC236}">
                <a16:creationId xmlns:a16="http://schemas.microsoft.com/office/drawing/2014/main" id="{1C93CFCD-B837-6287-3673-B771EA704F13}"/>
              </a:ext>
            </a:extLst>
          </p:cNvPr>
          <p:cNvPicPr>
            <a:picLocks/>
          </p:cNvPicPr>
          <p:nvPr/>
        </p:nvPicPr>
        <p:blipFill>
          <a:blip r:embed="rId14" cstate="screen">
            <a:extLst>
              <a:ext uri="{28A0092B-C50C-407E-A947-70E740481C1C}">
                <a14:useLocalDpi xmlns:a14="http://schemas.microsoft.com/office/drawing/2010/main"/>
              </a:ext>
            </a:extLst>
          </a:blip>
          <a:srcRect/>
          <a:stretch/>
        </p:blipFill>
        <p:spPr>
          <a:xfrm>
            <a:off x="9475907" y="3535954"/>
            <a:ext cx="1380923" cy="1219619"/>
          </a:xfrm>
          <a:prstGeom prst="rect">
            <a:avLst/>
          </a:prstGeom>
        </p:spPr>
      </p:pic>
      <p:sp>
        <p:nvSpPr>
          <p:cNvPr id="115" name="Content Placeholder 2">
            <a:extLst>
              <a:ext uri="{FF2B5EF4-FFF2-40B4-BE49-F238E27FC236}">
                <a16:creationId xmlns:a16="http://schemas.microsoft.com/office/drawing/2014/main" id="{9A7CFF8A-633B-49F7-39FC-12CA1C19E87F}"/>
              </a:ext>
            </a:extLst>
          </p:cNvPr>
          <p:cNvSpPr txBox="1">
            <a:spLocks/>
          </p:cNvSpPr>
          <p:nvPr/>
        </p:nvSpPr>
        <p:spPr>
          <a:xfrm>
            <a:off x="11137585" y="4526406"/>
            <a:ext cx="651098" cy="276137"/>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600" b="1">
                <a:solidFill>
                  <a:srgbClr val="FC6B65"/>
                </a:solidFill>
                <a:ea typeface="Cambria Math" panose="02040503050406030204" pitchFamily="18" charset="0"/>
              </a:rPr>
              <a:t>y</a:t>
            </a:r>
            <a:r>
              <a:rPr lang="en-GB" sz="1600" b="1" baseline="-25000">
                <a:solidFill>
                  <a:srgbClr val="FC6B65"/>
                </a:solidFill>
                <a:ea typeface="Cambria Math" panose="02040503050406030204" pitchFamily="18" charset="0"/>
              </a:rPr>
              <a:t>query</a:t>
            </a:r>
          </a:p>
        </p:txBody>
      </p:sp>
      <p:sp>
        <p:nvSpPr>
          <p:cNvPr id="175" name="Rectangle 174">
            <a:extLst>
              <a:ext uri="{FF2B5EF4-FFF2-40B4-BE49-F238E27FC236}">
                <a16:creationId xmlns:a16="http://schemas.microsoft.com/office/drawing/2014/main" id="{546025F1-F1A1-7486-0D18-C3825BE802ED}"/>
              </a:ext>
            </a:extLst>
          </p:cNvPr>
          <p:cNvSpPr/>
          <p:nvPr/>
        </p:nvSpPr>
        <p:spPr>
          <a:xfrm>
            <a:off x="3450071" y="144823"/>
            <a:ext cx="4179409" cy="4447097"/>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mc:AlternateContent xmlns:mc="http://schemas.openxmlformats.org/markup-compatibility/2006" xmlns:a14="http://schemas.microsoft.com/office/drawing/2010/main">
        <mc:Choice Requires="a14">
          <p:sp>
            <p:nvSpPr>
              <p:cNvPr id="27" name="Content Placeholder 2">
                <a:extLst>
                  <a:ext uri="{FF2B5EF4-FFF2-40B4-BE49-F238E27FC236}">
                    <a16:creationId xmlns:a16="http://schemas.microsoft.com/office/drawing/2014/main" id="{72319F2E-00C1-F264-AA31-59F7DBFCC3F7}"/>
                  </a:ext>
                </a:extLst>
              </p:cNvPr>
              <p:cNvSpPr txBox="1">
                <a:spLocks/>
              </p:cNvSpPr>
              <p:nvPr/>
            </p:nvSpPr>
            <p:spPr>
              <a:xfrm>
                <a:off x="10502175" y="3544392"/>
                <a:ext cx="1507842" cy="409086"/>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14:m>
                  <m:oMathPara xmlns:m="http://schemas.openxmlformats.org/officeDocument/2006/math">
                    <m:oMathParaPr>
                      <m:jc m:val="left"/>
                    </m:oMathParaPr>
                    <m:oMath xmlns:m="http://schemas.openxmlformats.org/officeDocument/2006/math">
                      <m:sSub>
                        <m:sSubPr>
                          <m:ctrlPr>
                            <a:rPr lang="en-GB" sz="1600" b="1" i="1">
                              <a:solidFill>
                                <a:schemeClr val="accent2">
                                  <a:lumMod val="60000"/>
                                  <a:lumOff val="40000"/>
                                </a:schemeClr>
                              </a:solidFill>
                              <a:latin typeface="Cambria Math" panose="02040503050406030204" pitchFamily="18" charset="0"/>
                            </a:rPr>
                          </m:ctrlPr>
                        </m:sSubPr>
                        <m:e>
                          <m:r>
                            <m:rPr>
                              <m:nor/>
                            </m:rPr>
                            <a:rPr lang="de-CH" sz="1600" b="1" i="0">
                              <a:solidFill>
                                <a:schemeClr val="accent2">
                                  <a:lumMod val="60000"/>
                                  <a:lumOff val="40000"/>
                                </a:schemeClr>
                              </a:solidFill>
                            </a:rPr>
                            <m:t>q</m:t>
                          </m:r>
                        </m:e>
                        <m:sub>
                          <m:acc>
                            <m:accPr>
                              <m:chr m:val="̂"/>
                              <m:ctrlPr>
                                <a:rPr lang="en-GB" sz="1600" b="1" i="1">
                                  <a:solidFill>
                                    <a:schemeClr val="accent2">
                                      <a:lumMod val="60000"/>
                                      <a:lumOff val="40000"/>
                                    </a:schemeClr>
                                  </a:solidFill>
                                  <a:latin typeface="Cambria Math" panose="02040503050406030204" pitchFamily="18" charset="0"/>
                                </a:rPr>
                              </m:ctrlPr>
                            </m:accPr>
                            <m:e>
                              <m:r>
                                <m:rPr>
                                  <m:nor/>
                                </m:rPr>
                                <a:rPr lang="en-GB" sz="1600" b="1" i="0">
                                  <a:solidFill>
                                    <a:schemeClr val="accent2">
                                      <a:lumMod val="60000"/>
                                      <a:lumOff val="40000"/>
                                    </a:schemeClr>
                                  </a:solidFill>
                                  <a:ea typeface="Cambria Math" panose="02040503050406030204" pitchFamily="18" charset="0"/>
                                </a:rPr>
                                <m:t>θ</m:t>
                              </m:r>
                            </m:e>
                          </m:acc>
                        </m:sub>
                      </m:sSub>
                    </m:oMath>
                  </m:oMathPara>
                </a14:m>
                <a:endParaRPr lang="en-GB" sz="1600" b="1"/>
              </a:p>
            </p:txBody>
          </p:sp>
        </mc:Choice>
        <mc:Fallback xmlns="">
          <p:sp>
            <p:nvSpPr>
              <p:cNvPr id="27" name="Content Placeholder 2">
                <a:extLst>
                  <a:ext uri="{FF2B5EF4-FFF2-40B4-BE49-F238E27FC236}">
                    <a16:creationId xmlns:a16="http://schemas.microsoft.com/office/drawing/2014/main" id="{72319F2E-00C1-F264-AA31-59F7DBFCC3F7}"/>
                  </a:ext>
                </a:extLst>
              </p:cNvPr>
              <p:cNvSpPr txBox="1">
                <a:spLocks noRot="1" noChangeAspect="1" noMove="1" noResize="1" noEditPoints="1" noAdjustHandles="1" noChangeArrowheads="1" noChangeShapeType="1" noTextEdit="1"/>
              </p:cNvSpPr>
              <p:nvPr/>
            </p:nvSpPr>
            <p:spPr>
              <a:xfrm>
                <a:off x="10502175" y="3544392"/>
                <a:ext cx="1507842" cy="409086"/>
              </a:xfrm>
              <a:prstGeom prst="rect">
                <a:avLst/>
              </a:prstGeom>
              <a:blipFill>
                <a:blip r:embed="rId15"/>
                <a:stretch>
                  <a:fillRect l="-5042"/>
                </a:stretch>
              </a:blipFill>
            </p:spPr>
            <p:txBody>
              <a:bodyPr/>
              <a:lstStyle/>
              <a:p>
                <a:r>
                  <a:rPr lang="en-CH">
                    <a:noFill/>
                  </a:rPr>
                  <a:t> </a:t>
                </a:r>
              </a:p>
            </p:txBody>
          </p:sp>
        </mc:Fallback>
      </mc:AlternateContent>
      <p:grpSp>
        <p:nvGrpSpPr>
          <p:cNvPr id="93" name="Group 92">
            <a:extLst>
              <a:ext uri="{FF2B5EF4-FFF2-40B4-BE49-F238E27FC236}">
                <a16:creationId xmlns:a16="http://schemas.microsoft.com/office/drawing/2014/main" id="{96189AE6-F009-2181-5089-CD7A8CB46ED8}"/>
              </a:ext>
            </a:extLst>
          </p:cNvPr>
          <p:cNvGrpSpPr/>
          <p:nvPr/>
        </p:nvGrpSpPr>
        <p:grpSpPr>
          <a:xfrm>
            <a:off x="9512271" y="2139275"/>
            <a:ext cx="2164719" cy="935320"/>
            <a:chOff x="9512271" y="2391964"/>
            <a:chExt cx="2164719" cy="935320"/>
          </a:xfrm>
        </p:grpSpPr>
        <p:sp>
          <p:nvSpPr>
            <p:cNvPr id="3" name="Rounded Rectangle 2">
              <a:extLst>
                <a:ext uri="{FF2B5EF4-FFF2-40B4-BE49-F238E27FC236}">
                  <a16:creationId xmlns:a16="http://schemas.microsoft.com/office/drawing/2014/main" id="{D50D548D-6A99-D074-685D-ABF253CB6F33}"/>
                </a:ext>
              </a:extLst>
            </p:cNvPr>
            <p:cNvSpPr/>
            <p:nvPr/>
          </p:nvSpPr>
          <p:spPr>
            <a:xfrm>
              <a:off x="9512271" y="2391964"/>
              <a:ext cx="1315435" cy="717957"/>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grpSp>
          <p:nvGrpSpPr>
            <p:cNvPr id="84" name="Group 83">
              <a:extLst>
                <a:ext uri="{FF2B5EF4-FFF2-40B4-BE49-F238E27FC236}">
                  <a16:creationId xmlns:a16="http://schemas.microsoft.com/office/drawing/2014/main" id="{981E70F9-55D0-0716-91E4-284DF0F60302}"/>
                </a:ext>
              </a:extLst>
            </p:cNvPr>
            <p:cNvGrpSpPr/>
            <p:nvPr/>
          </p:nvGrpSpPr>
          <p:grpSpPr>
            <a:xfrm>
              <a:off x="9962301" y="2553290"/>
              <a:ext cx="1714689" cy="773994"/>
              <a:chOff x="10601140" y="3354252"/>
              <a:chExt cx="1774582" cy="801030"/>
            </a:xfrm>
          </p:grpSpPr>
          <mc:AlternateContent xmlns:mc="http://schemas.openxmlformats.org/markup-compatibility/2006" xmlns:a14="http://schemas.microsoft.com/office/drawing/2010/main">
            <mc:Choice Requires="a14">
              <p:sp>
                <p:nvSpPr>
                  <p:cNvPr id="153" name="Title 1">
                    <a:extLst>
                      <a:ext uri="{FF2B5EF4-FFF2-40B4-BE49-F238E27FC236}">
                        <a16:creationId xmlns:a16="http://schemas.microsoft.com/office/drawing/2014/main" id="{8FAD7C0F-3AF4-568C-F2F1-0C9DD1219CD6}"/>
                      </a:ext>
                    </a:extLst>
                  </p:cNvPr>
                  <p:cNvSpPr txBox="1">
                    <a:spLocks/>
                  </p:cNvSpPr>
                  <p:nvPr/>
                </p:nvSpPr>
                <p:spPr>
                  <a:xfrm>
                    <a:off x="10601140" y="3531477"/>
                    <a:ext cx="697443" cy="623805"/>
                  </a:xfrm>
                  <a:prstGeom prst="rect">
                    <a:avLst/>
                  </a:prstGeom>
                </p:spPr>
                <p:txBody>
                  <a:bodyPr vert="horz" lIns="0" tIns="0" rIns="0" bIns="0" rtlCol="0" anchor="t" anchorCtr="0">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acc>
                            <m:accPr>
                              <m:chr m:val="̂"/>
                              <m:ctrlPr>
                                <a:rPr lang="en-CH" sz="2400" b="1" i="1">
                                  <a:latin typeface="Cambria Math" panose="02040503050406030204" pitchFamily="18" charset="0"/>
                                </a:rPr>
                              </m:ctrlPr>
                            </m:accPr>
                            <m:e>
                              <m:r>
                                <a:rPr lang="en-CH" sz="2400" b="1" i="1">
                                  <a:latin typeface="Cambria Math" panose="02040503050406030204" pitchFamily="18" charset="0"/>
                                  <a:ea typeface="Cambria Math" panose="02040503050406030204" pitchFamily="18" charset="0"/>
                                </a:rPr>
                                <m:t>𝜽</m:t>
                              </m:r>
                            </m:e>
                          </m:acc>
                        </m:oMath>
                      </m:oMathPara>
                    </a14:m>
                    <a:endParaRPr lang="en-CH" sz="2400" b="1">
                      <a:latin typeface="+mn-lt"/>
                    </a:endParaRPr>
                  </a:p>
                </p:txBody>
              </p:sp>
            </mc:Choice>
            <mc:Fallback xmlns="">
              <p:sp>
                <p:nvSpPr>
                  <p:cNvPr id="153" name="Title 1">
                    <a:extLst>
                      <a:ext uri="{FF2B5EF4-FFF2-40B4-BE49-F238E27FC236}">
                        <a16:creationId xmlns:a16="http://schemas.microsoft.com/office/drawing/2014/main" id="{8FAD7C0F-3AF4-568C-F2F1-0C9DD1219CD6}"/>
                      </a:ext>
                    </a:extLst>
                  </p:cNvPr>
                  <p:cNvSpPr txBox="1">
                    <a:spLocks noRot="1" noChangeAspect="1" noMove="1" noResize="1" noEditPoints="1" noAdjustHandles="1" noChangeArrowheads="1" noChangeShapeType="1" noTextEdit="1"/>
                  </p:cNvSpPr>
                  <p:nvPr/>
                </p:nvSpPr>
                <p:spPr>
                  <a:xfrm>
                    <a:off x="10601140" y="3531477"/>
                    <a:ext cx="697443" cy="623805"/>
                  </a:xfrm>
                  <a:prstGeom prst="rect">
                    <a:avLst/>
                  </a:prstGeom>
                  <a:blipFill>
                    <a:blip r:embed="rId16"/>
                    <a:stretch>
                      <a:fillRect t="-18750"/>
                    </a:stretch>
                  </a:blipFill>
                </p:spPr>
                <p:txBody>
                  <a:bodyPr/>
                  <a:lstStyle/>
                  <a:p>
                    <a:r>
                      <a:rPr lang="en-CH">
                        <a:noFill/>
                      </a:rPr>
                      <a:t> </a:t>
                    </a:r>
                  </a:p>
                </p:txBody>
              </p:sp>
            </mc:Fallback>
          </mc:AlternateContent>
          <p:pic>
            <p:nvPicPr>
              <p:cNvPr id="5" name="Picture 4">
                <a:extLst>
                  <a:ext uri="{FF2B5EF4-FFF2-40B4-BE49-F238E27FC236}">
                    <a16:creationId xmlns:a16="http://schemas.microsoft.com/office/drawing/2014/main" id="{5C7DEB6D-79D5-FA4A-4837-3A9B81F4563A}"/>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flipH="1">
                <a:off x="11558283" y="3354252"/>
                <a:ext cx="817439" cy="382233"/>
              </a:xfrm>
              <a:prstGeom prst="rect">
                <a:avLst/>
              </a:prstGeom>
            </p:spPr>
          </p:pic>
        </p:grpSp>
        <p:sp>
          <p:nvSpPr>
            <p:cNvPr id="10" name="Title 1">
              <a:extLst>
                <a:ext uri="{FF2B5EF4-FFF2-40B4-BE49-F238E27FC236}">
                  <a16:creationId xmlns:a16="http://schemas.microsoft.com/office/drawing/2014/main" id="{6814B10E-9890-65E0-8941-DC055B041C21}"/>
                </a:ext>
              </a:extLst>
            </p:cNvPr>
            <p:cNvSpPr txBox="1">
              <a:spLocks/>
            </p:cNvSpPr>
            <p:nvPr/>
          </p:nvSpPr>
          <p:spPr>
            <a:xfrm>
              <a:off x="9912565" y="2491231"/>
              <a:ext cx="697443" cy="57654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GB" sz="3600" b="1">
                  <a:latin typeface="+mn-lt"/>
                </a:rPr>
                <a:t>T</a:t>
              </a:r>
              <a:endParaRPr lang="en-CH" sz="3600" b="1" i="1" baseline="-25000">
                <a:latin typeface="+mn-lt"/>
              </a:endParaRPr>
            </a:p>
          </p:txBody>
        </p:sp>
      </p:grpSp>
      <p:sp>
        <p:nvSpPr>
          <p:cNvPr id="78" name="TextBox 77">
            <a:extLst>
              <a:ext uri="{FF2B5EF4-FFF2-40B4-BE49-F238E27FC236}">
                <a16:creationId xmlns:a16="http://schemas.microsoft.com/office/drawing/2014/main" id="{CDE701AA-2FBB-E452-4ED2-A4F3E179EDE8}"/>
              </a:ext>
            </a:extLst>
          </p:cNvPr>
          <p:cNvSpPr txBox="1"/>
          <p:nvPr/>
        </p:nvSpPr>
        <p:spPr>
          <a:xfrm>
            <a:off x="7842250" y="2209800"/>
            <a:ext cx="184731" cy="369332"/>
          </a:xfrm>
          <a:prstGeom prst="rect">
            <a:avLst/>
          </a:prstGeom>
          <a:noFill/>
        </p:spPr>
        <p:txBody>
          <a:bodyPr wrap="none" rtlCol="0">
            <a:spAutoFit/>
          </a:bodyPr>
          <a:lstStyle/>
          <a:p>
            <a:endParaRPr lang="en-CH"/>
          </a:p>
        </p:txBody>
      </p:sp>
      <p:sp>
        <p:nvSpPr>
          <p:cNvPr id="94" name="Rectangle 93">
            <a:extLst>
              <a:ext uri="{FF2B5EF4-FFF2-40B4-BE49-F238E27FC236}">
                <a16:creationId xmlns:a16="http://schemas.microsoft.com/office/drawing/2014/main" id="{514E7B08-B076-9EB1-638E-4A17F87ECB2B}"/>
              </a:ext>
            </a:extLst>
          </p:cNvPr>
          <p:cNvSpPr/>
          <p:nvPr/>
        </p:nvSpPr>
        <p:spPr>
          <a:xfrm>
            <a:off x="9402185" y="2872291"/>
            <a:ext cx="1452282" cy="6648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97" name="Graphic 96" descr="Arrow Right with solid fill">
            <a:extLst>
              <a:ext uri="{FF2B5EF4-FFF2-40B4-BE49-F238E27FC236}">
                <a16:creationId xmlns:a16="http://schemas.microsoft.com/office/drawing/2014/main" id="{48FA0D57-0CDD-6BA2-27D5-163680E27808}"/>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rot="5400000">
            <a:off x="9990795" y="2906876"/>
            <a:ext cx="380562" cy="642198"/>
          </a:xfrm>
          <a:prstGeom prst="rect">
            <a:avLst/>
          </a:prstGeom>
        </p:spPr>
      </p:pic>
      <p:pic>
        <p:nvPicPr>
          <p:cNvPr id="99" name="Graphic 98" descr="Arrow Right with solid fill">
            <a:extLst>
              <a:ext uri="{FF2B5EF4-FFF2-40B4-BE49-F238E27FC236}">
                <a16:creationId xmlns:a16="http://schemas.microsoft.com/office/drawing/2014/main" id="{855415EE-DE11-68E0-AD8F-A24E431B089E}"/>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rot="5400000">
            <a:off x="9990795" y="1450941"/>
            <a:ext cx="380562" cy="642198"/>
          </a:xfrm>
          <a:prstGeom prst="rect">
            <a:avLst/>
          </a:prstGeom>
        </p:spPr>
      </p:pic>
      <p:grpSp>
        <p:nvGrpSpPr>
          <p:cNvPr id="100" name="Group 99">
            <a:extLst>
              <a:ext uri="{FF2B5EF4-FFF2-40B4-BE49-F238E27FC236}">
                <a16:creationId xmlns:a16="http://schemas.microsoft.com/office/drawing/2014/main" id="{682D2A06-2E33-6C99-9508-03D3A23FB35B}"/>
              </a:ext>
            </a:extLst>
          </p:cNvPr>
          <p:cNvGrpSpPr/>
          <p:nvPr/>
        </p:nvGrpSpPr>
        <p:grpSpPr>
          <a:xfrm>
            <a:off x="9687183" y="227163"/>
            <a:ext cx="987786" cy="1213071"/>
            <a:chOff x="8563626" y="70171"/>
            <a:chExt cx="987786" cy="1213071"/>
          </a:xfrm>
        </p:grpSpPr>
        <p:pic>
          <p:nvPicPr>
            <p:cNvPr id="101" name="Picture 100">
              <a:extLst>
                <a:ext uri="{FF2B5EF4-FFF2-40B4-BE49-F238E27FC236}">
                  <a16:creationId xmlns:a16="http://schemas.microsoft.com/office/drawing/2014/main" id="{692427EA-B981-7BE4-AA4C-C6047C9FD7D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563626" y="70171"/>
              <a:ext cx="987786" cy="1213071"/>
            </a:xfrm>
            <a:prstGeom prst="rect">
              <a:avLst/>
            </a:prstGeom>
          </p:spPr>
        </p:pic>
        <p:sp>
          <p:nvSpPr>
            <p:cNvPr id="102" name="Content Placeholder 2">
              <a:extLst>
                <a:ext uri="{FF2B5EF4-FFF2-40B4-BE49-F238E27FC236}">
                  <a16:creationId xmlns:a16="http://schemas.microsoft.com/office/drawing/2014/main" id="{5AE125C6-AEB1-73B8-4DD5-E486225231EE}"/>
                </a:ext>
              </a:extLst>
            </p:cNvPr>
            <p:cNvSpPr txBox="1">
              <a:spLocks/>
            </p:cNvSpPr>
            <p:nvPr/>
          </p:nvSpPr>
          <p:spPr>
            <a:xfrm>
              <a:off x="8765514" y="81709"/>
              <a:ext cx="746872" cy="178760"/>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200">
                  <a:ea typeface="Cambria Math" panose="02040503050406030204" pitchFamily="18" charset="0"/>
                </a:rPr>
                <a:t>X         Y	</a:t>
              </a:r>
            </a:p>
          </p:txBody>
        </p:sp>
        <p:sp>
          <p:nvSpPr>
            <p:cNvPr id="103" name="Rectangle 102">
              <a:extLst>
                <a:ext uri="{FF2B5EF4-FFF2-40B4-BE49-F238E27FC236}">
                  <a16:creationId xmlns:a16="http://schemas.microsoft.com/office/drawing/2014/main" id="{7A6ADA87-F360-88A8-D64D-9A8E63654EE2}"/>
                </a:ext>
              </a:extLst>
            </p:cNvPr>
            <p:cNvSpPr/>
            <p:nvPr/>
          </p:nvSpPr>
          <p:spPr>
            <a:xfrm>
              <a:off x="9174405" y="1110742"/>
              <a:ext cx="258162" cy="1180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grpSp>
      <p:sp>
        <p:nvSpPr>
          <p:cNvPr id="104" name="TextBox 103">
            <a:extLst>
              <a:ext uri="{FF2B5EF4-FFF2-40B4-BE49-F238E27FC236}">
                <a16:creationId xmlns:a16="http://schemas.microsoft.com/office/drawing/2014/main" id="{824F33F9-F846-F43C-8131-8204AF29A16C}"/>
              </a:ext>
            </a:extLst>
          </p:cNvPr>
          <p:cNvSpPr txBox="1"/>
          <p:nvPr/>
        </p:nvSpPr>
        <p:spPr>
          <a:xfrm>
            <a:off x="8515152" y="2971968"/>
            <a:ext cx="1774253" cy="646331"/>
          </a:xfrm>
          <a:prstGeom prst="rect">
            <a:avLst/>
          </a:prstGeom>
          <a:noFill/>
        </p:spPr>
        <p:txBody>
          <a:bodyPr wrap="square" rtlCol="0">
            <a:spAutoFit/>
          </a:bodyPr>
          <a:lstStyle/>
          <a:p>
            <a:pPr algn="ctr"/>
            <a:r>
              <a:rPr lang="de-CH" b="1"/>
              <a:t>1 forward pass</a:t>
            </a:r>
            <a:endParaRPr lang="en-CH"/>
          </a:p>
        </p:txBody>
      </p:sp>
      <p:pic>
        <p:nvPicPr>
          <p:cNvPr id="111" name="Picture 110" descr="A diagram of a curve&#10;&#10;AI-generated content may be incorrect.">
            <a:extLst>
              <a:ext uri="{FF2B5EF4-FFF2-40B4-BE49-F238E27FC236}">
                <a16:creationId xmlns:a16="http://schemas.microsoft.com/office/drawing/2014/main" id="{EEDCBF3F-091C-AE19-0426-56F92A9D4E98}"/>
              </a:ext>
            </a:extLst>
          </p:cNvPr>
          <p:cNvPicPr>
            <a:picLocks noChangeAspect="1"/>
          </p:cNvPicPr>
          <p:nvPr/>
        </p:nvPicPr>
        <p:blipFill>
          <a:blip r:embed="rId20" cstate="screen">
            <a:alphaModFix/>
            <a:extLst>
              <a:ext uri="{28A0092B-C50C-407E-A947-70E740481C1C}">
                <a14:useLocalDpi xmlns:a14="http://schemas.microsoft.com/office/drawing/2010/main"/>
              </a:ext>
            </a:extLst>
          </a:blip>
          <a:stretch>
            <a:fillRect/>
          </a:stretch>
        </p:blipFill>
        <p:spPr>
          <a:xfrm>
            <a:off x="9253768" y="3538773"/>
            <a:ext cx="1825200" cy="1216800"/>
          </a:xfrm>
          <a:prstGeom prst="rect">
            <a:avLst/>
          </a:prstGeom>
        </p:spPr>
      </p:pic>
      <mc:AlternateContent xmlns:mc="http://schemas.openxmlformats.org/markup-compatibility/2006" xmlns:a14="http://schemas.microsoft.com/office/drawing/2010/main">
        <mc:Choice Requires="a14">
          <p:sp>
            <p:nvSpPr>
              <p:cNvPr id="107" name="Content Placeholder 2">
                <a:extLst>
                  <a:ext uri="{FF2B5EF4-FFF2-40B4-BE49-F238E27FC236}">
                    <a16:creationId xmlns:a16="http://schemas.microsoft.com/office/drawing/2014/main" id="{1AA6679D-7E42-714F-35C1-FE78970C746E}"/>
                  </a:ext>
                </a:extLst>
              </p:cNvPr>
              <p:cNvSpPr txBox="1">
                <a:spLocks/>
              </p:cNvSpPr>
              <p:nvPr/>
            </p:nvSpPr>
            <p:spPr>
              <a:xfrm>
                <a:off x="10502175" y="3544392"/>
                <a:ext cx="1507842" cy="409086"/>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14:m>
                  <m:oMathPara xmlns:m="http://schemas.openxmlformats.org/officeDocument/2006/math">
                    <m:oMathParaPr>
                      <m:jc m:val="left"/>
                    </m:oMathParaPr>
                    <m:oMath xmlns:m="http://schemas.openxmlformats.org/officeDocument/2006/math">
                      <m:sSub>
                        <m:sSubPr>
                          <m:ctrlPr>
                            <a:rPr lang="en-GB" sz="1600" b="1" i="1">
                              <a:solidFill>
                                <a:schemeClr val="accent2">
                                  <a:lumMod val="60000"/>
                                  <a:lumOff val="40000"/>
                                </a:schemeClr>
                              </a:solidFill>
                              <a:latin typeface="Cambria Math" panose="02040503050406030204" pitchFamily="18" charset="0"/>
                            </a:rPr>
                          </m:ctrlPr>
                        </m:sSubPr>
                        <m:e>
                          <m:r>
                            <m:rPr>
                              <m:nor/>
                            </m:rPr>
                            <a:rPr lang="de-CH" sz="1600" b="1" i="0">
                              <a:solidFill>
                                <a:schemeClr val="accent2">
                                  <a:lumMod val="60000"/>
                                  <a:lumOff val="40000"/>
                                </a:schemeClr>
                              </a:solidFill>
                            </a:rPr>
                            <m:t>q</m:t>
                          </m:r>
                        </m:e>
                        <m:sub>
                          <m:acc>
                            <m:accPr>
                              <m:chr m:val="̂"/>
                              <m:ctrlPr>
                                <a:rPr lang="en-GB" sz="1600" b="1" i="1">
                                  <a:solidFill>
                                    <a:schemeClr val="accent2">
                                      <a:lumMod val="60000"/>
                                      <a:lumOff val="40000"/>
                                    </a:schemeClr>
                                  </a:solidFill>
                                  <a:latin typeface="Cambria Math" panose="02040503050406030204" pitchFamily="18" charset="0"/>
                                </a:rPr>
                              </m:ctrlPr>
                            </m:accPr>
                            <m:e>
                              <m:r>
                                <m:rPr>
                                  <m:nor/>
                                </m:rPr>
                                <a:rPr lang="en-GB" sz="1600" b="1" i="0">
                                  <a:solidFill>
                                    <a:schemeClr val="accent2">
                                      <a:lumMod val="60000"/>
                                      <a:lumOff val="40000"/>
                                    </a:schemeClr>
                                  </a:solidFill>
                                  <a:ea typeface="Cambria Math" panose="02040503050406030204" pitchFamily="18" charset="0"/>
                                </a:rPr>
                                <m:t>θ</m:t>
                              </m:r>
                            </m:e>
                          </m:acc>
                        </m:sub>
                      </m:sSub>
                      <m:r>
                        <m:rPr>
                          <m:nor/>
                        </m:rPr>
                        <a:rPr lang="de-CH" sz="1600" b="1" i="0"/>
                        <m:t>  </m:t>
                      </m:r>
                      <m:r>
                        <m:rPr>
                          <m:nor/>
                        </m:rPr>
                        <a:rPr lang="de-CH" sz="1600" b="1" i="0">
                          <a:ea typeface="Cambria Math" panose="02040503050406030204" pitchFamily="18" charset="0"/>
                        </a:rPr>
                        <m:t>≈  </m:t>
                      </m:r>
                      <m:r>
                        <m:rPr>
                          <m:nor/>
                        </m:rPr>
                        <a:rPr lang="de-CH" sz="1600" b="1" i="0">
                          <a:solidFill>
                            <a:srgbClr val="FB9D00"/>
                          </a:solidFill>
                          <a:ea typeface="Cambria Math" panose="02040503050406030204" pitchFamily="18" charset="0"/>
                        </a:rPr>
                        <m:t>True</m:t>
                      </m:r>
                      <m:r>
                        <m:rPr>
                          <m:nor/>
                        </m:rPr>
                        <a:rPr lang="de-CH" sz="1600" b="1" i="0">
                          <a:solidFill>
                            <a:srgbClr val="FB9D00"/>
                          </a:solidFill>
                          <a:ea typeface="Cambria Math" panose="02040503050406030204" pitchFamily="18" charset="0"/>
                        </a:rPr>
                        <m:t> </m:t>
                      </m:r>
                      <m:r>
                        <m:rPr>
                          <m:nor/>
                        </m:rPr>
                        <a:rPr lang="de-CH" sz="1600" b="1" i="0">
                          <a:solidFill>
                            <a:srgbClr val="FB9D00"/>
                          </a:solidFill>
                          <a:ea typeface="Cambria Math" panose="02040503050406030204" pitchFamily="18" charset="0"/>
                        </a:rPr>
                        <m:t>PPD</m:t>
                      </m:r>
                    </m:oMath>
                  </m:oMathPara>
                </a14:m>
                <a:endParaRPr lang="en-GB" sz="1600" b="1"/>
              </a:p>
            </p:txBody>
          </p:sp>
        </mc:Choice>
        <mc:Fallback xmlns="">
          <p:sp>
            <p:nvSpPr>
              <p:cNvPr id="107" name="Content Placeholder 2">
                <a:extLst>
                  <a:ext uri="{FF2B5EF4-FFF2-40B4-BE49-F238E27FC236}">
                    <a16:creationId xmlns:a16="http://schemas.microsoft.com/office/drawing/2014/main" id="{1AA6679D-7E42-714F-35C1-FE78970C746E}"/>
                  </a:ext>
                </a:extLst>
              </p:cNvPr>
              <p:cNvSpPr txBox="1">
                <a:spLocks noRot="1" noChangeAspect="1" noMove="1" noResize="1" noEditPoints="1" noAdjustHandles="1" noChangeArrowheads="1" noChangeShapeType="1" noTextEdit="1"/>
              </p:cNvSpPr>
              <p:nvPr/>
            </p:nvSpPr>
            <p:spPr>
              <a:xfrm>
                <a:off x="10502175" y="3544392"/>
                <a:ext cx="1507842" cy="409086"/>
              </a:xfrm>
              <a:prstGeom prst="rect">
                <a:avLst/>
              </a:prstGeom>
              <a:blipFill>
                <a:blip r:embed="rId21"/>
                <a:stretch>
                  <a:fillRect l="-5042" t="-8824" r="-3361"/>
                </a:stretch>
              </a:blipFill>
            </p:spPr>
            <p:txBody>
              <a:bodyPr/>
              <a:lstStyle/>
              <a:p>
                <a:r>
                  <a:rPr lang="en-CH">
                    <a:noFill/>
                  </a:rPr>
                  <a:t> </a:t>
                </a:r>
              </a:p>
            </p:txBody>
          </p:sp>
        </mc:Fallback>
      </mc:AlternateContent>
    </p:spTree>
    <p:extLst>
      <p:ext uri="{BB962C8B-B14F-4D97-AF65-F5344CB8AC3E}">
        <p14:creationId xmlns:p14="http://schemas.microsoft.com/office/powerpoint/2010/main" val="76900990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6"/>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17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nodeType="clickEffect">
                                  <p:stCondLst>
                                    <p:cond delay="0"/>
                                  </p:stCondLst>
                                  <p:childTnLst>
                                    <p:animMotion origin="layout" path="M -4.16667E-6 0.00231 L 0.00092 0.24027 " pathEditMode="relative" rAng="0" ptsTypes="AA">
                                      <p:cBhvr>
                                        <p:cTn id="24" dur="1000" fill="hold"/>
                                        <p:tgtEl>
                                          <p:spTgt spid="89"/>
                                        </p:tgtEl>
                                        <p:attrNameLst>
                                          <p:attrName>ppt_x</p:attrName>
                                          <p:attrName>ppt_y</p:attrName>
                                        </p:attrNameLst>
                                      </p:cBhvr>
                                      <p:rCtr x="39" y="11898"/>
                                    </p:animMotion>
                                  </p:childTnLst>
                                </p:cTn>
                              </p:par>
                            </p:childTnLst>
                          </p:cTn>
                        </p:par>
                        <p:par>
                          <p:cTn id="25" fill="hold">
                            <p:stCondLst>
                              <p:cond delay="1000"/>
                            </p:stCondLst>
                            <p:childTnLst>
                              <p:par>
                                <p:cTn id="26" presetID="10" presetClass="exit" presetSubtype="0" fill="hold" nodeType="afterEffect">
                                  <p:stCondLst>
                                    <p:cond delay="0"/>
                                  </p:stCondLst>
                                  <p:childTnLst>
                                    <p:animEffect transition="out" filter="fade">
                                      <p:cBhvr>
                                        <p:cTn id="27" dur="200"/>
                                        <p:tgtEl>
                                          <p:spTgt spid="89"/>
                                        </p:tgtEl>
                                      </p:cBhvr>
                                    </p:animEffect>
                                    <p:set>
                                      <p:cBhvr>
                                        <p:cTn id="28" dur="1" fill="hold">
                                          <p:stCondLst>
                                            <p:cond delay="199"/>
                                          </p:stCondLst>
                                        </p:cTn>
                                        <p:tgtEl>
                                          <p:spTgt spid="89"/>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7"/>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104"/>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nodeType="afterEffect">
                                  <p:stCondLst>
                                    <p:cond delay="500"/>
                                  </p:stCondLst>
                                  <p:childTnLst>
                                    <p:set>
                                      <p:cBhvr>
                                        <p:cTn id="38" dur="1" fill="hold">
                                          <p:stCondLst>
                                            <p:cond delay="0"/>
                                          </p:stCondLst>
                                        </p:cTn>
                                        <p:tgtEl>
                                          <p:spTgt spid="112"/>
                                        </p:tgtEl>
                                        <p:attrNameLst>
                                          <p:attrName>style.visibility</p:attrName>
                                        </p:attrNameLst>
                                      </p:cBhvr>
                                      <p:to>
                                        <p:strVal val="visible"/>
                                      </p:to>
                                    </p:set>
                                  </p:childTnLst>
                                </p:cTn>
                              </p:par>
                              <p:par>
                                <p:cTn id="39" presetID="1" presetClass="entr" presetSubtype="0" fill="hold" grpId="1" nodeType="withEffect">
                                  <p:stCondLst>
                                    <p:cond delay="50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500"/>
                                  </p:stCondLst>
                                  <p:childTnLst>
                                    <p:set>
                                      <p:cBhvr>
                                        <p:cTn id="42" dur="1" fill="hold">
                                          <p:stCondLst>
                                            <p:cond delay="0"/>
                                          </p:stCondLst>
                                        </p:cTn>
                                        <p:tgtEl>
                                          <p:spTgt spid="115"/>
                                        </p:tgtEl>
                                        <p:attrNameLst>
                                          <p:attrName>style.visibility</p:attrName>
                                        </p:attrNameLst>
                                      </p:cBhvr>
                                      <p:to>
                                        <p:strVal val="visible"/>
                                      </p:to>
                                    </p:set>
                                  </p:childTnLst>
                                </p:cTn>
                              </p:par>
                            </p:childTnLst>
                          </p:cTn>
                        </p:par>
                        <p:par>
                          <p:cTn id="43" fill="hold">
                            <p:stCondLst>
                              <p:cond delay="500"/>
                            </p:stCondLst>
                            <p:childTnLst>
                              <p:par>
                                <p:cTn id="44" presetID="1" presetClass="entr" presetSubtype="0" fill="hold" grpId="1" nodeType="afterEffect">
                                  <p:stCondLst>
                                    <p:cond delay="1500"/>
                                  </p:stCondLst>
                                  <p:childTnLst>
                                    <p:set>
                                      <p:cBhvr>
                                        <p:cTn id="45" dur="1" fill="hold">
                                          <p:stCondLst>
                                            <p:cond delay="0"/>
                                          </p:stCondLst>
                                        </p:cTn>
                                        <p:tgtEl>
                                          <p:spTgt spid="107"/>
                                        </p:tgtEl>
                                        <p:attrNameLst>
                                          <p:attrName>style.visibility</p:attrName>
                                        </p:attrNameLst>
                                      </p:cBhvr>
                                      <p:to>
                                        <p:strVal val="visible"/>
                                      </p:to>
                                    </p:set>
                                  </p:childTnLst>
                                </p:cTn>
                              </p:par>
                            </p:childTnLst>
                          </p:cTn>
                        </p:par>
                        <p:par>
                          <p:cTn id="46" fill="hold">
                            <p:stCondLst>
                              <p:cond delay="2000"/>
                            </p:stCondLst>
                            <p:childTnLst>
                              <p:par>
                                <p:cTn id="47" presetID="1" presetClass="entr" presetSubtype="0" fill="hold" nodeType="afterEffect">
                                  <p:stCondLst>
                                    <p:cond delay="0"/>
                                  </p:stCondLst>
                                  <p:childTnLst>
                                    <p:set>
                                      <p:cBhvr>
                                        <p:cTn id="48" dur="1" fill="hold">
                                          <p:stCondLst>
                                            <p:cond delay="0"/>
                                          </p:stCondLst>
                                        </p:cTn>
                                        <p:tgtEl>
                                          <p:spTgt spid="11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175"/>
                                        </p:tgtEl>
                                        <p:attrNameLst>
                                          <p:attrName>style.visibility</p:attrName>
                                        </p:attrNameLst>
                                      </p:cBhvr>
                                      <p:to>
                                        <p:strVal val="hidden"/>
                                      </p:to>
                                    </p:set>
                                  </p:childTnLst>
                                </p:cTn>
                              </p:par>
                              <p:par>
                                <p:cTn id="61" presetID="1" presetClass="exit" presetSubtype="0" fill="hold" grpId="0" nodeType="withEffect">
                                  <p:stCondLst>
                                    <p:cond delay="0"/>
                                  </p:stCondLst>
                                  <p:childTnLst>
                                    <p:set>
                                      <p:cBhvr>
                                        <p:cTn id="62" dur="1" fill="hold">
                                          <p:stCondLst>
                                            <p:cond delay="0"/>
                                          </p:stCondLst>
                                        </p:cTn>
                                        <p:tgtEl>
                                          <p:spTgt spid="174"/>
                                        </p:tgtEl>
                                        <p:attrNameLst>
                                          <p:attrName>style.visibility</p:attrName>
                                        </p:attrNameLst>
                                      </p:cBhvr>
                                      <p:to>
                                        <p:strVal val="hidden"/>
                                      </p:to>
                                    </p:set>
                                  </p:childTnLst>
                                </p:cTn>
                              </p:par>
                              <p:par>
                                <p:cTn id="63" presetID="1" presetClass="exit" presetSubtype="0" fill="hold" grpId="2" nodeType="withEffect">
                                  <p:stCondLst>
                                    <p:cond delay="0"/>
                                  </p:stCondLst>
                                  <p:childTnLst>
                                    <p:set>
                                      <p:cBhvr>
                                        <p:cTn id="64" dur="1" fill="hold">
                                          <p:stCondLst>
                                            <p:cond delay="0"/>
                                          </p:stCondLst>
                                        </p:cTn>
                                        <p:tgtEl>
                                          <p:spTgt spid="17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P spid="174" grpId="0" animBg="1"/>
      <p:bldP spid="176" grpId="0" animBg="1"/>
      <p:bldP spid="176" grpId="1" animBg="1"/>
      <p:bldP spid="176" grpId="2" animBg="1"/>
      <p:bldP spid="115" grpId="0"/>
      <p:bldP spid="175" grpId="0" animBg="1"/>
      <p:bldP spid="175" grpId="1" animBg="1"/>
      <p:bldP spid="27" grpId="1"/>
      <p:bldP spid="104" grpId="0"/>
      <p:bldP spid="107"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4541E47-BDDD-91E1-A2E2-2B3C09F0F5F4}"/>
              </a:ext>
            </a:extLst>
          </p:cNvPr>
          <p:cNvSpPr>
            <a:spLocks noGrp="1"/>
          </p:cNvSpPr>
          <p:nvPr>
            <p:ph type="sldNum" sz="quarter" idx="12"/>
          </p:nvPr>
        </p:nvSpPr>
        <p:spPr/>
        <p:txBody>
          <a:bodyPr/>
          <a:lstStyle/>
          <a:p>
            <a:fld id="{5ACA52AF-F19D-405C-AD5F-7D94B96A5CC3}" type="slidenum">
              <a:rPr lang="de-CH" noProof="0" smtClean="0"/>
              <a:t>16</a:t>
            </a:fld>
            <a:endParaRPr lang="de-CH" noProof="0"/>
          </a:p>
        </p:txBody>
      </p:sp>
      <p:sp>
        <p:nvSpPr>
          <p:cNvPr id="7" name="Content Placeholder 2">
            <a:extLst>
              <a:ext uri="{FF2B5EF4-FFF2-40B4-BE49-F238E27FC236}">
                <a16:creationId xmlns:a16="http://schemas.microsoft.com/office/drawing/2014/main" id="{67826289-79F0-BA9F-71E0-2EA78DAAB2FA}"/>
              </a:ext>
            </a:extLst>
          </p:cNvPr>
          <p:cNvSpPr>
            <a:spLocks noGrp="1"/>
          </p:cNvSpPr>
          <p:nvPr>
            <p:ph idx="1"/>
          </p:nvPr>
        </p:nvSpPr>
        <p:spPr>
          <a:xfrm>
            <a:off x="731837" y="1412875"/>
            <a:ext cx="10990263" cy="4680000"/>
          </a:xfrm>
        </p:spPr>
        <p:txBody>
          <a:bodyPr/>
          <a:lstStyle/>
          <a:p>
            <a:pPr marL="0" indent="0">
              <a:buNone/>
            </a:pPr>
            <a:r>
              <a:rPr lang="en-GB"/>
              <a:t>Minimizing the </a:t>
            </a:r>
            <a:r>
              <a:rPr lang="en-GB" b="1"/>
              <a:t>Prior-Data Negative Log-Likelihood </a:t>
            </a:r>
            <a:r>
              <a:rPr lang="en-GB"/>
              <a:t>of the test points</a:t>
            </a:r>
            <a:br>
              <a:rPr lang="de-CH"/>
            </a:br>
            <a:endParaRPr lang="en-GB"/>
          </a:p>
          <a:p>
            <a:pPr marL="0" indent="0">
              <a:buNone/>
            </a:pPr>
            <a:br>
              <a:rPr lang="de-CH"/>
            </a:br>
            <a:endParaRPr lang="de-CH"/>
          </a:p>
          <a:p>
            <a:pPr marL="0" indent="0">
              <a:buNone/>
            </a:pPr>
            <a:br>
              <a:rPr lang="en-GB"/>
            </a:br>
            <a:r>
              <a:rPr lang="en-GB"/>
              <a:t>is equivalent to minimizing the </a:t>
            </a:r>
            <a:r>
              <a:rPr lang="en-GB" b="1"/>
              <a:t>expected cross entropy </a:t>
            </a:r>
            <a:r>
              <a:rPr lang="en-GB"/>
              <a:t>between the </a:t>
            </a:r>
            <a:r>
              <a:rPr lang="en-GB" b="1">
                <a:solidFill>
                  <a:srgbClr val="FB9D00"/>
                </a:solidFill>
              </a:rPr>
              <a:t>true </a:t>
            </a:r>
            <a:r>
              <a:rPr lang="en-GB"/>
              <a:t>and</a:t>
            </a:r>
            <a:r>
              <a:rPr lang="en-GB" b="1"/>
              <a:t> </a:t>
            </a:r>
            <a:r>
              <a:rPr lang="en-GB" b="1">
                <a:solidFill>
                  <a:srgbClr val="26D6FF"/>
                </a:solidFill>
              </a:rPr>
              <a:t>estimated PPD</a:t>
            </a:r>
            <a:br>
              <a:rPr lang="de-CH" b="1"/>
            </a:br>
            <a:endParaRPr lang="de-CH" b="1"/>
          </a:p>
          <a:p>
            <a:pPr marL="0" indent="0">
              <a:buNone/>
            </a:pPr>
            <a:endParaRPr lang="en-GB"/>
          </a:p>
          <a:p>
            <a:pPr marL="0" indent="0">
              <a:buNone/>
            </a:pPr>
            <a:br>
              <a:rPr lang="en-GB"/>
            </a:br>
            <a:endParaRPr lang="en-GB"/>
          </a:p>
          <a:p>
            <a:pPr marL="0" indent="0">
              <a:buNone/>
            </a:pPr>
            <a:r>
              <a:rPr lang="en-GB"/>
              <a:t>or minimizing the </a:t>
            </a:r>
            <a:r>
              <a:rPr lang="en-GB" b="1"/>
              <a:t>expected KL-divergence </a:t>
            </a:r>
            <a:r>
              <a:rPr lang="en-GB"/>
              <a:t>between the </a:t>
            </a:r>
            <a:r>
              <a:rPr lang="en-GB" b="1">
                <a:solidFill>
                  <a:srgbClr val="FB9D00"/>
                </a:solidFill>
              </a:rPr>
              <a:t>true </a:t>
            </a:r>
            <a:r>
              <a:rPr lang="en-GB"/>
              <a:t>and</a:t>
            </a:r>
            <a:r>
              <a:rPr lang="en-GB" b="1"/>
              <a:t> </a:t>
            </a:r>
            <a:r>
              <a:rPr lang="en-GB" b="1">
                <a:solidFill>
                  <a:srgbClr val="26D6FF"/>
                </a:solidFill>
              </a:rPr>
              <a:t>estimated PPD</a:t>
            </a:r>
            <a:endParaRPr lang="en-GB"/>
          </a:p>
          <a:p>
            <a:pPr marL="0" indent="0">
              <a:buNone/>
            </a:pPr>
            <a:endParaRPr lang="en-GB"/>
          </a:p>
          <a:p>
            <a:pPr marL="0" indent="0">
              <a:buNone/>
            </a:pPr>
            <a:endParaRPr lang="en-GB"/>
          </a:p>
        </p:txBody>
      </p:sp>
      <p:pic>
        <p:nvPicPr>
          <p:cNvPr id="5" name="Picture 4">
            <a:extLst>
              <a:ext uri="{FF2B5EF4-FFF2-40B4-BE49-F238E27FC236}">
                <a16:creationId xmlns:a16="http://schemas.microsoft.com/office/drawing/2014/main" id="{5A47C16A-5210-BCB4-D315-1B3E5CAC6124}"/>
              </a:ext>
            </a:extLst>
          </p:cNvPr>
          <p:cNvPicPr>
            <a:picLocks noChangeAspect="1"/>
          </p:cNvPicPr>
          <p:nvPr/>
        </p:nvPicPr>
        <p:blipFill>
          <a:blip r:embed="rId3"/>
          <a:stretch>
            <a:fillRect/>
          </a:stretch>
        </p:blipFill>
        <p:spPr>
          <a:xfrm>
            <a:off x="3070338" y="1872605"/>
            <a:ext cx="5306826" cy="560672"/>
          </a:xfrm>
          <a:prstGeom prst="rect">
            <a:avLst/>
          </a:prstGeom>
        </p:spPr>
      </p:pic>
      <p:sp>
        <p:nvSpPr>
          <p:cNvPr id="12" name="Footer Placeholder 4">
            <a:extLst>
              <a:ext uri="{FF2B5EF4-FFF2-40B4-BE49-F238E27FC236}">
                <a16:creationId xmlns:a16="http://schemas.microsoft.com/office/drawing/2014/main" id="{78E536AC-A913-0CF4-D7A5-A583120F3E60}"/>
              </a:ext>
            </a:extLst>
          </p:cNvPr>
          <p:cNvSpPr>
            <a:spLocks noGrp="1"/>
          </p:cNvSpPr>
          <p:nvPr>
            <p:ph type="ftr" sz="quarter" idx="11"/>
          </p:nvPr>
        </p:nvSpPr>
        <p:spPr>
          <a:xfrm>
            <a:off x="5723751" y="6522444"/>
            <a:ext cx="744495" cy="216000"/>
          </a:xfrm>
        </p:spPr>
        <p:txBody>
          <a:bodyPr/>
          <a:lstStyle/>
          <a:p>
            <a:pPr algn="ctr"/>
            <a:r>
              <a:rPr lang="de-DE" noProof="0"/>
              <a:t>Method</a:t>
            </a:r>
            <a:endParaRPr lang="de-CH" noProof="0"/>
          </a:p>
        </p:txBody>
      </p:sp>
      <p:pic>
        <p:nvPicPr>
          <p:cNvPr id="3" name="Picture 2">
            <a:extLst>
              <a:ext uri="{FF2B5EF4-FFF2-40B4-BE49-F238E27FC236}">
                <a16:creationId xmlns:a16="http://schemas.microsoft.com/office/drawing/2014/main" id="{CC9A4275-784C-C1E8-BF62-F87CAB97D092}"/>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3517899" y="3588728"/>
            <a:ext cx="5156200" cy="467870"/>
          </a:xfrm>
          <a:prstGeom prst="rect">
            <a:avLst/>
          </a:prstGeom>
        </p:spPr>
      </p:pic>
      <p:grpSp>
        <p:nvGrpSpPr>
          <p:cNvPr id="20" name="Group 19">
            <a:extLst>
              <a:ext uri="{FF2B5EF4-FFF2-40B4-BE49-F238E27FC236}">
                <a16:creationId xmlns:a16="http://schemas.microsoft.com/office/drawing/2014/main" id="{BBBBBCFA-3CD8-1DDE-444D-0EBD10132293}"/>
              </a:ext>
            </a:extLst>
          </p:cNvPr>
          <p:cNvGrpSpPr/>
          <p:nvPr/>
        </p:nvGrpSpPr>
        <p:grpSpPr>
          <a:xfrm>
            <a:off x="3517899" y="5212049"/>
            <a:ext cx="5929975" cy="594822"/>
            <a:chOff x="3517899" y="5068884"/>
            <a:chExt cx="5929975" cy="594822"/>
          </a:xfrm>
        </p:grpSpPr>
        <p:pic>
          <p:nvPicPr>
            <p:cNvPr id="10" name="Picture 9">
              <a:extLst>
                <a:ext uri="{FF2B5EF4-FFF2-40B4-BE49-F238E27FC236}">
                  <a16:creationId xmlns:a16="http://schemas.microsoft.com/office/drawing/2014/main" id="{0F461CFC-0B5A-618B-B823-815B00F00ACA}"/>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3517899" y="5195836"/>
              <a:ext cx="1757486" cy="467870"/>
            </a:xfrm>
            <a:prstGeom prst="rect">
              <a:avLst/>
            </a:prstGeom>
          </p:spPr>
        </p:pic>
        <p:pic>
          <p:nvPicPr>
            <p:cNvPr id="11" name="Picture 10">
              <a:extLst>
                <a:ext uri="{FF2B5EF4-FFF2-40B4-BE49-F238E27FC236}">
                  <a16:creationId xmlns:a16="http://schemas.microsoft.com/office/drawing/2014/main" id="{92D4B298-887E-6EF0-974A-8DCF87EC07E3}"/>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5275385" y="5068884"/>
              <a:ext cx="3511550" cy="465651"/>
            </a:xfrm>
            <a:prstGeom prst="rect">
              <a:avLst/>
            </a:prstGeom>
          </p:spPr>
        </p:pic>
        <p:pic>
          <p:nvPicPr>
            <p:cNvPr id="13" name="Picture 12">
              <a:extLst>
                <a:ext uri="{FF2B5EF4-FFF2-40B4-BE49-F238E27FC236}">
                  <a16:creationId xmlns:a16="http://schemas.microsoft.com/office/drawing/2014/main" id="{FBC8E46B-E460-3976-6178-E892D9F6B1E9}"/>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786935" y="5150865"/>
              <a:ext cx="660939" cy="403285"/>
            </a:xfrm>
            <a:prstGeom prst="rect">
              <a:avLst/>
            </a:prstGeom>
          </p:spPr>
        </p:pic>
      </p:grpSp>
      <p:sp>
        <p:nvSpPr>
          <p:cNvPr id="17" name="Google Shape;187;p21">
            <a:extLst>
              <a:ext uri="{FF2B5EF4-FFF2-40B4-BE49-F238E27FC236}">
                <a16:creationId xmlns:a16="http://schemas.microsoft.com/office/drawing/2014/main" id="{55290BAF-D5E3-AEE4-2BD4-E0E2E28D3478}"/>
              </a:ext>
            </a:extLst>
          </p:cNvPr>
          <p:cNvSpPr txBox="1"/>
          <p:nvPr/>
        </p:nvSpPr>
        <p:spPr>
          <a:xfrm>
            <a:off x="627922" y="576000"/>
            <a:ext cx="10832239" cy="513000"/>
          </a:xfrm>
          <a:prstGeom prst="rect">
            <a:avLst/>
          </a:prstGeom>
          <a:noFill/>
          <a:ln>
            <a:noFill/>
          </a:ln>
        </p:spPr>
        <p:txBody>
          <a:bodyPr spcFirstLastPara="1" wrap="square" lIns="118900" tIns="118900" rIns="118900" bIns="118900" anchor="b" anchorCtr="0">
            <a:noAutofit/>
          </a:bodyPr>
          <a:lstStyle/>
          <a:p>
            <a:r>
              <a:rPr lang="en-GB" sz="3200"/>
              <a:t>Objective</a:t>
            </a:r>
            <a:endParaRPr lang="en-CH" sz="3200"/>
          </a:p>
        </p:txBody>
      </p:sp>
      <p:sp>
        <p:nvSpPr>
          <p:cNvPr id="2" name="Rectangle 1">
            <a:extLst>
              <a:ext uri="{FF2B5EF4-FFF2-40B4-BE49-F238E27FC236}">
                <a16:creationId xmlns:a16="http://schemas.microsoft.com/office/drawing/2014/main" id="{4B6E29F2-4404-BC71-59DC-F1100C600563}"/>
              </a:ext>
            </a:extLst>
          </p:cNvPr>
          <p:cNvSpPr/>
          <p:nvPr/>
        </p:nvSpPr>
        <p:spPr>
          <a:xfrm>
            <a:off x="410165" y="2893007"/>
            <a:ext cx="11049996" cy="1531717"/>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 name="Rectangle 3">
            <a:extLst>
              <a:ext uri="{FF2B5EF4-FFF2-40B4-BE49-F238E27FC236}">
                <a16:creationId xmlns:a16="http://schemas.microsoft.com/office/drawing/2014/main" id="{30775F1F-6992-9323-8396-69FE2C9FD055}"/>
              </a:ext>
            </a:extLst>
          </p:cNvPr>
          <p:cNvSpPr/>
          <p:nvPr/>
        </p:nvSpPr>
        <p:spPr>
          <a:xfrm>
            <a:off x="410165" y="4748599"/>
            <a:ext cx="11267751" cy="1278764"/>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3729313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620278B-D74F-421E-A3BD-EC66D58377A7}"/>
              </a:ext>
            </a:extLst>
          </p:cNvPr>
          <p:cNvSpPr>
            <a:spLocks noGrp="1"/>
          </p:cNvSpPr>
          <p:nvPr>
            <p:ph type="sldNum" sz="quarter" idx="12"/>
          </p:nvPr>
        </p:nvSpPr>
        <p:spPr>
          <a:xfrm>
            <a:off x="11137585" y="6522444"/>
            <a:ext cx="322577" cy="216000"/>
          </a:xfrm>
        </p:spPr>
        <p:txBody>
          <a:bodyPr anchor="ctr">
            <a:normAutofit/>
          </a:bodyPr>
          <a:lstStyle/>
          <a:p>
            <a:pPr>
              <a:spcAft>
                <a:spcPts val="600"/>
              </a:spcAft>
            </a:pPr>
            <a:fld id="{5ACA52AF-F19D-405C-AD5F-7D94B96A5CC3}" type="slidenum">
              <a:rPr lang="de-CH" noProof="0" smtClean="0"/>
              <a:pPr>
                <a:spcAft>
                  <a:spcPts val="600"/>
                </a:spcAft>
              </a:pPr>
              <a:t>17</a:t>
            </a:fld>
            <a:endParaRPr lang="de-CH" noProof="0"/>
          </a:p>
        </p:txBody>
      </p:sp>
      <p:sp>
        <p:nvSpPr>
          <p:cNvPr id="9" name="Footer Placeholder 4">
            <a:extLst>
              <a:ext uri="{FF2B5EF4-FFF2-40B4-BE49-F238E27FC236}">
                <a16:creationId xmlns:a16="http://schemas.microsoft.com/office/drawing/2014/main" id="{718EC73F-59D9-EEE0-18F5-12F67C8EC46E}"/>
              </a:ext>
            </a:extLst>
          </p:cNvPr>
          <p:cNvSpPr>
            <a:spLocks noGrp="1"/>
          </p:cNvSpPr>
          <p:nvPr>
            <p:ph type="ftr" sz="quarter" idx="11"/>
          </p:nvPr>
        </p:nvSpPr>
        <p:spPr>
          <a:xfrm>
            <a:off x="5723751" y="6522444"/>
            <a:ext cx="744495" cy="216000"/>
          </a:xfrm>
        </p:spPr>
        <p:txBody>
          <a:bodyPr/>
          <a:lstStyle/>
          <a:p>
            <a:pPr algn="ctr"/>
            <a:r>
              <a:rPr lang="de-DE" noProof="0"/>
              <a:t>Method</a:t>
            </a:r>
            <a:endParaRPr lang="de-CH" noProof="0"/>
          </a:p>
        </p:txBody>
      </p:sp>
      <p:sp>
        <p:nvSpPr>
          <p:cNvPr id="13" name="Titel 1">
            <a:extLst>
              <a:ext uri="{FF2B5EF4-FFF2-40B4-BE49-F238E27FC236}">
                <a16:creationId xmlns:a16="http://schemas.microsoft.com/office/drawing/2014/main" id="{9F8A2AD5-2248-BCEC-382A-8511CE96020E}"/>
              </a:ext>
            </a:extLst>
          </p:cNvPr>
          <p:cNvSpPr txBox="1">
            <a:spLocks/>
          </p:cNvSpPr>
          <p:nvPr/>
        </p:nvSpPr>
        <p:spPr>
          <a:xfrm>
            <a:off x="8184097" y="1775805"/>
            <a:ext cx="3452974" cy="62239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GB" sz="1800" b="1"/>
              <a:t>Variable train / test splits</a:t>
            </a:r>
            <a:endParaRPr lang="de-CH" sz="1800" b="1"/>
          </a:p>
        </p:txBody>
      </p:sp>
      <p:sp>
        <p:nvSpPr>
          <p:cNvPr id="51" name="Titel 1">
            <a:extLst>
              <a:ext uri="{FF2B5EF4-FFF2-40B4-BE49-F238E27FC236}">
                <a16:creationId xmlns:a16="http://schemas.microsoft.com/office/drawing/2014/main" id="{813C3E8E-0E88-F039-4536-D6FD3F36DD20}"/>
              </a:ext>
            </a:extLst>
          </p:cNvPr>
          <p:cNvSpPr txBox="1">
            <a:spLocks/>
          </p:cNvSpPr>
          <p:nvPr/>
        </p:nvSpPr>
        <p:spPr>
          <a:xfrm>
            <a:off x="271405" y="1410375"/>
            <a:ext cx="3634901" cy="133345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lgn="ctr">
              <a:lnSpc>
                <a:spcPct val="200000"/>
              </a:lnSpc>
            </a:pPr>
            <a:r>
              <a:rPr lang="en-GB" sz="1800" b="1"/>
              <a:t>No positional encodings</a:t>
            </a:r>
          </a:p>
          <a:p>
            <a:pPr algn="ctr">
              <a:lnSpc>
                <a:spcPct val="100000"/>
              </a:lnSpc>
            </a:pPr>
            <a:r>
              <a:rPr lang="en-GB" sz="1800">
                <a:sym typeface="Wingdings" pitchFamily="2" charset="2"/>
              </a:rPr>
              <a:t></a:t>
            </a:r>
            <a:r>
              <a:rPr lang="en-GB" sz="1800"/>
              <a:t> invariant to permutations</a:t>
            </a:r>
            <a:endParaRPr lang="de-CH" sz="1800"/>
          </a:p>
        </p:txBody>
      </p:sp>
      <p:sp>
        <p:nvSpPr>
          <p:cNvPr id="62" name="Titel 1">
            <a:extLst>
              <a:ext uri="{FF2B5EF4-FFF2-40B4-BE49-F238E27FC236}">
                <a16:creationId xmlns:a16="http://schemas.microsoft.com/office/drawing/2014/main" id="{38239DB7-FC0A-687D-E9E4-7A3ADF393B74}"/>
              </a:ext>
            </a:extLst>
          </p:cNvPr>
          <p:cNvSpPr txBox="1">
            <a:spLocks/>
          </p:cNvSpPr>
          <p:nvPr/>
        </p:nvSpPr>
        <p:spPr>
          <a:xfrm>
            <a:off x="8718847" y="625769"/>
            <a:ext cx="2383473" cy="747227"/>
          </a:xfrm>
          <a:prstGeom prst="rect">
            <a:avLst/>
          </a:prstGeom>
          <a:ln>
            <a:solidFill>
              <a:schemeClr val="tx1"/>
            </a:solidFill>
          </a:ln>
        </p:spPr>
        <p:txBody>
          <a:bodyPr vert="horz" lIns="0" tIns="0" rIns="0" bIns="0" rtlCol="0" anchor="t" anchorCtr="0">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CH">
                <a:solidFill>
                  <a:srgbClr val="5787C0"/>
                </a:solidFill>
              </a:rPr>
              <a:t> ●</a:t>
            </a:r>
            <a:r>
              <a:rPr lang="en-GB" sz="1800">
                <a:solidFill>
                  <a:srgbClr val="5787C0"/>
                </a:solidFill>
              </a:rPr>
              <a:t> 	</a:t>
            </a:r>
            <a:r>
              <a:rPr lang="en-GB" sz="1800">
                <a:solidFill>
                  <a:schemeClr val="accent1">
                    <a:lumMod val="60000"/>
                    <a:lumOff val="40000"/>
                  </a:schemeClr>
                </a:solidFill>
              </a:rPr>
              <a:t>Training data</a:t>
            </a:r>
          </a:p>
          <a:p>
            <a:r>
              <a:rPr lang="en-CH">
                <a:solidFill>
                  <a:srgbClr val="FC6B65"/>
                </a:solidFill>
              </a:rPr>
              <a:t> ●	</a:t>
            </a:r>
            <a:r>
              <a:rPr lang="en-GB" sz="1800">
                <a:solidFill>
                  <a:srgbClr val="FC6B65"/>
                </a:solidFill>
              </a:rPr>
              <a:t>Test data</a:t>
            </a:r>
          </a:p>
          <a:p>
            <a:endParaRPr lang="de-CH" sz="1800"/>
          </a:p>
        </p:txBody>
      </p:sp>
      <p:grpSp>
        <p:nvGrpSpPr>
          <p:cNvPr id="87" name="Group 86">
            <a:extLst>
              <a:ext uri="{FF2B5EF4-FFF2-40B4-BE49-F238E27FC236}">
                <a16:creationId xmlns:a16="http://schemas.microsoft.com/office/drawing/2014/main" id="{42B40A14-7954-AC3A-418B-2D93EFBCE9A9}"/>
              </a:ext>
            </a:extLst>
          </p:cNvPr>
          <p:cNvGrpSpPr/>
          <p:nvPr/>
        </p:nvGrpSpPr>
        <p:grpSpPr>
          <a:xfrm>
            <a:off x="1188640" y="3065208"/>
            <a:ext cx="2026956" cy="2966420"/>
            <a:chOff x="892279" y="2761388"/>
            <a:chExt cx="2026956" cy="2966420"/>
          </a:xfrm>
        </p:grpSpPr>
        <p:grpSp>
          <p:nvGrpSpPr>
            <p:cNvPr id="60" name="Group 59">
              <a:extLst>
                <a:ext uri="{FF2B5EF4-FFF2-40B4-BE49-F238E27FC236}">
                  <a16:creationId xmlns:a16="http://schemas.microsoft.com/office/drawing/2014/main" id="{CAD78B2B-7510-5497-AA2C-E7454216FEFE}"/>
                </a:ext>
              </a:extLst>
            </p:cNvPr>
            <p:cNvGrpSpPr/>
            <p:nvPr/>
          </p:nvGrpSpPr>
          <p:grpSpPr>
            <a:xfrm>
              <a:off x="892279" y="2761388"/>
              <a:ext cx="2026956" cy="2966420"/>
              <a:chOff x="546018" y="2798015"/>
              <a:chExt cx="2026956" cy="2966420"/>
            </a:xfrm>
          </p:grpSpPr>
          <p:pic>
            <p:nvPicPr>
              <p:cNvPr id="52" name="Picture 51">
                <a:extLst>
                  <a:ext uri="{FF2B5EF4-FFF2-40B4-BE49-F238E27FC236}">
                    <a16:creationId xmlns:a16="http://schemas.microsoft.com/office/drawing/2014/main" id="{B0702B4D-66E8-D3E5-9420-9D85839D3F1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6018" y="2798015"/>
                <a:ext cx="1885675" cy="2966420"/>
              </a:xfrm>
              <a:prstGeom prst="rect">
                <a:avLst/>
              </a:prstGeom>
            </p:spPr>
          </p:pic>
          <p:sp>
            <p:nvSpPr>
              <p:cNvPr id="53" name="Arc 52">
                <a:extLst>
                  <a:ext uri="{FF2B5EF4-FFF2-40B4-BE49-F238E27FC236}">
                    <a16:creationId xmlns:a16="http://schemas.microsoft.com/office/drawing/2014/main" id="{37F7F12A-4118-07DC-3657-3AC7EDFC6126}"/>
                  </a:ext>
                </a:extLst>
              </p:cNvPr>
              <p:cNvSpPr/>
              <p:nvPr/>
            </p:nvSpPr>
            <p:spPr>
              <a:xfrm rot="2752131">
                <a:off x="1861562" y="3228804"/>
                <a:ext cx="615772" cy="617051"/>
              </a:xfrm>
              <a:prstGeom prst="arc">
                <a:avLst>
                  <a:gd name="adj1" fmla="val 16117028"/>
                  <a:gd name="adj2" fmla="val 0"/>
                </a:avLst>
              </a:prstGeom>
              <a:ln w="127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sp>
            <p:nvSpPr>
              <p:cNvPr id="54" name="Arc 53">
                <a:extLst>
                  <a:ext uri="{FF2B5EF4-FFF2-40B4-BE49-F238E27FC236}">
                    <a16:creationId xmlns:a16="http://schemas.microsoft.com/office/drawing/2014/main" id="{71630948-CEE2-8D50-4261-AB4671FC6CE0}"/>
                  </a:ext>
                </a:extLst>
              </p:cNvPr>
              <p:cNvSpPr/>
              <p:nvPr/>
            </p:nvSpPr>
            <p:spPr>
              <a:xfrm rot="2752131">
                <a:off x="1141534" y="4041731"/>
                <a:ext cx="1441824" cy="1421056"/>
              </a:xfrm>
              <a:prstGeom prst="arc">
                <a:avLst>
                  <a:gd name="adj1" fmla="val 16160413"/>
                  <a:gd name="adj2" fmla="val 0"/>
                </a:avLst>
              </a:prstGeom>
              <a:ln w="127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sp>
            <p:nvSpPr>
              <p:cNvPr id="55" name="Arc 54">
                <a:extLst>
                  <a:ext uri="{FF2B5EF4-FFF2-40B4-BE49-F238E27FC236}">
                    <a16:creationId xmlns:a16="http://schemas.microsoft.com/office/drawing/2014/main" id="{AEC619B0-153A-0317-0BFD-80DB1343C768}"/>
                  </a:ext>
                </a:extLst>
              </p:cNvPr>
              <p:cNvSpPr/>
              <p:nvPr/>
            </p:nvSpPr>
            <p:spPr>
              <a:xfrm rot="2752131">
                <a:off x="1141533" y="3717881"/>
                <a:ext cx="1441824" cy="1421056"/>
              </a:xfrm>
              <a:prstGeom prst="arc">
                <a:avLst>
                  <a:gd name="adj1" fmla="val 16160413"/>
                  <a:gd name="adj2" fmla="val 0"/>
                </a:avLst>
              </a:prstGeom>
              <a:ln w="127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sp>
            <p:nvSpPr>
              <p:cNvPr id="56" name="Arc 55">
                <a:extLst>
                  <a:ext uri="{FF2B5EF4-FFF2-40B4-BE49-F238E27FC236}">
                    <a16:creationId xmlns:a16="http://schemas.microsoft.com/office/drawing/2014/main" id="{9913158D-C9E0-4F84-6BB5-66D597E0AF5B}"/>
                  </a:ext>
                </a:extLst>
              </p:cNvPr>
              <p:cNvSpPr/>
              <p:nvPr/>
            </p:nvSpPr>
            <p:spPr>
              <a:xfrm rot="2752131">
                <a:off x="1392282" y="4514051"/>
                <a:ext cx="1164863" cy="1167283"/>
              </a:xfrm>
              <a:prstGeom prst="arc">
                <a:avLst>
                  <a:gd name="adj1" fmla="val 16117028"/>
                  <a:gd name="adj2" fmla="val 0"/>
                </a:avLst>
              </a:prstGeom>
              <a:ln w="127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grpSp>
        <p:sp>
          <p:nvSpPr>
            <p:cNvPr id="63" name="Content Placeholder 2">
              <a:extLst>
                <a:ext uri="{FF2B5EF4-FFF2-40B4-BE49-F238E27FC236}">
                  <a16:creationId xmlns:a16="http://schemas.microsoft.com/office/drawing/2014/main" id="{FA3522C9-722A-1340-C55B-99048A6D328C}"/>
                </a:ext>
              </a:extLst>
            </p:cNvPr>
            <p:cNvSpPr txBox="1">
              <a:spLocks/>
            </p:cNvSpPr>
            <p:nvPr/>
          </p:nvSpPr>
          <p:spPr>
            <a:xfrm>
              <a:off x="1373688" y="2907484"/>
              <a:ext cx="1308014" cy="381816"/>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a:ea typeface="Cambria Math" panose="02040503050406030204" pitchFamily="18" charset="0"/>
                </a:rPr>
                <a:t>x           y	</a:t>
              </a:r>
            </a:p>
          </p:txBody>
        </p:sp>
      </p:grpSp>
      <p:grpSp>
        <p:nvGrpSpPr>
          <p:cNvPr id="88" name="Group 87">
            <a:extLst>
              <a:ext uri="{FF2B5EF4-FFF2-40B4-BE49-F238E27FC236}">
                <a16:creationId xmlns:a16="http://schemas.microsoft.com/office/drawing/2014/main" id="{2FB687AE-16F6-DC62-4F2C-E346BDF9D145}"/>
              </a:ext>
            </a:extLst>
          </p:cNvPr>
          <p:cNvGrpSpPr/>
          <p:nvPr/>
        </p:nvGrpSpPr>
        <p:grpSpPr>
          <a:xfrm>
            <a:off x="8044090" y="2877876"/>
            <a:ext cx="3192083" cy="1839511"/>
            <a:chOff x="7644642" y="2880886"/>
            <a:chExt cx="3815520" cy="2056479"/>
          </a:xfrm>
        </p:grpSpPr>
        <p:pic>
          <p:nvPicPr>
            <p:cNvPr id="22" name="Picture 21">
              <a:extLst>
                <a:ext uri="{FF2B5EF4-FFF2-40B4-BE49-F238E27FC236}">
                  <a16:creationId xmlns:a16="http://schemas.microsoft.com/office/drawing/2014/main" id="{B6C7665E-E031-358D-6DE4-6B10A1CF7799}"/>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7644642" y="2880886"/>
              <a:ext cx="3815520" cy="2056479"/>
            </a:xfrm>
            <a:prstGeom prst="rect">
              <a:avLst/>
            </a:prstGeom>
          </p:spPr>
        </p:pic>
        <p:sp>
          <p:nvSpPr>
            <p:cNvPr id="64" name="Content Placeholder 2">
              <a:extLst>
                <a:ext uri="{FF2B5EF4-FFF2-40B4-BE49-F238E27FC236}">
                  <a16:creationId xmlns:a16="http://schemas.microsoft.com/office/drawing/2014/main" id="{8A7FC6E1-6C48-640F-2944-0037E067A712}"/>
                </a:ext>
              </a:extLst>
            </p:cNvPr>
            <p:cNvSpPr txBox="1">
              <a:spLocks/>
            </p:cNvSpPr>
            <p:nvPr/>
          </p:nvSpPr>
          <p:spPr>
            <a:xfrm>
              <a:off x="7941269" y="2996515"/>
              <a:ext cx="843905" cy="178760"/>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400">
                  <a:ea typeface="Cambria Math" panose="02040503050406030204" pitchFamily="18" charset="0"/>
                </a:rPr>
                <a:t>x       y	</a:t>
              </a:r>
            </a:p>
          </p:txBody>
        </p:sp>
        <p:sp>
          <p:nvSpPr>
            <p:cNvPr id="65" name="Content Placeholder 2">
              <a:extLst>
                <a:ext uri="{FF2B5EF4-FFF2-40B4-BE49-F238E27FC236}">
                  <a16:creationId xmlns:a16="http://schemas.microsoft.com/office/drawing/2014/main" id="{8C35516A-7A2B-538A-9013-135BF201B7CE}"/>
                </a:ext>
              </a:extLst>
            </p:cNvPr>
            <p:cNvSpPr txBox="1">
              <a:spLocks/>
            </p:cNvSpPr>
            <p:nvPr/>
          </p:nvSpPr>
          <p:spPr>
            <a:xfrm>
              <a:off x="9300487" y="3003393"/>
              <a:ext cx="843905" cy="178760"/>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400">
                  <a:ea typeface="Cambria Math" panose="02040503050406030204" pitchFamily="18" charset="0"/>
                </a:rPr>
                <a:t>x      y	</a:t>
              </a:r>
            </a:p>
          </p:txBody>
        </p:sp>
        <p:sp>
          <p:nvSpPr>
            <p:cNvPr id="66" name="Content Placeholder 2">
              <a:extLst>
                <a:ext uri="{FF2B5EF4-FFF2-40B4-BE49-F238E27FC236}">
                  <a16:creationId xmlns:a16="http://schemas.microsoft.com/office/drawing/2014/main" id="{D8E4CF14-F305-8582-7E6E-20AD9759FE6C}"/>
                </a:ext>
              </a:extLst>
            </p:cNvPr>
            <p:cNvSpPr txBox="1">
              <a:spLocks/>
            </p:cNvSpPr>
            <p:nvPr/>
          </p:nvSpPr>
          <p:spPr>
            <a:xfrm>
              <a:off x="10564493" y="3005712"/>
              <a:ext cx="843905" cy="178760"/>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400">
                  <a:ea typeface="Cambria Math" panose="02040503050406030204" pitchFamily="18" charset="0"/>
                </a:rPr>
                <a:t>x      y	</a:t>
              </a:r>
            </a:p>
          </p:txBody>
        </p:sp>
      </p:grpSp>
      <p:grpSp>
        <p:nvGrpSpPr>
          <p:cNvPr id="2" name="Group 1">
            <a:extLst>
              <a:ext uri="{FF2B5EF4-FFF2-40B4-BE49-F238E27FC236}">
                <a16:creationId xmlns:a16="http://schemas.microsoft.com/office/drawing/2014/main" id="{89184054-4DF7-6B4A-AB02-9ACD61EF274D}"/>
              </a:ext>
            </a:extLst>
          </p:cNvPr>
          <p:cNvGrpSpPr/>
          <p:nvPr/>
        </p:nvGrpSpPr>
        <p:grpSpPr>
          <a:xfrm>
            <a:off x="3973198" y="2089089"/>
            <a:ext cx="2979903" cy="3172169"/>
            <a:chOff x="3973198" y="2089089"/>
            <a:chExt cx="2979903" cy="3172169"/>
          </a:xfrm>
        </p:grpSpPr>
        <p:sp>
          <p:nvSpPr>
            <p:cNvPr id="23" name="Titel 1">
              <a:extLst>
                <a:ext uri="{FF2B5EF4-FFF2-40B4-BE49-F238E27FC236}">
                  <a16:creationId xmlns:a16="http://schemas.microsoft.com/office/drawing/2014/main" id="{502D3A64-6FED-7CA5-2A99-2BC97A19A6C1}"/>
                </a:ext>
              </a:extLst>
            </p:cNvPr>
            <p:cNvSpPr txBox="1">
              <a:spLocks/>
            </p:cNvSpPr>
            <p:nvPr/>
          </p:nvSpPr>
          <p:spPr>
            <a:xfrm>
              <a:off x="3973198" y="2089089"/>
              <a:ext cx="2979903" cy="31348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n-GB" sz="1800" b="1"/>
                <a:t>Attention mask</a:t>
              </a:r>
              <a:endParaRPr lang="de-CH" sz="1800" b="1"/>
            </a:p>
          </p:txBody>
        </p:sp>
        <p:grpSp>
          <p:nvGrpSpPr>
            <p:cNvPr id="84" name="Group 83">
              <a:extLst>
                <a:ext uri="{FF2B5EF4-FFF2-40B4-BE49-F238E27FC236}">
                  <a16:creationId xmlns:a16="http://schemas.microsoft.com/office/drawing/2014/main" id="{33288AB7-B02B-790E-EB67-AB22CC391996}"/>
                </a:ext>
              </a:extLst>
            </p:cNvPr>
            <p:cNvGrpSpPr/>
            <p:nvPr/>
          </p:nvGrpSpPr>
          <p:grpSpPr>
            <a:xfrm>
              <a:off x="6213837" y="3527512"/>
              <a:ext cx="729480" cy="1733746"/>
              <a:chOff x="6562466" y="3553996"/>
              <a:chExt cx="729480" cy="1733746"/>
            </a:xfrm>
          </p:grpSpPr>
          <p:sp>
            <p:nvSpPr>
              <p:cNvPr id="43" name="Arc 42">
                <a:extLst>
                  <a:ext uri="{FF2B5EF4-FFF2-40B4-BE49-F238E27FC236}">
                    <a16:creationId xmlns:a16="http://schemas.microsoft.com/office/drawing/2014/main" id="{45BB7988-89A8-8C59-9723-619D28A3FCDB}"/>
                  </a:ext>
                </a:extLst>
              </p:cNvPr>
              <p:cNvSpPr/>
              <p:nvPr/>
            </p:nvSpPr>
            <p:spPr>
              <a:xfrm rot="603947">
                <a:off x="6787540" y="4108679"/>
                <a:ext cx="403718" cy="923424"/>
              </a:xfrm>
              <a:prstGeom prst="arc">
                <a:avLst>
                  <a:gd name="adj1" fmla="val 16041426"/>
                  <a:gd name="adj2" fmla="val 2411917"/>
                </a:avLst>
              </a:prstGeom>
              <a:ln w="127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sp>
            <p:nvSpPr>
              <p:cNvPr id="44" name="Arc 43">
                <a:extLst>
                  <a:ext uri="{FF2B5EF4-FFF2-40B4-BE49-F238E27FC236}">
                    <a16:creationId xmlns:a16="http://schemas.microsoft.com/office/drawing/2014/main" id="{3EC257FE-BD37-D54D-9BCC-E2251BB200EE}"/>
                  </a:ext>
                </a:extLst>
              </p:cNvPr>
              <p:cNvSpPr/>
              <p:nvPr/>
            </p:nvSpPr>
            <p:spPr>
              <a:xfrm rot="761751">
                <a:off x="6562466" y="3553996"/>
                <a:ext cx="729480" cy="1733746"/>
              </a:xfrm>
              <a:prstGeom prst="arc">
                <a:avLst>
                  <a:gd name="adj1" fmla="val 16041426"/>
                  <a:gd name="adj2" fmla="val 2411917"/>
                </a:avLst>
              </a:prstGeom>
              <a:ln w="127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sp>
            <p:nvSpPr>
              <p:cNvPr id="45" name="Arc 44">
                <a:extLst>
                  <a:ext uri="{FF2B5EF4-FFF2-40B4-BE49-F238E27FC236}">
                    <a16:creationId xmlns:a16="http://schemas.microsoft.com/office/drawing/2014/main" id="{058A0463-7DA0-5B11-ADE5-91379B4DB274}"/>
                  </a:ext>
                </a:extLst>
              </p:cNvPr>
              <p:cNvSpPr/>
              <p:nvPr/>
            </p:nvSpPr>
            <p:spPr>
              <a:xfrm rot="778549">
                <a:off x="6661405" y="3831603"/>
                <a:ext cx="592483" cy="1278019"/>
              </a:xfrm>
              <a:prstGeom prst="arc">
                <a:avLst>
                  <a:gd name="adj1" fmla="val 16041426"/>
                  <a:gd name="adj2" fmla="val 2411917"/>
                </a:avLst>
              </a:prstGeom>
              <a:ln w="127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grpSp>
        <p:pic>
          <p:nvPicPr>
            <p:cNvPr id="68" name="Picture 67">
              <a:extLst>
                <a:ext uri="{FF2B5EF4-FFF2-40B4-BE49-F238E27FC236}">
                  <a16:creationId xmlns:a16="http://schemas.microsoft.com/office/drawing/2014/main" id="{789C6615-951E-159A-634A-47BBDE5083B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544871" y="2927745"/>
              <a:ext cx="1873420" cy="1953825"/>
            </a:xfrm>
            <a:prstGeom prst="rect">
              <a:avLst/>
            </a:prstGeom>
          </p:spPr>
        </p:pic>
        <p:sp>
          <p:nvSpPr>
            <p:cNvPr id="75" name="Content Placeholder 2">
              <a:extLst>
                <a:ext uri="{FF2B5EF4-FFF2-40B4-BE49-F238E27FC236}">
                  <a16:creationId xmlns:a16="http://schemas.microsoft.com/office/drawing/2014/main" id="{7097467D-667D-E741-F8C0-41D6C439A87F}"/>
                </a:ext>
              </a:extLst>
            </p:cNvPr>
            <p:cNvSpPr txBox="1">
              <a:spLocks/>
            </p:cNvSpPr>
            <p:nvPr/>
          </p:nvSpPr>
          <p:spPr>
            <a:xfrm>
              <a:off x="4985718" y="3048178"/>
              <a:ext cx="1308014" cy="381816"/>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a:ea typeface="Cambria Math" panose="02040503050406030204" pitchFamily="18" charset="0"/>
                </a:rPr>
                <a:t>x            y	</a:t>
              </a:r>
            </a:p>
          </p:txBody>
        </p:sp>
        <p:grpSp>
          <p:nvGrpSpPr>
            <p:cNvPr id="85" name="Group 84">
              <a:extLst>
                <a:ext uri="{FF2B5EF4-FFF2-40B4-BE49-F238E27FC236}">
                  <a16:creationId xmlns:a16="http://schemas.microsoft.com/office/drawing/2014/main" id="{9CA84988-A229-EABD-3BBE-E2E538316C9F}"/>
                </a:ext>
              </a:extLst>
            </p:cNvPr>
            <p:cNvGrpSpPr/>
            <p:nvPr/>
          </p:nvGrpSpPr>
          <p:grpSpPr>
            <a:xfrm>
              <a:off x="4268706" y="3297572"/>
              <a:ext cx="934451" cy="1000122"/>
              <a:chOff x="3404207" y="3301062"/>
              <a:chExt cx="934451" cy="1000122"/>
            </a:xfrm>
          </p:grpSpPr>
          <p:sp>
            <p:nvSpPr>
              <p:cNvPr id="42" name="Arc 41">
                <a:extLst>
                  <a:ext uri="{FF2B5EF4-FFF2-40B4-BE49-F238E27FC236}">
                    <a16:creationId xmlns:a16="http://schemas.microsoft.com/office/drawing/2014/main" id="{7A310F82-86B8-D2E4-971C-3A80C3FB6DE1}"/>
                  </a:ext>
                </a:extLst>
              </p:cNvPr>
              <p:cNvSpPr/>
              <p:nvPr/>
            </p:nvSpPr>
            <p:spPr>
              <a:xfrm rot="18847869" flipH="1">
                <a:off x="3371372" y="3333897"/>
                <a:ext cx="1000122" cy="934451"/>
              </a:xfrm>
              <a:prstGeom prst="arc">
                <a:avLst>
                  <a:gd name="adj1" fmla="val 16160413"/>
                  <a:gd name="adj2" fmla="val 0"/>
                </a:avLst>
              </a:prstGeom>
              <a:ln w="12700">
                <a:solidFill>
                  <a:srgbClr val="215CA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sp>
            <p:nvSpPr>
              <p:cNvPr id="77" name="Arc 76">
                <a:extLst>
                  <a:ext uri="{FF2B5EF4-FFF2-40B4-BE49-F238E27FC236}">
                    <a16:creationId xmlns:a16="http://schemas.microsoft.com/office/drawing/2014/main" id="{86753D38-DE9D-40D4-F249-33F710A350DB}"/>
                  </a:ext>
                </a:extLst>
              </p:cNvPr>
              <p:cNvSpPr/>
              <p:nvPr/>
            </p:nvSpPr>
            <p:spPr>
              <a:xfrm rot="18847869" flipH="1">
                <a:off x="3576697" y="3786392"/>
                <a:ext cx="443875" cy="444796"/>
              </a:xfrm>
              <a:prstGeom prst="arc">
                <a:avLst>
                  <a:gd name="adj1" fmla="val 16117028"/>
                  <a:gd name="adj2" fmla="val 0"/>
                </a:avLst>
              </a:prstGeom>
              <a:ln w="12700">
                <a:solidFill>
                  <a:srgbClr val="215CA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sp>
            <p:nvSpPr>
              <p:cNvPr id="78" name="Arc 77">
                <a:extLst>
                  <a:ext uri="{FF2B5EF4-FFF2-40B4-BE49-F238E27FC236}">
                    <a16:creationId xmlns:a16="http://schemas.microsoft.com/office/drawing/2014/main" id="{6F642F83-BFDC-118E-2893-1E571754F124}"/>
                  </a:ext>
                </a:extLst>
              </p:cNvPr>
              <p:cNvSpPr/>
              <p:nvPr/>
            </p:nvSpPr>
            <p:spPr>
              <a:xfrm rot="18847869" flipH="1">
                <a:off x="3585189" y="3391061"/>
                <a:ext cx="443875" cy="444796"/>
              </a:xfrm>
              <a:prstGeom prst="arc">
                <a:avLst>
                  <a:gd name="adj1" fmla="val 16117028"/>
                  <a:gd name="adj2" fmla="val 0"/>
                </a:avLst>
              </a:prstGeom>
              <a:ln w="12700">
                <a:solidFill>
                  <a:srgbClr val="215CA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grpSp>
        <p:grpSp>
          <p:nvGrpSpPr>
            <p:cNvPr id="83" name="Group 82">
              <a:extLst>
                <a:ext uri="{FF2B5EF4-FFF2-40B4-BE49-F238E27FC236}">
                  <a16:creationId xmlns:a16="http://schemas.microsoft.com/office/drawing/2014/main" id="{868CDCD8-23AF-9268-554A-8846B99E0747}"/>
                </a:ext>
              </a:extLst>
            </p:cNvPr>
            <p:cNvGrpSpPr/>
            <p:nvPr/>
          </p:nvGrpSpPr>
          <p:grpSpPr>
            <a:xfrm>
              <a:off x="6057714" y="3534114"/>
              <a:ext cx="562116" cy="1190600"/>
              <a:chOff x="5193215" y="3537604"/>
              <a:chExt cx="562116" cy="1190600"/>
            </a:xfrm>
          </p:grpSpPr>
          <p:sp>
            <p:nvSpPr>
              <p:cNvPr id="79" name="Arc 78">
                <a:extLst>
                  <a:ext uri="{FF2B5EF4-FFF2-40B4-BE49-F238E27FC236}">
                    <a16:creationId xmlns:a16="http://schemas.microsoft.com/office/drawing/2014/main" id="{B1F5B5A4-40E7-54A9-7C1F-CD1E1D7C0168}"/>
                  </a:ext>
                </a:extLst>
              </p:cNvPr>
              <p:cNvSpPr/>
              <p:nvPr/>
            </p:nvSpPr>
            <p:spPr>
              <a:xfrm rot="603947">
                <a:off x="5328820" y="3809449"/>
                <a:ext cx="366140" cy="854371"/>
              </a:xfrm>
              <a:prstGeom prst="arc">
                <a:avLst>
                  <a:gd name="adj1" fmla="val 16041426"/>
                  <a:gd name="adj2" fmla="val 2411917"/>
                </a:avLst>
              </a:prstGeom>
              <a:ln w="127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sp>
            <p:nvSpPr>
              <p:cNvPr id="80" name="Arc 79">
                <a:extLst>
                  <a:ext uri="{FF2B5EF4-FFF2-40B4-BE49-F238E27FC236}">
                    <a16:creationId xmlns:a16="http://schemas.microsoft.com/office/drawing/2014/main" id="{A33B3DA8-5CF5-51A7-A203-3742146854A7}"/>
                  </a:ext>
                </a:extLst>
              </p:cNvPr>
              <p:cNvSpPr/>
              <p:nvPr/>
            </p:nvSpPr>
            <p:spPr>
              <a:xfrm rot="778549">
                <a:off x="5193215" y="3537604"/>
                <a:ext cx="562116" cy="1190600"/>
              </a:xfrm>
              <a:prstGeom prst="arc">
                <a:avLst>
                  <a:gd name="adj1" fmla="val 16041426"/>
                  <a:gd name="adj2" fmla="val 2411917"/>
                </a:avLst>
              </a:prstGeom>
              <a:ln w="127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sp>
            <p:nvSpPr>
              <p:cNvPr id="82" name="Arc 81">
                <a:extLst>
                  <a:ext uri="{FF2B5EF4-FFF2-40B4-BE49-F238E27FC236}">
                    <a16:creationId xmlns:a16="http://schemas.microsoft.com/office/drawing/2014/main" id="{3CAE1C0A-3011-17E8-A6FC-2C442180FE21}"/>
                  </a:ext>
                </a:extLst>
              </p:cNvPr>
              <p:cNvSpPr/>
              <p:nvPr/>
            </p:nvSpPr>
            <p:spPr>
              <a:xfrm>
                <a:off x="5496161" y="4083131"/>
                <a:ext cx="156502" cy="368456"/>
              </a:xfrm>
              <a:prstGeom prst="arc">
                <a:avLst>
                  <a:gd name="adj1" fmla="val 16053221"/>
                  <a:gd name="adj2" fmla="val 4207063"/>
                </a:avLst>
              </a:prstGeom>
              <a:ln w="127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grpSp>
      </p:grpSp>
      <p:sp>
        <p:nvSpPr>
          <p:cNvPr id="91" name="Google Shape;187;p21">
            <a:extLst>
              <a:ext uri="{FF2B5EF4-FFF2-40B4-BE49-F238E27FC236}">
                <a16:creationId xmlns:a16="http://schemas.microsoft.com/office/drawing/2014/main" id="{379BF9C6-4C7E-76DC-9C24-8775112425C8}"/>
              </a:ext>
            </a:extLst>
          </p:cNvPr>
          <p:cNvSpPr txBox="1"/>
          <p:nvPr/>
        </p:nvSpPr>
        <p:spPr>
          <a:xfrm>
            <a:off x="627922" y="576000"/>
            <a:ext cx="10832239" cy="513000"/>
          </a:xfrm>
          <a:prstGeom prst="rect">
            <a:avLst/>
          </a:prstGeom>
          <a:noFill/>
          <a:ln>
            <a:noFill/>
          </a:ln>
        </p:spPr>
        <p:txBody>
          <a:bodyPr spcFirstLastPara="1" wrap="square" lIns="118900" tIns="118900" rIns="118900" bIns="118900" anchor="b" anchorCtr="0">
            <a:noAutofit/>
          </a:bodyPr>
          <a:lstStyle/>
          <a:p>
            <a:r>
              <a:rPr lang="en-GB" sz="3200"/>
              <a:t>Adaptations for the transformer</a:t>
            </a:r>
            <a:endParaRPr lang="en-CH" sz="3200"/>
          </a:p>
        </p:txBody>
      </p:sp>
    </p:spTree>
    <p:extLst>
      <p:ext uri="{BB962C8B-B14F-4D97-AF65-F5344CB8AC3E}">
        <p14:creationId xmlns:p14="http://schemas.microsoft.com/office/powerpoint/2010/main" val="1777112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E62AE-2848-B9B4-916C-C37450E0F064}"/>
            </a:ext>
          </a:extLst>
        </p:cNvPr>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77F07CB-0B1A-61CA-0E1B-AEE79F4EAB35}"/>
              </a:ext>
            </a:extLst>
          </p:cNvPr>
          <p:cNvSpPr>
            <a:spLocks noGrp="1"/>
          </p:cNvSpPr>
          <p:nvPr>
            <p:ph type="sldNum" sz="quarter" idx="12"/>
          </p:nvPr>
        </p:nvSpPr>
        <p:spPr>
          <a:xfrm>
            <a:off x="11137585" y="6522444"/>
            <a:ext cx="322577" cy="216000"/>
          </a:xfrm>
        </p:spPr>
        <p:txBody>
          <a:bodyPr anchor="ctr">
            <a:normAutofit/>
          </a:bodyPr>
          <a:lstStyle/>
          <a:p>
            <a:pPr>
              <a:spcAft>
                <a:spcPts val="600"/>
              </a:spcAft>
            </a:pPr>
            <a:fld id="{5ACA52AF-F19D-405C-AD5F-7D94B96A5CC3}" type="slidenum">
              <a:rPr lang="de-CH" noProof="0" smtClean="0"/>
              <a:pPr>
                <a:spcAft>
                  <a:spcPts val="600"/>
                </a:spcAft>
              </a:pPr>
              <a:t>18</a:t>
            </a:fld>
            <a:endParaRPr lang="de-CH" noProof="0"/>
          </a:p>
        </p:txBody>
      </p:sp>
      <p:sp>
        <p:nvSpPr>
          <p:cNvPr id="9" name="Footer Placeholder 4">
            <a:extLst>
              <a:ext uri="{FF2B5EF4-FFF2-40B4-BE49-F238E27FC236}">
                <a16:creationId xmlns:a16="http://schemas.microsoft.com/office/drawing/2014/main" id="{16A9490D-56C0-8FC4-9E05-B8C4829A5D32}"/>
              </a:ext>
            </a:extLst>
          </p:cNvPr>
          <p:cNvSpPr>
            <a:spLocks noGrp="1"/>
          </p:cNvSpPr>
          <p:nvPr>
            <p:ph type="ftr" sz="quarter" idx="11"/>
          </p:nvPr>
        </p:nvSpPr>
        <p:spPr>
          <a:xfrm>
            <a:off x="5723751" y="6522444"/>
            <a:ext cx="744495" cy="216000"/>
          </a:xfrm>
        </p:spPr>
        <p:txBody>
          <a:bodyPr/>
          <a:lstStyle/>
          <a:p>
            <a:pPr algn="ctr"/>
            <a:r>
              <a:rPr lang="de-DE" noProof="0"/>
              <a:t>Method</a:t>
            </a:r>
            <a:endParaRPr lang="de-CH" noProof="0"/>
          </a:p>
        </p:txBody>
      </p:sp>
      <p:sp>
        <p:nvSpPr>
          <p:cNvPr id="91" name="Google Shape;187;p21">
            <a:extLst>
              <a:ext uri="{FF2B5EF4-FFF2-40B4-BE49-F238E27FC236}">
                <a16:creationId xmlns:a16="http://schemas.microsoft.com/office/drawing/2014/main" id="{6CD3A12E-EF51-8F47-692A-7B9D9846047B}"/>
              </a:ext>
            </a:extLst>
          </p:cNvPr>
          <p:cNvSpPr txBox="1"/>
          <p:nvPr/>
        </p:nvSpPr>
        <p:spPr>
          <a:xfrm>
            <a:off x="627922" y="576000"/>
            <a:ext cx="10832239" cy="513000"/>
          </a:xfrm>
          <a:prstGeom prst="rect">
            <a:avLst/>
          </a:prstGeom>
          <a:noFill/>
          <a:ln>
            <a:noFill/>
          </a:ln>
        </p:spPr>
        <p:txBody>
          <a:bodyPr spcFirstLastPara="1" wrap="square" lIns="118900" tIns="118900" rIns="118900" bIns="118900" anchor="b" anchorCtr="0">
            <a:noAutofit/>
          </a:bodyPr>
          <a:lstStyle/>
          <a:p>
            <a:r>
              <a:rPr lang="en-GB" sz="3200"/>
              <a:t>Novel regression head</a:t>
            </a:r>
            <a:endParaRPr lang="en-CH" sz="3200"/>
          </a:p>
        </p:txBody>
      </p:sp>
      <p:sp>
        <p:nvSpPr>
          <p:cNvPr id="4" name="Content Placeholder 2">
            <a:extLst>
              <a:ext uri="{FF2B5EF4-FFF2-40B4-BE49-F238E27FC236}">
                <a16:creationId xmlns:a16="http://schemas.microsoft.com/office/drawing/2014/main" id="{8ECD0BE3-0666-FA61-ADCD-5CB1A3DCDEEB}"/>
              </a:ext>
            </a:extLst>
          </p:cNvPr>
          <p:cNvSpPr>
            <a:spLocks noGrp="1"/>
          </p:cNvSpPr>
          <p:nvPr>
            <p:ph idx="1"/>
          </p:nvPr>
        </p:nvSpPr>
        <p:spPr>
          <a:xfrm>
            <a:off x="731837" y="1626549"/>
            <a:ext cx="9373058" cy="681472"/>
          </a:xfrm>
        </p:spPr>
        <p:txBody>
          <a:bodyPr/>
          <a:lstStyle/>
          <a:p>
            <a:pPr marL="0" indent="0">
              <a:buNone/>
            </a:pPr>
            <a:r>
              <a:rPr lang="en-GB"/>
              <a:t>Treat regression like classification by estimating a discretized PPD:</a:t>
            </a:r>
          </a:p>
        </p:txBody>
      </p:sp>
      <p:grpSp>
        <p:nvGrpSpPr>
          <p:cNvPr id="31" name="Group 30">
            <a:extLst>
              <a:ext uri="{FF2B5EF4-FFF2-40B4-BE49-F238E27FC236}">
                <a16:creationId xmlns:a16="http://schemas.microsoft.com/office/drawing/2014/main" id="{F821C119-0433-240A-12FE-D667A0D7A0DA}"/>
              </a:ext>
            </a:extLst>
          </p:cNvPr>
          <p:cNvGrpSpPr/>
          <p:nvPr/>
        </p:nvGrpSpPr>
        <p:grpSpPr>
          <a:xfrm>
            <a:off x="4360199" y="2823143"/>
            <a:ext cx="3203808" cy="3526255"/>
            <a:chOff x="3533097" y="2473224"/>
            <a:chExt cx="3203808" cy="3526255"/>
          </a:xfrm>
        </p:grpSpPr>
        <p:sp>
          <p:nvSpPr>
            <p:cNvPr id="8" name="Content Placeholder 2">
              <a:extLst>
                <a:ext uri="{FF2B5EF4-FFF2-40B4-BE49-F238E27FC236}">
                  <a16:creationId xmlns:a16="http://schemas.microsoft.com/office/drawing/2014/main" id="{27BBE782-DD33-482C-FD2F-37FBB9F26B3C}"/>
                </a:ext>
              </a:extLst>
            </p:cNvPr>
            <p:cNvSpPr txBox="1">
              <a:spLocks/>
            </p:cNvSpPr>
            <p:nvPr/>
          </p:nvSpPr>
          <p:spPr>
            <a:xfrm>
              <a:off x="5243957" y="5614551"/>
              <a:ext cx="348817" cy="384928"/>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a:t>y</a:t>
              </a:r>
            </a:p>
          </p:txBody>
        </p:sp>
        <p:pic>
          <p:nvPicPr>
            <p:cNvPr id="5" name="Picture 4">
              <a:extLst>
                <a:ext uri="{FF2B5EF4-FFF2-40B4-BE49-F238E27FC236}">
                  <a16:creationId xmlns:a16="http://schemas.microsoft.com/office/drawing/2014/main" id="{F3680A49-6813-F8B8-DFFE-E869A6737068}"/>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3533097" y="2673917"/>
              <a:ext cx="3203808" cy="2923905"/>
            </a:xfrm>
            <a:prstGeom prst="rect">
              <a:avLst/>
            </a:prstGeom>
          </p:spPr>
        </p:pic>
        <p:sp>
          <p:nvSpPr>
            <p:cNvPr id="15" name="Content Placeholder 2">
              <a:extLst>
                <a:ext uri="{FF2B5EF4-FFF2-40B4-BE49-F238E27FC236}">
                  <a16:creationId xmlns:a16="http://schemas.microsoft.com/office/drawing/2014/main" id="{9DCA114B-B923-FFE9-8ADC-358F3C867FD3}"/>
                </a:ext>
              </a:extLst>
            </p:cNvPr>
            <p:cNvSpPr txBox="1">
              <a:spLocks/>
            </p:cNvSpPr>
            <p:nvPr/>
          </p:nvSpPr>
          <p:spPr>
            <a:xfrm>
              <a:off x="3931382" y="2473224"/>
              <a:ext cx="665086" cy="381816"/>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a:solidFill>
                    <a:srgbClr val="26D6FF"/>
                  </a:solidFill>
                  <a:ea typeface="Cambria Math" panose="02040503050406030204" pitchFamily="18" charset="0"/>
                </a:rPr>
                <a:t>q</a:t>
              </a:r>
            </a:p>
          </p:txBody>
        </p:sp>
      </p:grpSp>
      <p:grpSp>
        <p:nvGrpSpPr>
          <p:cNvPr id="32" name="Group 31">
            <a:extLst>
              <a:ext uri="{FF2B5EF4-FFF2-40B4-BE49-F238E27FC236}">
                <a16:creationId xmlns:a16="http://schemas.microsoft.com/office/drawing/2014/main" id="{ED1BAEF9-313D-02ED-A41D-A856BCDB7C6C}"/>
              </a:ext>
            </a:extLst>
          </p:cNvPr>
          <p:cNvGrpSpPr/>
          <p:nvPr/>
        </p:nvGrpSpPr>
        <p:grpSpPr>
          <a:xfrm>
            <a:off x="8187917" y="2778899"/>
            <a:ext cx="3272244" cy="3567819"/>
            <a:chOff x="7865341" y="2473224"/>
            <a:chExt cx="3272244" cy="3567819"/>
          </a:xfrm>
        </p:grpSpPr>
        <p:sp>
          <p:nvSpPr>
            <p:cNvPr id="10" name="Content Placeholder 2">
              <a:extLst>
                <a:ext uri="{FF2B5EF4-FFF2-40B4-BE49-F238E27FC236}">
                  <a16:creationId xmlns:a16="http://schemas.microsoft.com/office/drawing/2014/main" id="{0CF5D4B7-D82A-B4EE-3157-74D25B6276DD}"/>
                </a:ext>
              </a:extLst>
            </p:cNvPr>
            <p:cNvSpPr txBox="1">
              <a:spLocks/>
            </p:cNvSpPr>
            <p:nvPr/>
          </p:nvSpPr>
          <p:spPr>
            <a:xfrm>
              <a:off x="9756078" y="5656115"/>
              <a:ext cx="348817" cy="384928"/>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a:t>y</a:t>
              </a:r>
            </a:p>
          </p:txBody>
        </p:sp>
        <p:pic>
          <p:nvPicPr>
            <p:cNvPr id="7" name="Picture 6">
              <a:extLst>
                <a:ext uri="{FF2B5EF4-FFF2-40B4-BE49-F238E27FC236}">
                  <a16:creationId xmlns:a16="http://schemas.microsoft.com/office/drawing/2014/main" id="{1150A380-7F38-8BD9-839A-26AC6BC5CFEF}"/>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7865341" y="2675857"/>
              <a:ext cx="3272244" cy="2968532"/>
            </a:xfrm>
            <a:prstGeom prst="rect">
              <a:avLst/>
            </a:prstGeom>
          </p:spPr>
        </p:pic>
        <p:sp>
          <p:nvSpPr>
            <p:cNvPr id="16" name="Content Placeholder 2">
              <a:extLst>
                <a:ext uri="{FF2B5EF4-FFF2-40B4-BE49-F238E27FC236}">
                  <a16:creationId xmlns:a16="http://schemas.microsoft.com/office/drawing/2014/main" id="{443FEE3F-9750-A7B9-6CC1-B31C40499B8E}"/>
                </a:ext>
              </a:extLst>
            </p:cNvPr>
            <p:cNvSpPr txBox="1">
              <a:spLocks/>
            </p:cNvSpPr>
            <p:nvPr/>
          </p:nvSpPr>
          <p:spPr>
            <a:xfrm>
              <a:off x="8246685" y="2473224"/>
              <a:ext cx="665086" cy="381816"/>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a:solidFill>
                    <a:srgbClr val="26D6FF"/>
                  </a:solidFill>
                  <a:ea typeface="Cambria Math" panose="02040503050406030204" pitchFamily="18" charset="0"/>
                </a:rPr>
                <a:t>q</a:t>
              </a:r>
            </a:p>
          </p:txBody>
        </p:sp>
      </p:grpSp>
      <p:sp>
        <p:nvSpPr>
          <p:cNvPr id="34" name="Content Placeholder 2">
            <a:extLst>
              <a:ext uri="{FF2B5EF4-FFF2-40B4-BE49-F238E27FC236}">
                <a16:creationId xmlns:a16="http://schemas.microsoft.com/office/drawing/2014/main" id="{407889D0-9A67-00EB-0D8A-B11FA32BF550}"/>
              </a:ext>
            </a:extLst>
          </p:cNvPr>
          <p:cNvSpPr txBox="1">
            <a:spLocks/>
          </p:cNvSpPr>
          <p:nvPr/>
        </p:nvSpPr>
        <p:spPr>
          <a:xfrm>
            <a:off x="6746997" y="2358692"/>
            <a:ext cx="2881840" cy="381817"/>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a:t>Riemann Distribution</a:t>
            </a:r>
          </a:p>
        </p:txBody>
      </p:sp>
      <p:sp>
        <p:nvSpPr>
          <p:cNvPr id="35" name="Footer Placeholder 4">
            <a:extLst>
              <a:ext uri="{FF2B5EF4-FFF2-40B4-BE49-F238E27FC236}">
                <a16:creationId xmlns:a16="http://schemas.microsoft.com/office/drawing/2014/main" id="{F9AB1A65-4046-1711-B8BF-A3EEA7485CE1}"/>
              </a:ext>
            </a:extLst>
          </p:cNvPr>
          <p:cNvSpPr txBox="1">
            <a:spLocks/>
          </p:cNvSpPr>
          <p:nvPr/>
        </p:nvSpPr>
        <p:spPr>
          <a:xfrm>
            <a:off x="7048164" y="6307850"/>
            <a:ext cx="4411998" cy="214594"/>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Figures adapted from Müller et al. (2022): Transformers can do Bayesian Inference, Figure 2a&amp;b.</a:t>
            </a:r>
          </a:p>
        </p:txBody>
      </p:sp>
    </p:spTree>
    <p:extLst>
      <p:ext uri="{BB962C8B-B14F-4D97-AF65-F5344CB8AC3E}">
        <p14:creationId xmlns:p14="http://schemas.microsoft.com/office/powerpoint/2010/main" val="1912781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40718-11E6-3F50-7EBF-DA9E0B1FAEB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F6E27B6-9B91-8386-CFC3-201D9CC7BE49}"/>
              </a:ext>
            </a:extLst>
          </p:cNvPr>
          <p:cNvSpPr>
            <a:spLocks noGrp="1"/>
          </p:cNvSpPr>
          <p:nvPr>
            <p:ph type="sldNum" sz="quarter" idx="12"/>
          </p:nvPr>
        </p:nvSpPr>
        <p:spPr/>
        <p:txBody>
          <a:bodyPr/>
          <a:lstStyle/>
          <a:p>
            <a:fld id="{5ACA52AF-F19D-405C-AD5F-7D94B96A5CC3}" type="slidenum">
              <a:rPr lang="de-CH" noProof="0" smtClean="0"/>
              <a:t>19</a:t>
            </a:fld>
            <a:endParaRPr lang="de-CH" noProof="0"/>
          </a:p>
        </p:txBody>
      </p:sp>
      <p:sp>
        <p:nvSpPr>
          <p:cNvPr id="9" name="Google Shape;187;p21">
            <a:extLst>
              <a:ext uri="{FF2B5EF4-FFF2-40B4-BE49-F238E27FC236}">
                <a16:creationId xmlns:a16="http://schemas.microsoft.com/office/drawing/2014/main" id="{93B2DC2A-4C51-144B-14FD-25C6D97565AA}"/>
              </a:ext>
            </a:extLst>
          </p:cNvPr>
          <p:cNvSpPr txBox="1"/>
          <p:nvPr/>
        </p:nvSpPr>
        <p:spPr>
          <a:xfrm>
            <a:off x="627923" y="576000"/>
            <a:ext cx="7667400" cy="513000"/>
          </a:xfrm>
          <a:prstGeom prst="rect">
            <a:avLst/>
          </a:prstGeom>
          <a:noFill/>
          <a:ln>
            <a:noFill/>
          </a:ln>
        </p:spPr>
        <p:txBody>
          <a:bodyPr spcFirstLastPara="1" wrap="square" lIns="118900" tIns="118900" rIns="118900" bIns="118900" anchor="b" anchorCtr="0">
            <a:noAutofit/>
          </a:bodyPr>
          <a:lstStyle/>
          <a:p>
            <a:pPr marL="0" lvl="0" indent="0" algn="l" rtl="0">
              <a:spcBef>
                <a:spcPts val="0"/>
              </a:spcBef>
              <a:spcAft>
                <a:spcPts val="0"/>
              </a:spcAft>
              <a:buNone/>
            </a:pPr>
            <a:r>
              <a:rPr lang="de-CH" sz="3200" b="1" err="1">
                <a:solidFill>
                  <a:schemeClr val="dk1"/>
                </a:solidFill>
              </a:rPr>
              <a:t>Results</a:t>
            </a:r>
            <a:endParaRPr sz="3200" b="1">
              <a:solidFill>
                <a:schemeClr val="dk1"/>
              </a:solidFill>
            </a:endParaRPr>
          </a:p>
        </p:txBody>
      </p:sp>
    </p:spTree>
    <p:extLst>
      <p:ext uri="{BB962C8B-B14F-4D97-AF65-F5344CB8AC3E}">
        <p14:creationId xmlns:p14="http://schemas.microsoft.com/office/powerpoint/2010/main" val="3936168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4FD61-C930-2771-EF89-99E38D0BFB8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F82A907-839F-1738-E172-DEEA89984B99}"/>
              </a:ext>
            </a:extLst>
          </p:cNvPr>
          <p:cNvSpPr>
            <a:spLocks noGrp="1"/>
          </p:cNvSpPr>
          <p:nvPr>
            <p:ph type="sldNum" sz="quarter" idx="12"/>
          </p:nvPr>
        </p:nvSpPr>
        <p:spPr/>
        <p:txBody>
          <a:bodyPr/>
          <a:lstStyle/>
          <a:p>
            <a:fld id="{5ACA52AF-F19D-405C-AD5F-7D94B96A5CC3}" type="slidenum">
              <a:rPr lang="de-CH" noProof="0" smtClean="0"/>
              <a:t>20</a:t>
            </a:fld>
            <a:endParaRPr lang="de-CH" noProof="0"/>
          </a:p>
        </p:txBody>
      </p:sp>
      <p:sp>
        <p:nvSpPr>
          <p:cNvPr id="5" name="Footer Placeholder 4">
            <a:extLst>
              <a:ext uri="{FF2B5EF4-FFF2-40B4-BE49-F238E27FC236}">
                <a16:creationId xmlns:a16="http://schemas.microsoft.com/office/drawing/2014/main" id="{32639970-FCAE-8933-86AE-2F09B73C62D4}"/>
              </a:ext>
            </a:extLst>
          </p:cNvPr>
          <p:cNvSpPr>
            <a:spLocks noGrp="1"/>
          </p:cNvSpPr>
          <p:nvPr>
            <p:ph type="ftr" sz="quarter" idx="11"/>
          </p:nvPr>
        </p:nvSpPr>
        <p:spPr>
          <a:xfrm>
            <a:off x="5723751" y="6522444"/>
            <a:ext cx="744495" cy="216000"/>
          </a:xfrm>
        </p:spPr>
        <p:txBody>
          <a:bodyPr/>
          <a:lstStyle/>
          <a:p>
            <a:pPr algn="ctr"/>
            <a:r>
              <a:rPr lang="de-DE" noProof="0"/>
              <a:t>Results</a:t>
            </a:r>
            <a:endParaRPr lang="de-CH" noProof="0"/>
          </a:p>
        </p:txBody>
      </p:sp>
      <p:sp>
        <p:nvSpPr>
          <p:cNvPr id="11" name="Content Placeholder 2">
            <a:extLst>
              <a:ext uri="{FF2B5EF4-FFF2-40B4-BE49-F238E27FC236}">
                <a16:creationId xmlns:a16="http://schemas.microsoft.com/office/drawing/2014/main" id="{A4B78E05-5765-4F74-95D6-795030E26253}"/>
              </a:ext>
            </a:extLst>
          </p:cNvPr>
          <p:cNvSpPr txBox="1">
            <a:spLocks/>
          </p:cNvSpPr>
          <p:nvPr/>
        </p:nvSpPr>
        <p:spPr>
          <a:xfrm>
            <a:off x="731837" y="1617976"/>
            <a:ext cx="9930720" cy="3622041"/>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CH" b="1"/>
              <a:t>Toy example</a:t>
            </a:r>
            <a:r>
              <a:rPr lang="de-CH"/>
              <a:t>: Gaussian Process approximation</a:t>
            </a:r>
            <a:br>
              <a:rPr lang="de-CH"/>
            </a:br>
            <a:endParaRPr lang="de-CH"/>
          </a:p>
          <a:p>
            <a:r>
              <a:rPr lang="de-CH" b="1"/>
              <a:t>Classification of real-world tabular data </a:t>
            </a:r>
            <a:r>
              <a:rPr lang="de-CH"/>
              <a:t>using a prior over BNN network architectures</a:t>
            </a:r>
            <a:br>
              <a:rPr lang="de-CH"/>
            </a:br>
            <a:endParaRPr lang="de-CH"/>
          </a:p>
          <a:p>
            <a:r>
              <a:rPr lang="de-CH" b="1"/>
              <a:t>Few-shot image classification </a:t>
            </a:r>
            <a:r>
              <a:rPr lang="de-CH"/>
              <a:t>of handwritten characters (</a:t>
            </a:r>
            <a:r>
              <a:rPr lang="de-CH" b="1"/>
              <a:t>Omniglot</a:t>
            </a:r>
            <a:r>
              <a:rPr lang="de-CH"/>
              <a:t> dataset)</a:t>
            </a:r>
          </a:p>
          <a:p>
            <a:endParaRPr lang="de-CH"/>
          </a:p>
        </p:txBody>
      </p:sp>
    </p:spTree>
    <p:extLst>
      <p:ext uri="{BB962C8B-B14F-4D97-AF65-F5344CB8AC3E}">
        <p14:creationId xmlns:p14="http://schemas.microsoft.com/office/powerpoint/2010/main" val="4043159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5BF3C-9166-7BCD-5C5C-185AC70408E8}"/>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5AF37FD-DB7B-9221-B131-0E69996A186F}"/>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8967498" y="2176451"/>
            <a:ext cx="2035225" cy="473435"/>
          </a:xfrm>
          <a:prstGeom prst="rect">
            <a:avLst/>
          </a:prstGeom>
        </p:spPr>
      </p:pic>
      <p:sp>
        <p:nvSpPr>
          <p:cNvPr id="6" name="Slide Number Placeholder 5">
            <a:extLst>
              <a:ext uri="{FF2B5EF4-FFF2-40B4-BE49-F238E27FC236}">
                <a16:creationId xmlns:a16="http://schemas.microsoft.com/office/drawing/2014/main" id="{261B4318-51F1-4D2B-4D2F-ECFF09CFD27D}"/>
              </a:ext>
            </a:extLst>
          </p:cNvPr>
          <p:cNvSpPr>
            <a:spLocks noGrp="1"/>
          </p:cNvSpPr>
          <p:nvPr>
            <p:ph type="sldNum" sz="quarter" idx="12"/>
          </p:nvPr>
        </p:nvSpPr>
        <p:spPr/>
        <p:txBody>
          <a:bodyPr/>
          <a:lstStyle/>
          <a:p>
            <a:fld id="{5ACA52AF-F19D-405C-AD5F-7D94B96A5CC3}" type="slidenum">
              <a:rPr lang="de-CH" noProof="0" smtClean="0"/>
              <a:t>21</a:t>
            </a:fld>
            <a:endParaRPr lang="de-CH" noProof="0"/>
          </a:p>
        </p:txBody>
      </p:sp>
      <p:sp>
        <p:nvSpPr>
          <p:cNvPr id="3" name="Footer Placeholder 4">
            <a:extLst>
              <a:ext uri="{FF2B5EF4-FFF2-40B4-BE49-F238E27FC236}">
                <a16:creationId xmlns:a16="http://schemas.microsoft.com/office/drawing/2014/main" id="{E9C446C7-C78F-F5CD-FDB2-AFAD31FB0AD4}"/>
              </a:ext>
            </a:extLst>
          </p:cNvPr>
          <p:cNvSpPr>
            <a:spLocks noGrp="1"/>
          </p:cNvSpPr>
          <p:nvPr>
            <p:ph type="ftr" sz="quarter" idx="11"/>
          </p:nvPr>
        </p:nvSpPr>
        <p:spPr>
          <a:xfrm>
            <a:off x="4744224" y="6522444"/>
            <a:ext cx="2703552" cy="216000"/>
          </a:xfrm>
        </p:spPr>
        <p:txBody>
          <a:bodyPr/>
          <a:lstStyle/>
          <a:p>
            <a:pPr algn="ctr"/>
            <a:r>
              <a:rPr lang="de-DE" noProof="0"/>
              <a:t>Results – Toy example: Gaussian Process</a:t>
            </a:r>
            <a:endParaRPr lang="de-CH" noProof="0"/>
          </a:p>
        </p:txBody>
      </p:sp>
      <p:grpSp>
        <p:nvGrpSpPr>
          <p:cNvPr id="4" name="Group 3">
            <a:extLst>
              <a:ext uri="{FF2B5EF4-FFF2-40B4-BE49-F238E27FC236}">
                <a16:creationId xmlns:a16="http://schemas.microsoft.com/office/drawing/2014/main" id="{2B944B78-FAFB-9CD2-F1CE-B022C2AB7564}"/>
              </a:ext>
            </a:extLst>
          </p:cNvPr>
          <p:cNvGrpSpPr/>
          <p:nvPr/>
        </p:nvGrpSpPr>
        <p:grpSpPr>
          <a:xfrm>
            <a:off x="5263048" y="2763177"/>
            <a:ext cx="6158735" cy="3189294"/>
            <a:chOff x="7286766" y="1644534"/>
            <a:chExt cx="4173395" cy="2161188"/>
          </a:xfrm>
        </p:grpSpPr>
        <p:pic>
          <p:nvPicPr>
            <p:cNvPr id="7" name="Picture 6">
              <a:extLst>
                <a:ext uri="{FF2B5EF4-FFF2-40B4-BE49-F238E27FC236}">
                  <a16:creationId xmlns:a16="http://schemas.microsoft.com/office/drawing/2014/main" id="{45C056A6-8328-C072-3028-BE651EF7C57B}"/>
                </a:ext>
              </a:extLst>
            </p:cNvPr>
            <p:cNvPicPr>
              <a:picLocks noChangeAspect="1"/>
            </p:cNvPicPr>
            <p:nvPr/>
          </p:nvPicPr>
          <p:blipFill>
            <a:blip r:embed="rId4" cstate="screen">
              <a:extLst>
                <a:ext uri="{28A0092B-C50C-407E-A947-70E740481C1C}">
                  <a14:useLocalDpi xmlns:a14="http://schemas.microsoft.com/office/drawing/2010/main"/>
                </a:ext>
              </a:extLst>
            </a:blip>
            <a:srcRect l="-2"/>
            <a:stretch>
              <a:fillRect/>
            </a:stretch>
          </p:blipFill>
          <p:spPr>
            <a:xfrm>
              <a:off x="7286766" y="1644534"/>
              <a:ext cx="4173395" cy="2161188"/>
            </a:xfrm>
            <a:prstGeom prst="rect">
              <a:avLst/>
            </a:prstGeom>
          </p:spPr>
        </p:pic>
        <p:sp>
          <p:nvSpPr>
            <p:cNvPr id="13" name="Rectangle 12">
              <a:extLst>
                <a:ext uri="{FF2B5EF4-FFF2-40B4-BE49-F238E27FC236}">
                  <a16:creationId xmlns:a16="http://schemas.microsoft.com/office/drawing/2014/main" id="{463F824D-0298-1DA3-4470-6D375C012C09}"/>
                </a:ext>
              </a:extLst>
            </p:cNvPr>
            <p:cNvSpPr/>
            <p:nvPr/>
          </p:nvSpPr>
          <p:spPr>
            <a:xfrm>
              <a:off x="8533056" y="2134633"/>
              <a:ext cx="440525" cy="298249"/>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grpSp>
      <p:sp>
        <p:nvSpPr>
          <p:cNvPr id="19" name="Content Placeholder 2">
            <a:extLst>
              <a:ext uri="{FF2B5EF4-FFF2-40B4-BE49-F238E27FC236}">
                <a16:creationId xmlns:a16="http://schemas.microsoft.com/office/drawing/2014/main" id="{7C9BC7A1-F6AA-28F5-5F16-7334B2826085}"/>
              </a:ext>
            </a:extLst>
          </p:cNvPr>
          <p:cNvSpPr txBox="1">
            <a:spLocks/>
          </p:cNvSpPr>
          <p:nvPr/>
        </p:nvSpPr>
        <p:spPr>
          <a:xfrm>
            <a:off x="770217" y="1592940"/>
            <a:ext cx="4257258" cy="2189707"/>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b="1"/>
              <a:t>Sample</a:t>
            </a:r>
            <a:r>
              <a:rPr lang="de-CH"/>
              <a:t> (x,y)-pairs from prior:</a:t>
            </a:r>
          </a:p>
          <a:p>
            <a:r>
              <a:rPr lang="de-CH"/>
              <a:t>Sample x from unit cube</a:t>
            </a:r>
          </a:p>
          <a:p>
            <a:r>
              <a:rPr lang="de-CH"/>
              <a:t>Compute kernel K</a:t>
            </a:r>
            <a:r>
              <a:rPr lang="de-CH" baseline="-25000"/>
              <a:t> ij</a:t>
            </a:r>
            <a:r>
              <a:rPr lang="de-CH"/>
              <a:t> = k(x</a:t>
            </a:r>
            <a:r>
              <a:rPr lang="de-CH" baseline="-25000"/>
              <a:t>i </a:t>
            </a:r>
            <a:r>
              <a:rPr lang="de-CH"/>
              <a:t>, x</a:t>
            </a:r>
            <a:r>
              <a:rPr lang="de-CH" baseline="-25000"/>
              <a:t>j</a:t>
            </a:r>
            <a:r>
              <a:rPr lang="de-CH"/>
              <a:t>) </a:t>
            </a:r>
          </a:p>
          <a:p>
            <a:r>
              <a:rPr lang="de-CH"/>
              <a:t>Sample y ~ N(0, K) </a:t>
            </a:r>
          </a:p>
          <a:p>
            <a:endParaRPr lang="de-CH"/>
          </a:p>
          <a:p>
            <a:pPr marL="0" indent="0">
              <a:buNone/>
            </a:pPr>
            <a:endParaRPr lang="de-CH"/>
          </a:p>
          <a:p>
            <a:pPr marL="0" indent="0">
              <a:buNone/>
            </a:pPr>
            <a:br>
              <a:rPr lang="en-CH"/>
            </a:br>
            <a:endParaRPr lang="de-CH"/>
          </a:p>
        </p:txBody>
      </p:sp>
      <p:sp>
        <p:nvSpPr>
          <p:cNvPr id="22" name="Google Shape;187;p21">
            <a:extLst>
              <a:ext uri="{FF2B5EF4-FFF2-40B4-BE49-F238E27FC236}">
                <a16:creationId xmlns:a16="http://schemas.microsoft.com/office/drawing/2014/main" id="{857CF894-2D95-DDEF-72D9-5D1D84C2C5D1}"/>
              </a:ext>
            </a:extLst>
          </p:cNvPr>
          <p:cNvSpPr txBox="1"/>
          <p:nvPr/>
        </p:nvSpPr>
        <p:spPr>
          <a:xfrm>
            <a:off x="627922" y="576000"/>
            <a:ext cx="10832239" cy="513000"/>
          </a:xfrm>
          <a:prstGeom prst="rect">
            <a:avLst/>
          </a:prstGeom>
          <a:noFill/>
          <a:ln>
            <a:noFill/>
          </a:ln>
        </p:spPr>
        <p:txBody>
          <a:bodyPr spcFirstLastPara="1" wrap="square" lIns="118900" tIns="118900" rIns="118900" bIns="118900" anchor="b" anchorCtr="0">
            <a:noAutofit/>
          </a:bodyPr>
          <a:lstStyle/>
          <a:p>
            <a:r>
              <a:rPr lang="en-GB" sz="3200"/>
              <a:t>Toy Example: Gaussian Process Regression</a:t>
            </a:r>
            <a:endParaRPr lang="en-CH" sz="3200"/>
          </a:p>
        </p:txBody>
      </p:sp>
      <p:sp>
        <p:nvSpPr>
          <p:cNvPr id="23" name="Footer Placeholder 4">
            <a:extLst>
              <a:ext uri="{FF2B5EF4-FFF2-40B4-BE49-F238E27FC236}">
                <a16:creationId xmlns:a16="http://schemas.microsoft.com/office/drawing/2014/main" id="{9B2D554E-D0DA-E941-E0A3-ADD3DF2A37E0}"/>
              </a:ext>
            </a:extLst>
          </p:cNvPr>
          <p:cNvSpPr txBox="1">
            <a:spLocks/>
          </p:cNvSpPr>
          <p:nvPr/>
        </p:nvSpPr>
        <p:spPr>
          <a:xfrm>
            <a:off x="7499816" y="5986816"/>
            <a:ext cx="4288941" cy="216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Figure: Müller et al. (2022): Transformers can do Bayesian Inference, Figure 3a.</a:t>
            </a:r>
          </a:p>
        </p:txBody>
      </p:sp>
      <p:grpSp>
        <p:nvGrpSpPr>
          <p:cNvPr id="12" name="Group 11">
            <a:extLst>
              <a:ext uri="{FF2B5EF4-FFF2-40B4-BE49-F238E27FC236}">
                <a16:creationId xmlns:a16="http://schemas.microsoft.com/office/drawing/2014/main" id="{8AB71BB1-4C53-18F8-37B6-FA28BB64728B}"/>
              </a:ext>
            </a:extLst>
          </p:cNvPr>
          <p:cNvGrpSpPr/>
          <p:nvPr/>
        </p:nvGrpSpPr>
        <p:grpSpPr>
          <a:xfrm>
            <a:off x="3585288" y="2726953"/>
            <a:ext cx="7765619" cy="2868350"/>
            <a:chOff x="3533248" y="2467821"/>
            <a:chExt cx="7765619" cy="2868350"/>
          </a:xfrm>
        </p:grpSpPr>
        <p:pic>
          <p:nvPicPr>
            <p:cNvPr id="26" name="Picture 25">
              <a:extLst>
                <a:ext uri="{FF2B5EF4-FFF2-40B4-BE49-F238E27FC236}">
                  <a16:creationId xmlns:a16="http://schemas.microsoft.com/office/drawing/2014/main" id="{CE218251-D2D9-BA08-3BEE-B0AFEC7AF9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rot="5400000">
              <a:off x="3467727" y="3512876"/>
              <a:ext cx="1499911" cy="1368870"/>
            </a:xfrm>
            <a:prstGeom prst="rect">
              <a:avLst/>
            </a:prstGeom>
          </p:spPr>
        </p:pic>
        <p:grpSp>
          <p:nvGrpSpPr>
            <p:cNvPr id="11" name="Group 10">
              <a:extLst>
                <a:ext uri="{FF2B5EF4-FFF2-40B4-BE49-F238E27FC236}">
                  <a16:creationId xmlns:a16="http://schemas.microsoft.com/office/drawing/2014/main" id="{820A2CBF-6211-6643-F0F6-BBBBAA109193}"/>
                </a:ext>
              </a:extLst>
            </p:cNvPr>
            <p:cNvGrpSpPr/>
            <p:nvPr/>
          </p:nvGrpSpPr>
          <p:grpSpPr>
            <a:xfrm>
              <a:off x="5721654" y="2467821"/>
              <a:ext cx="5577213" cy="2868350"/>
              <a:chOff x="7651094" y="4095770"/>
              <a:chExt cx="3718649" cy="1912494"/>
            </a:xfrm>
          </p:grpSpPr>
          <p:pic>
            <p:nvPicPr>
              <p:cNvPr id="8" name="Picture 7">
                <a:extLst>
                  <a:ext uri="{FF2B5EF4-FFF2-40B4-BE49-F238E27FC236}">
                    <a16:creationId xmlns:a16="http://schemas.microsoft.com/office/drawing/2014/main" id="{12E365E9-BAAA-4F1D-8010-CCD5E7B0EC12}"/>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7886308" y="4142822"/>
                <a:ext cx="3251277" cy="1787236"/>
              </a:xfrm>
              <a:prstGeom prst="rect">
                <a:avLst/>
              </a:prstGeom>
            </p:spPr>
          </p:pic>
          <p:sp>
            <p:nvSpPr>
              <p:cNvPr id="25" name="Content Placeholder 2">
                <a:extLst>
                  <a:ext uri="{FF2B5EF4-FFF2-40B4-BE49-F238E27FC236}">
                    <a16:creationId xmlns:a16="http://schemas.microsoft.com/office/drawing/2014/main" id="{52BDF8C6-16AC-42A8-5F90-5266D3364081}"/>
                  </a:ext>
                </a:extLst>
              </p:cNvPr>
              <p:cNvSpPr txBox="1">
                <a:spLocks/>
              </p:cNvSpPr>
              <p:nvPr/>
            </p:nvSpPr>
            <p:spPr>
              <a:xfrm>
                <a:off x="7651094" y="4095770"/>
                <a:ext cx="141740" cy="156413"/>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a:t>y</a:t>
                </a:r>
              </a:p>
            </p:txBody>
          </p:sp>
          <p:sp>
            <p:nvSpPr>
              <p:cNvPr id="28" name="Content Placeholder 2">
                <a:extLst>
                  <a:ext uri="{FF2B5EF4-FFF2-40B4-BE49-F238E27FC236}">
                    <a16:creationId xmlns:a16="http://schemas.microsoft.com/office/drawing/2014/main" id="{98D2C305-621E-26C7-4B0C-7CDA03B00B6B}"/>
                  </a:ext>
                </a:extLst>
              </p:cNvPr>
              <p:cNvSpPr txBox="1">
                <a:spLocks/>
              </p:cNvSpPr>
              <p:nvPr/>
            </p:nvSpPr>
            <p:spPr>
              <a:xfrm>
                <a:off x="11228003" y="5851851"/>
                <a:ext cx="141740" cy="156413"/>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a:t>x</a:t>
                </a:r>
              </a:p>
            </p:txBody>
          </p:sp>
        </p:grpSp>
      </p:grpSp>
      <p:sp>
        <p:nvSpPr>
          <p:cNvPr id="9" name="TextBox 8">
            <a:extLst>
              <a:ext uri="{FF2B5EF4-FFF2-40B4-BE49-F238E27FC236}">
                <a16:creationId xmlns:a16="http://schemas.microsoft.com/office/drawing/2014/main" id="{199310A2-91C9-B19D-1BAD-5216BB36EDA2}"/>
              </a:ext>
            </a:extLst>
          </p:cNvPr>
          <p:cNvSpPr txBox="1"/>
          <p:nvPr/>
        </p:nvSpPr>
        <p:spPr>
          <a:xfrm>
            <a:off x="5559317" y="1560856"/>
            <a:ext cx="5974760" cy="646331"/>
          </a:xfrm>
          <a:prstGeom prst="rect">
            <a:avLst/>
          </a:prstGeom>
          <a:noFill/>
        </p:spPr>
        <p:txBody>
          <a:bodyPr wrap="square">
            <a:spAutoFit/>
          </a:bodyPr>
          <a:lstStyle/>
          <a:p>
            <a:r>
              <a:rPr lang="en-CH"/>
              <a:t>The PFN output is </a:t>
            </a:r>
            <a:r>
              <a:rPr lang="en-GB"/>
              <a:t>a discretized approximation of the </a:t>
            </a:r>
            <a:r>
              <a:rPr lang="en-GB" b="1"/>
              <a:t>PPD</a:t>
            </a:r>
            <a:r>
              <a:rPr lang="en-GB"/>
              <a:t>,</a:t>
            </a:r>
            <a:r>
              <a:rPr lang="en-CH"/>
              <a:t> given the two data points:</a:t>
            </a:r>
          </a:p>
        </p:txBody>
      </p:sp>
    </p:spTree>
    <p:extLst>
      <p:ext uri="{BB962C8B-B14F-4D97-AF65-F5344CB8AC3E}">
        <p14:creationId xmlns:p14="http://schemas.microsoft.com/office/powerpoint/2010/main" val="3578015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23428-73D8-FC0F-6A2A-0B817E025726}"/>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E494A4D-7AB8-2C13-888A-39C03D9F30B5}"/>
              </a:ext>
            </a:extLst>
          </p:cNvPr>
          <p:cNvSpPr>
            <a:spLocks noGrp="1"/>
          </p:cNvSpPr>
          <p:nvPr>
            <p:ph type="sldNum" sz="quarter" idx="12"/>
          </p:nvPr>
        </p:nvSpPr>
        <p:spPr/>
        <p:txBody>
          <a:bodyPr/>
          <a:lstStyle/>
          <a:p>
            <a:fld id="{5ACA52AF-F19D-405C-AD5F-7D94B96A5CC3}" type="slidenum">
              <a:rPr lang="de-CH" noProof="0" smtClean="0"/>
              <a:t>22</a:t>
            </a:fld>
            <a:endParaRPr lang="de-CH" noProof="0"/>
          </a:p>
        </p:txBody>
      </p:sp>
      <p:pic>
        <p:nvPicPr>
          <p:cNvPr id="3" name="Picture 2">
            <a:extLst>
              <a:ext uri="{FF2B5EF4-FFF2-40B4-BE49-F238E27FC236}">
                <a16:creationId xmlns:a16="http://schemas.microsoft.com/office/drawing/2014/main" id="{26CB43E2-B191-DE5B-9B99-84F2D109118E}"/>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339949" y="3990438"/>
            <a:ext cx="3856059" cy="401936"/>
          </a:xfrm>
          <a:prstGeom prst="rect">
            <a:avLst/>
          </a:prstGeom>
        </p:spPr>
      </p:pic>
      <p:pic>
        <p:nvPicPr>
          <p:cNvPr id="9" name="Picture 8">
            <a:extLst>
              <a:ext uri="{FF2B5EF4-FFF2-40B4-BE49-F238E27FC236}">
                <a16:creationId xmlns:a16="http://schemas.microsoft.com/office/drawing/2014/main" id="{31163B96-8978-EFDA-690D-F3FC56E0CC84}"/>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388937" y="1758355"/>
            <a:ext cx="3856059" cy="2087786"/>
          </a:xfrm>
          <a:prstGeom prst="rect">
            <a:avLst/>
          </a:prstGeom>
        </p:spPr>
      </p:pic>
      <p:pic>
        <p:nvPicPr>
          <p:cNvPr id="14" name="Picture 13">
            <a:extLst>
              <a:ext uri="{FF2B5EF4-FFF2-40B4-BE49-F238E27FC236}">
                <a16:creationId xmlns:a16="http://schemas.microsoft.com/office/drawing/2014/main" id="{2B4280EC-C383-1378-CAEA-DC2F7C3E595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499093" y="1758355"/>
            <a:ext cx="1732907" cy="2634019"/>
          </a:xfrm>
          <a:prstGeom prst="rect">
            <a:avLst/>
          </a:prstGeom>
        </p:spPr>
      </p:pic>
      <p:sp>
        <p:nvSpPr>
          <p:cNvPr id="15" name="Footer Placeholder 4">
            <a:extLst>
              <a:ext uri="{FF2B5EF4-FFF2-40B4-BE49-F238E27FC236}">
                <a16:creationId xmlns:a16="http://schemas.microsoft.com/office/drawing/2014/main" id="{7AF36BC1-3D6E-B429-0096-E127F1AB9F66}"/>
              </a:ext>
            </a:extLst>
          </p:cNvPr>
          <p:cNvSpPr>
            <a:spLocks noGrp="1"/>
          </p:cNvSpPr>
          <p:nvPr>
            <p:ph type="ftr" sz="quarter" idx="11"/>
          </p:nvPr>
        </p:nvSpPr>
        <p:spPr>
          <a:xfrm>
            <a:off x="4744224" y="6522444"/>
            <a:ext cx="2703552" cy="216000"/>
          </a:xfrm>
        </p:spPr>
        <p:txBody>
          <a:bodyPr/>
          <a:lstStyle/>
          <a:p>
            <a:pPr algn="ctr"/>
            <a:r>
              <a:rPr lang="de-DE" noProof="0"/>
              <a:t>Results – Toy example: Gaussian Process</a:t>
            </a:r>
            <a:endParaRPr lang="de-CH" noProof="0"/>
          </a:p>
        </p:txBody>
      </p:sp>
      <p:sp>
        <p:nvSpPr>
          <p:cNvPr id="18" name="Google Shape;187;p21">
            <a:extLst>
              <a:ext uri="{FF2B5EF4-FFF2-40B4-BE49-F238E27FC236}">
                <a16:creationId xmlns:a16="http://schemas.microsoft.com/office/drawing/2014/main" id="{21DC593D-E751-FB6D-8FA4-BCB63B986000}"/>
              </a:ext>
            </a:extLst>
          </p:cNvPr>
          <p:cNvSpPr txBox="1"/>
          <p:nvPr/>
        </p:nvSpPr>
        <p:spPr>
          <a:xfrm>
            <a:off x="627922" y="576000"/>
            <a:ext cx="10832239" cy="513000"/>
          </a:xfrm>
          <a:prstGeom prst="rect">
            <a:avLst/>
          </a:prstGeom>
          <a:noFill/>
          <a:ln>
            <a:noFill/>
          </a:ln>
        </p:spPr>
        <p:txBody>
          <a:bodyPr spcFirstLastPara="1" wrap="square" lIns="118900" tIns="118900" rIns="118900" bIns="118900" anchor="b" anchorCtr="0">
            <a:noAutofit/>
          </a:bodyPr>
          <a:lstStyle/>
          <a:p>
            <a:r>
              <a:rPr lang="en-GB" sz="3200"/>
              <a:t>PFNs learn to approximate Gaussian Processes</a:t>
            </a:r>
            <a:endParaRPr lang="en-CH" sz="3200"/>
          </a:p>
        </p:txBody>
      </p:sp>
      <p:grpSp>
        <p:nvGrpSpPr>
          <p:cNvPr id="21" name="Group 20">
            <a:extLst>
              <a:ext uri="{FF2B5EF4-FFF2-40B4-BE49-F238E27FC236}">
                <a16:creationId xmlns:a16="http://schemas.microsoft.com/office/drawing/2014/main" id="{BAD68301-245C-49D9-BD13-AE4E006F6C4B}"/>
              </a:ext>
            </a:extLst>
          </p:cNvPr>
          <p:cNvGrpSpPr/>
          <p:nvPr/>
        </p:nvGrpSpPr>
        <p:grpSpPr>
          <a:xfrm>
            <a:off x="6841109" y="1758355"/>
            <a:ext cx="4759921" cy="3679300"/>
            <a:chOff x="7237272" y="1758355"/>
            <a:chExt cx="4759921" cy="3679300"/>
          </a:xfrm>
        </p:grpSpPr>
        <p:pic>
          <p:nvPicPr>
            <p:cNvPr id="19" name="Picture 18">
              <a:extLst>
                <a:ext uri="{FF2B5EF4-FFF2-40B4-BE49-F238E27FC236}">
                  <a16:creationId xmlns:a16="http://schemas.microsoft.com/office/drawing/2014/main" id="{C4C08B04-1510-4B3E-56CC-8CA94D3E99C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237272" y="2132733"/>
              <a:ext cx="4437657" cy="3304922"/>
            </a:xfrm>
            <a:prstGeom prst="rect">
              <a:avLst/>
            </a:prstGeom>
          </p:spPr>
        </p:pic>
        <p:sp>
          <p:nvSpPr>
            <p:cNvPr id="20" name="Content Placeholder 2">
              <a:extLst>
                <a:ext uri="{FF2B5EF4-FFF2-40B4-BE49-F238E27FC236}">
                  <a16:creationId xmlns:a16="http://schemas.microsoft.com/office/drawing/2014/main" id="{2C55EFC1-2C0B-1A83-DBBD-B8C2D5D62CA3}"/>
                </a:ext>
              </a:extLst>
            </p:cNvPr>
            <p:cNvSpPr txBox="1">
              <a:spLocks/>
            </p:cNvSpPr>
            <p:nvPr/>
          </p:nvSpPr>
          <p:spPr>
            <a:xfrm>
              <a:off x="8058857" y="1758355"/>
              <a:ext cx="3938336" cy="2045145"/>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de-CH"/>
                <a:t>More training = better performance</a:t>
              </a:r>
              <a:endParaRPr lang="en-CH"/>
            </a:p>
          </p:txBody>
        </p:sp>
      </p:grpSp>
      <p:sp>
        <p:nvSpPr>
          <p:cNvPr id="22" name="Footer Placeholder 4">
            <a:extLst>
              <a:ext uri="{FF2B5EF4-FFF2-40B4-BE49-F238E27FC236}">
                <a16:creationId xmlns:a16="http://schemas.microsoft.com/office/drawing/2014/main" id="{51691FC8-42B2-5080-5106-3345C82586E6}"/>
              </a:ext>
            </a:extLst>
          </p:cNvPr>
          <p:cNvSpPr txBox="1">
            <a:spLocks/>
          </p:cNvSpPr>
          <p:nvPr/>
        </p:nvSpPr>
        <p:spPr>
          <a:xfrm>
            <a:off x="455283" y="4695176"/>
            <a:ext cx="4288941" cy="216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Figure: Müller et al. (2022): Transformers can do Bayesian Inference</a:t>
            </a:r>
          </a:p>
        </p:txBody>
      </p:sp>
      <p:sp>
        <p:nvSpPr>
          <p:cNvPr id="23" name="Footer Placeholder 4">
            <a:extLst>
              <a:ext uri="{FF2B5EF4-FFF2-40B4-BE49-F238E27FC236}">
                <a16:creationId xmlns:a16="http://schemas.microsoft.com/office/drawing/2014/main" id="{E4B6D764-ADF0-2045-CEB9-0E9E6BCCB41D}"/>
              </a:ext>
            </a:extLst>
          </p:cNvPr>
          <p:cNvSpPr txBox="1">
            <a:spLocks/>
          </p:cNvSpPr>
          <p:nvPr/>
        </p:nvSpPr>
        <p:spPr>
          <a:xfrm>
            <a:off x="7702673" y="5656050"/>
            <a:ext cx="4288941" cy="216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Figure: Müller et al. (2022): Transformers can do Bayesian Inference</a:t>
            </a:r>
          </a:p>
        </p:txBody>
      </p:sp>
      <p:sp>
        <p:nvSpPr>
          <p:cNvPr id="2" name="Rectangle 1">
            <a:extLst>
              <a:ext uri="{FF2B5EF4-FFF2-40B4-BE49-F238E27FC236}">
                <a16:creationId xmlns:a16="http://schemas.microsoft.com/office/drawing/2014/main" id="{9AC764B7-7020-8D19-59B0-41D489433A54}"/>
              </a:ext>
            </a:extLst>
          </p:cNvPr>
          <p:cNvSpPr/>
          <p:nvPr/>
        </p:nvSpPr>
        <p:spPr>
          <a:xfrm>
            <a:off x="6682637" y="1544165"/>
            <a:ext cx="5054080" cy="4453679"/>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1981305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Content Placeholder 2">
            <a:extLst>
              <a:ext uri="{FF2B5EF4-FFF2-40B4-BE49-F238E27FC236}">
                <a16:creationId xmlns:a16="http://schemas.microsoft.com/office/drawing/2014/main" id="{155913F0-A214-B7AB-28C7-F1D26512C262}"/>
              </a:ext>
            </a:extLst>
          </p:cNvPr>
          <p:cNvSpPr txBox="1">
            <a:spLocks/>
          </p:cNvSpPr>
          <p:nvPr/>
        </p:nvSpPr>
        <p:spPr>
          <a:xfrm>
            <a:off x="731837" y="1914251"/>
            <a:ext cx="5015820" cy="4482514"/>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b="1"/>
              <a:t>1. Sample a neural network architecture:</a:t>
            </a:r>
          </a:p>
          <a:p>
            <a:pPr marL="0" indent="0">
              <a:buNone/>
            </a:pPr>
            <a:br>
              <a:rPr lang="de-CH"/>
            </a:br>
            <a:br>
              <a:rPr lang="de-CH"/>
            </a:br>
            <a:endParaRPr lang="de-CH"/>
          </a:p>
          <a:p>
            <a:pPr marL="0" indent="0">
              <a:buNone/>
            </a:pPr>
            <a:br>
              <a:rPr lang="de-CH"/>
            </a:br>
            <a:br>
              <a:rPr lang="de-CH"/>
            </a:br>
            <a:br>
              <a:rPr lang="de-CH"/>
            </a:br>
            <a:br>
              <a:rPr lang="de-CH"/>
            </a:br>
            <a:br>
              <a:rPr lang="de-CH"/>
            </a:br>
            <a:endParaRPr lang="en-CH"/>
          </a:p>
        </p:txBody>
      </p:sp>
      <p:sp>
        <p:nvSpPr>
          <p:cNvPr id="6" name="Slide Number Placeholder 5">
            <a:extLst>
              <a:ext uri="{FF2B5EF4-FFF2-40B4-BE49-F238E27FC236}">
                <a16:creationId xmlns:a16="http://schemas.microsoft.com/office/drawing/2014/main" id="{F965CE25-5203-6902-9E64-833B3402788C}"/>
              </a:ext>
            </a:extLst>
          </p:cNvPr>
          <p:cNvSpPr>
            <a:spLocks noGrp="1"/>
          </p:cNvSpPr>
          <p:nvPr>
            <p:ph type="sldNum" sz="quarter" idx="12"/>
          </p:nvPr>
        </p:nvSpPr>
        <p:spPr>
          <a:xfrm>
            <a:off x="11137585" y="6522444"/>
            <a:ext cx="322577" cy="216000"/>
          </a:xfrm>
        </p:spPr>
        <p:txBody>
          <a:bodyPr anchor="ctr">
            <a:normAutofit/>
          </a:bodyPr>
          <a:lstStyle/>
          <a:p>
            <a:pPr>
              <a:spcAft>
                <a:spcPts val="600"/>
              </a:spcAft>
            </a:pPr>
            <a:fld id="{5ACA52AF-F19D-405C-AD5F-7D94B96A5CC3}" type="slidenum">
              <a:rPr lang="de-CH" noProof="0" smtClean="0"/>
              <a:pPr>
                <a:spcAft>
                  <a:spcPts val="600"/>
                </a:spcAft>
              </a:pPr>
              <a:t>23</a:t>
            </a:fld>
            <a:endParaRPr lang="de-CH" noProof="0"/>
          </a:p>
        </p:txBody>
      </p:sp>
      <p:pic>
        <p:nvPicPr>
          <p:cNvPr id="9" name="Picture 8">
            <a:extLst>
              <a:ext uri="{FF2B5EF4-FFF2-40B4-BE49-F238E27FC236}">
                <a16:creationId xmlns:a16="http://schemas.microsoft.com/office/drawing/2014/main" id="{841FE31C-2405-A476-28C0-E6A0688F2DAF}"/>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rot="16200000">
            <a:off x="671464" y="2654422"/>
            <a:ext cx="1828066" cy="1824924"/>
          </a:xfrm>
          <a:prstGeom prst="rect">
            <a:avLst/>
          </a:prstGeom>
        </p:spPr>
      </p:pic>
      <p:sp>
        <p:nvSpPr>
          <p:cNvPr id="19" name="Footer Placeholder 4">
            <a:extLst>
              <a:ext uri="{FF2B5EF4-FFF2-40B4-BE49-F238E27FC236}">
                <a16:creationId xmlns:a16="http://schemas.microsoft.com/office/drawing/2014/main" id="{A061229B-F300-0538-57A2-242DDF76C586}"/>
              </a:ext>
            </a:extLst>
          </p:cNvPr>
          <p:cNvSpPr>
            <a:spLocks noGrp="1"/>
          </p:cNvSpPr>
          <p:nvPr>
            <p:ph type="ftr" sz="quarter" idx="11"/>
          </p:nvPr>
        </p:nvSpPr>
        <p:spPr>
          <a:xfrm>
            <a:off x="3951530" y="6522444"/>
            <a:ext cx="4288941" cy="216000"/>
          </a:xfrm>
        </p:spPr>
        <p:txBody>
          <a:bodyPr/>
          <a:lstStyle/>
          <a:p>
            <a:pPr algn="ctr"/>
            <a:r>
              <a:rPr lang="de-DE" noProof="0"/>
              <a:t>Results – BNN</a:t>
            </a:r>
            <a:endParaRPr lang="de-CH" noProof="0"/>
          </a:p>
        </p:txBody>
      </p:sp>
      <p:sp>
        <p:nvSpPr>
          <p:cNvPr id="26" name="Google Shape;187;p21">
            <a:extLst>
              <a:ext uri="{FF2B5EF4-FFF2-40B4-BE49-F238E27FC236}">
                <a16:creationId xmlns:a16="http://schemas.microsoft.com/office/drawing/2014/main" id="{07BD90F3-03A3-909E-D56A-C6CD093292E8}"/>
              </a:ext>
            </a:extLst>
          </p:cNvPr>
          <p:cNvSpPr txBox="1"/>
          <p:nvPr/>
        </p:nvSpPr>
        <p:spPr>
          <a:xfrm>
            <a:off x="627922" y="576000"/>
            <a:ext cx="10832239" cy="513000"/>
          </a:xfrm>
          <a:prstGeom prst="rect">
            <a:avLst/>
          </a:prstGeom>
          <a:noFill/>
          <a:ln>
            <a:noFill/>
          </a:ln>
        </p:spPr>
        <p:txBody>
          <a:bodyPr spcFirstLastPara="1" wrap="square" lIns="118900" tIns="118900" rIns="118900" bIns="118900" anchor="b" anchorCtr="0">
            <a:noAutofit/>
          </a:bodyPr>
          <a:lstStyle/>
          <a:p>
            <a:r>
              <a:rPr lang="en-GB" sz="3200"/>
              <a:t>Binary classification using a BNN prior</a:t>
            </a:r>
            <a:endParaRPr lang="en-CH" sz="3200"/>
          </a:p>
        </p:txBody>
      </p:sp>
      <p:sp>
        <p:nvSpPr>
          <p:cNvPr id="30" name="Content Placeholder 2">
            <a:extLst>
              <a:ext uri="{FF2B5EF4-FFF2-40B4-BE49-F238E27FC236}">
                <a16:creationId xmlns:a16="http://schemas.microsoft.com/office/drawing/2014/main" id="{3DA451F0-B2EF-C2A0-244E-7017FC8990D9}"/>
              </a:ext>
            </a:extLst>
          </p:cNvPr>
          <p:cNvSpPr txBox="1">
            <a:spLocks/>
          </p:cNvSpPr>
          <p:nvPr/>
        </p:nvSpPr>
        <p:spPr>
          <a:xfrm>
            <a:off x="2868210" y="3412181"/>
            <a:ext cx="553229" cy="422117"/>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CH">
                <a:sym typeface="Wingdings" pitchFamily="2" charset="2"/>
              </a:rPr>
              <a:t> </a:t>
            </a:r>
            <a:endParaRPr lang="en-CH"/>
          </a:p>
        </p:txBody>
      </p:sp>
      <p:sp>
        <p:nvSpPr>
          <p:cNvPr id="33" name="Content Placeholder 2">
            <a:extLst>
              <a:ext uri="{FF2B5EF4-FFF2-40B4-BE49-F238E27FC236}">
                <a16:creationId xmlns:a16="http://schemas.microsoft.com/office/drawing/2014/main" id="{666D5AF0-D105-D688-BFE4-38D0109479C1}"/>
              </a:ext>
            </a:extLst>
          </p:cNvPr>
          <p:cNvSpPr txBox="1">
            <a:spLocks/>
          </p:cNvSpPr>
          <p:nvPr/>
        </p:nvSpPr>
        <p:spPr>
          <a:xfrm>
            <a:off x="6145665" y="1914251"/>
            <a:ext cx="6417108" cy="4482514"/>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b="1"/>
              <a:t>2. Sample a dataset </a:t>
            </a:r>
            <a:r>
              <a:rPr lang="de-CH"/>
              <a:t>for the given network:</a:t>
            </a:r>
            <a:br>
              <a:rPr lang="de-CH"/>
            </a:br>
            <a:endParaRPr lang="de-CH"/>
          </a:p>
          <a:p>
            <a:pPr marL="285750" indent="-285750">
              <a:buFont typeface="Arial" panose="020B0604020202020204" pitchFamily="34" charset="0"/>
              <a:buChar char="•"/>
            </a:pPr>
            <a:r>
              <a:rPr lang="de-CH"/>
              <a:t>Sample </a:t>
            </a:r>
            <a:r>
              <a:rPr lang="de-CH" b="1"/>
              <a:t>number of features</a:t>
            </a:r>
          </a:p>
          <a:p>
            <a:pPr marL="285750" indent="-285750">
              <a:buFont typeface="Arial" panose="020B0604020202020204" pitchFamily="34" charset="0"/>
              <a:buChar char="•"/>
            </a:pPr>
            <a:r>
              <a:rPr lang="de-CH"/>
              <a:t>Sample </a:t>
            </a:r>
            <a:r>
              <a:rPr lang="de-CH" b="1"/>
              <a:t>feature values </a:t>
            </a:r>
            <a:r>
              <a:rPr lang="de-CH"/>
              <a:t>iid ~ N(0,1)</a:t>
            </a:r>
          </a:p>
          <a:p>
            <a:pPr marL="285750" indent="-285750">
              <a:buFont typeface="Arial" panose="020B0604020202020204" pitchFamily="34" charset="0"/>
              <a:buChar char="•"/>
            </a:pPr>
            <a:r>
              <a:rPr lang="de-CH"/>
              <a:t>Forward-prop to get response values (</a:t>
            </a:r>
            <a:r>
              <a:rPr lang="de-CH" b="1"/>
              <a:t>logits</a:t>
            </a:r>
            <a:r>
              <a:rPr lang="de-CH"/>
              <a:t>)</a:t>
            </a:r>
          </a:p>
          <a:p>
            <a:pPr marL="285750" indent="-285750">
              <a:buFont typeface="Arial" panose="020B0604020202020204" pitchFamily="34" charset="0"/>
              <a:buChar char="•"/>
            </a:pPr>
            <a:r>
              <a:rPr lang="de-CH"/>
              <a:t>Binarize logits to get </a:t>
            </a:r>
            <a:r>
              <a:rPr lang="de-CH" b="1"/>
              <a:t>classes</a:t>
            </a:r>
            <a:endParaRPr lang="en-CH" b="1"/>
          </a:p>
        </p:txBody>
      </p:sp>
      <p:pic>
        <p:nvPicPr>
          <p:cNvPr id="34" name="Picture 33">
            <a:extLst>
              <a:ext uri="{FF2B5EF4-FFF2-40B4-BE49-F238E27FC236}">
                <a16:creationId xmlns:a16="http://schemas.microsoft.com/office/drawing/2014/main" id="{E52AEBA0-3BBE-F0B9-EF0B-1E43B621702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16200000">
            <a:off x="3761375" y="2611191"/>
            <a:ext cx="1145051" cy="1824925"/>
          </a:xfrm>
          <a:prstGeom prst="rect">
            <a:avLst/>
          </a:prstGeom>
        </p:spPr>
      </p:pic>
      <p:sp>
        <p:nvSpPr>
          <p:cNvPr id="2" name="Rectangle 1">
            <a:extLst>
              <a:ext uri="{FF2B5EF4-FFF2-40B4-BE49-F238E27FC236}">
                <a16:creationId xmlns:a16="http://schemas.microsoft.com/office/drawing/2014/main" id="{755AAF12-A034-5F11-450B-E0EF1C954C54}"/>
              </a:ext>
            </a:extLst>
          </p:cNvPr>
          <p:cNvSpPr/>
          <p:nvPr/>
        </p:nvSpPr>
        <p:spPr>
          <a:xfrm>
            <a:off x="5806459" y="1544165"/>
            <a:ext cx="5653702" cy="4593399"/>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3483954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66405-C4DC-933F-43C0-6558B231E5C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0898952-ECEE-05CC-98D2-49DEAFD471D4}"/>
              </a:ext>
            </a:extLst>
          </p:cNvPr>
          <p:cNvSpPr>
            <a:spLocks noGrp="1"/>
          </p:cNvSpPr>
          <p:nvPr>
            <p:ph type="sldNum" sz="quarter" idx="12"/>
          </p:nvPr>
        </p:nvSpPr>
        <p:spPr>
          <a:xfrm>
            <a:off x="11137585" y="6522444"/>
            <a:ext cx="322577" cy="216000"/>
          </a:xfrm>
        </p:spPr>
        <p:txBody>
          <a:bodyPr anchor="ctr">
            <a:normAutofit/>
          </a:bodyPr>
          <a:lstStyle/>
          <a:p>
            <a:pPr>
              <a:spcAft>
                <a:spcPts val="600"/>
              </a:spcAft>
            </a:pPr>
            <a:fld id="{5ACA52AF-F19D-405C-AD5F-7D94B96A5CC3}" type="slidenum">
              <a:rPr lang="de-CH" noProof="0" smtClean="0"/>
              <a:pPr>
                <a:spcAft>
                  <a:spcPts val="600"/>
                </a:spcAft>
              </a:pPr>
              <a:t>24</a:t>
            </a:fld>
            <a:endParaRPr lang="de-CH" noProof="0"/>
          </a:p>
        </p:txBody>
      </p:sp>
      <p:sp>
        <p:nvSpPr>
          <p:cNvPr id="12" name="Content Placeholder 2">
            <a:extLst>
              <a:ext uri="{FF2B5EF4-FFF2-40B4-BE49-F238E27FC236}">
                <a16:creationId xmlns:a16="http://schemas.microsoft.com/office/drawing/2014/main" id="{3AA6D780-83EA-AE22-7132-E24E4CF0380A}"/>
              </a:ext>
            </a:extLst>
          </p:cNvPr>
          <p:cNvSpPr txBox="1">
            <a:spLocks/>
          </p:cNvSpPr>
          <p:nvPr/>
        </p:nvSpPr>
        <p:spPr>
          <a:xfrm>
            <a:off x="731836" y="1646074"/>
            <a:ext cx="6351135" cy="2111470"/>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b="1"/>
              <a:t>Evaluation</a:t>
            </a:r>
            <a:r>
              <a:rPr lang="de-CH"/>
              <a:t> </a:t>
            </a:r>
          </a:p>
          <a:p>
            <a:pPr marL="285750" indent="-285750">
              <a:buFont typeface="Arial" panose="020B0604020202020204" pitchFamily="34" charset="0"/>
              <a:buChar char="•"/>
            </a:pPr>
            <a:r>
              <a:rPr lang="de-CH"/>
              <a:t>21 </a:t>
            </a:r>
            <a:r>
              <a:rPr lang="de-CH" b="1"/>
              <a:t>real-world datasets, </a:t>
            </a:r>
            <a:r>
              <a:rPr lang="de-CH"/>
              <a:t>20 subsets each</a:t>
            </a:r>
          </a:p>
          <a:p>
            <a:pPr marL="285750" indent="-285750">
              <a:buFont typeface="Arial" panose="020B0604020202020204" pitchFamily="34" charset="0"/>
              <a:buChar char="•"/>
            </a:pPr>
            <a:r>
              <a:rPr lang="de-CH"/>
              <a:t>Simplified to </a:t>
            </a:r>
            <a:r>
              <a:rPr lang="de-CH" b="1"/>
              <a:t>balanced, binary classification </a:t>
            </a:r>
            <a:r>
              <a:rPr lang="de-CH"/>
              <a:t>problems</a:t>
            </a:r>
          </a:p>
          <a:p>
            <a:pPr marL="285750" indent="-285750">
              <a:buFont typeface="Arial" panose="020B0604020202020204" pitchFamily="34" charset="0"/>
              <a:buChar char="•"/>
            </a:pPr>
            <a:r>
              <a:rPr lang="de-CH"/>
              <a:t>With </a:t>
            </a:r>
            <a:r>
              <a:rPr lang="de-CH" b="1"/>
              <a:t>max. 60 features </a:t>
            </a:r>
          </a:p>
          <a:p>
            <a:pPr marL="285750" indent="-285750">
              <a:buFont typeface="Arial" panose="020B0604020202020204" pitchFamily="34" charset="0"/>
              <a:buChar char="•"/>
            </a:pPr>
            <a:r>
              <a:rPr lang="de-CH" b="1"/>
              <a:t>30/70</a:t>
            </a:r>
            <a:r>
              <a:rPr lang="de-CH"/>
              <a:t> split</a:t>
            </a:r>
          </a:p>
          <a:p>
            <a:pPr marL="0" indent="0">
              <a:buNone/>
            </a:pPr>
            <a:endParaRPr lang="en-CH"/>
          </a:p>
        </p:txBody>
      </p:sp>
      <p:sp>
        <p:nvSpPr>
          <p:cNvPr id="13" name="Footer Placeholder 4">
            <a:extLst>
              <a:ext uri="{FF2B5EF4-FFF2-40B4-BE49-F238E27FC236}">
                <a16:creationId xmlns:a16="http://schemas.microsoft.com/office/drawing/2014/main" id="{38CF9F41-488A-C1ED-02C4-9BA34D958E75}"/>
              </a:ext>
            </a:extLst>
          </p:cNvPr>
          <p:cNvSpPr>
            <a:spLocks noGrp="1"/>
          </p:cNvSpPr>
          <p:nvPr>
            <p:ph type="ftr" sz="quarter" idx="11"/>
          </p:nvPr>
        </p:nvSpPr>
        <p:spPr>
          <a:xfrm>
            <a:off x="3951530" y="6522444"/>
            <a:ext cx="4288941" cy="216000"/>
          </a:xfrm>
        </p:spPr>
        <p:txBody>
          <a:bodyPr/>
          <a:lstStyle/>
          <a:p>
            <a:pPr algn="ctr"/>
            <a:r>
              <a:rPr lang="de-DE" noProof="0"/>
              <a:t>Results – BNN</a:t>
            </a:r>
            <a:endParaRPr lang="de-CH" noProof="0"/>
          </a:p>
        </p:txBody>
      </p:sp>
      <p:sp>
        <p:nvSpPr>
          <p:cNvPr id="18" name="Google Shape;187;p21">
            <a:extLst>
              <a:ext uri="{FF2B5EF4-FFF2-40B4-BE49-F238E27FC236}">
                <a16:creationId xmlns:a16="http://schemas.microsoft.com/office/drawing/2014/main" id="{C8D185B0-C16E-917E-5D42-E251D70C6D06}"/>
              </a:ext>
            </a:extLst>
          </p:cNvPr>
          <p:cNvSpPr txBox="1"/>
          <p:nvPr/>
        </p:nvSpPr>
        <p:spPr>
          <a:xfrm>
            <a:off x="627922" y="576000"/>
            <a:ext cx="10832239" cy="513000"/>
          </a:xfrm>
          <a:prstGeom prst="rect">
            <a:avLst/>
          </a:prstGeom>
          <a:noFill/>
          <a:ln>
            <a:noFill/>
          </a:ln>
        </p:spPr>
        <p:txBody>
          <a:bodyPr spcFirstLastPara="1" wrap="square" lIns="118900" tIns="118900" rIns="118900" bIns="118900" anchor="b" anchorCtr="0">
            <a:noAutofit/>
          </a:bodyPr>
          <a:lstStyle/>
          <a:p>
            <a:r>
              <a:rPr lang="de-CH" sz="2800"/>
              <a:t>PFNs outperform baseline methods in terms of </a:t>
            </a:r>
            <a:r>
              <a:rPr lang="en-GB" sz="2800"/>
              <a:t>AUROC</a:t>
            </a:r>
            <a:r>
              <a:rPr lang="de-CH" sz="2800"/>
              <a:t> and speed </a:t>
            </a:r>
            <a:endParaRPr lang="en-CH" sz="2800"/>
          </a:p>
        </p:txBody>
      </p:sp>
      <p:sp>
        <p:nvSpPr>
          <p:cNvPr id="20" name="Content Placeholder 2">
            <a:extLst>
              <a:ext uri="{FF2B5EF4-FFF2-40B4-BE49-F238E27FC236}">
                <a16:creationId xmlns:a16="http://schemas.microsoft.com/office/drawing/2014/main" id="{B35D783B-71DF-D0EA-0B63-6D3DB5FCC886}"/>
              </a:ext>
            </a:extLst>
          </p:cNvPr>
          <p:cNvSpPr txBox="1">
            <a:spLocks/>
          </p:cNvSpPr>
          <p:nvPr/>
        </p:nvSpPr>
        <p:spPr>
          <a:xfrm>
            <a:off x="7517624" y="1522366"/>
            <a:ext cx="3724103" cy="2867463"/>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endParaRPr lang="en-CH"/>
          </a:p>
        </p:txBody>
      </p:sp>
      <p:grpSp>
        <p:nvGrpSpPr>
          <p:cNvPr id="31" name="Group 30">
            <a:extLst>
              <a:ext uri="{FF2B5EF4-FFF2-40B4-BE49-F238E27FC236}">
                <a16:creationId xmlns:a16="http://schemas.microsoft.com/office/drawing/2014/main" id="{9DC27DBF-2B9F-2330-A538-D521837F5700}"/>
              </a:ext>
            </a:extLst>
          </p:cNvPr>
          <p:cNvGrpSpPr/>
          <p:nvPr/>
        </p:nvGrpSpPr>
        <p:grpSpPr>
          <a:xfrm>
            <a:off x="1832695" y="3853900"/>
            <a:ext cx="9685629" cy="2176429"/>
            <a:chOff x="1170994" y="2778493"/>
            <a:chExt cx="10565209" cy="2374077"/>
          </a:xfrm>
        </p:grpSpPr>
        <p:pic>
          <p:nvPicPr>
            <p:cNvPr id="11" name="Picture 10">
              <a:extLst>
                <a:ext uri="{FF2B5EF4-FFF2-40B4-BE49-F238E27FC236}">
                  <a16:creationId xmlns:a16="http://schemas.microsoft.com/office/drawing/2014/main" id="{C153D848-61B4-32A5-8887-28883761C06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70994" y="2778493"/>
              <a:ext cx="10565209" cy="2374077"/>
            </a:xfrm>
            <a:prstGeom prst="rect">
              <a:avLst/>
            </a:prstGeom>
          </p:spPr>
        </p:pic>
        <p:sp>
          <p:nvSpPr>
            <p:cNvPr id="14" name="Rectangle 13">
              <a:extLst>
                <a:ext uri="{FF2B5EF4-FFF2-40B4-BE49-F238E27FC236}">
                  <a16:creationId xmlns:a16="http://schemas.microsoft.com/office/drawing/2014/main" id="{C65B02BF-B41F-5A74-6184-A31A307288ED}"/>
                </a:ext>
              </a:extLst>
            </p:cNvPr>
            <p:cNvSpPr/>
            <p:nvPr/>
          </p:nvSpPr>
          <p:spPr>
            <a:xfrm>
              <a:off x="5305364" y="3375691"/>
              <a:ext cx="734325" cy="10464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 name="Rectangle 16">
              <a:extLst>
                <a:ext uri="{FF2B5EF4-FFF2-40B4-BE49-F238E27FC236}">
                  <a16:creationId xmlns:a16="http://schemas.microsoft.com/office/drawing/2014/main" id="{45A5D080-A3F2-8D96-3EF8-649EE71B5304}"/>
                </a:ext>
              </a:extLst>
            </p:cNvPr>
            <p:cNvSpPr/>
            <p:nvPr/>
          </p:nvSpPr>
          <p:spPr>
            <a:xfrm>
              <a:off x="5210399" y="2939389"/>
              <a:ext cx="882604" cy="3523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6" name="Rectangle 25">
              <a:extLst>
                <a:ext uri="{FF2B5EF4-FFF2-40B4-BE49-F238E27FC236}">
                  <a16:creationId xmlns:a16="http://schemas.microsoft.com/office/drawing/2014/main" id="{AC74FF5B-E8A8-8CF8-E826-B4E2A78C13BA}"/>
                </a:ext>
              </a:extLst>
            </p:cNvPr>
            <p:cNvSpPr/>
            <p:nvPr/>
          </p:nvSpPr>
          <p:spPr>
            <a:xfrm>
              <a:off x="1364343" y="3933370"/>
              <a:ext cx="10199735" cy="2459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9" name="Content Placeholder 2">
              <a:extLst>
                <a:ext uri="{FF2B5EF4-FFF2-40B4-BE49-F238E27FC236}">
                  <a16:creationId xmlns:a16="http://schemas.microsoft.com/office/drawing/2014/main" id="{1A319C2E-E530-339E-0AD0-66FF516AC8B5}"/>
                </a:ext>
              </a:extLst>
            </p:cNvPr>
            <p:cNvSpPr txBox="1">
              <a:spLocks/>
            </p:cNvSpPr>
            <p:nvPr/>
          </p:nvSpPr>
          <p:spPr>
            <a:xfrm>
              <a:off x="4957602" y="3377397"/>
              <a:ext cx="528798" cy="313160"/>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b="1"/>
                <a:t>***</a:t>
              </a:r>
              <a:endParaRPr lang="en-CH"/>
            </a:p>
          </p:txBody>
        </p:sp>
      </p:grpSp>
      <p:sp>
        <p:nvSpPr>
          <p:cNvPr id="32" name="Footer Placeholder 4">
            <a:extLst>
              <a:ext uri="{FF2B5EF4-FFF2-40B4-BE49-F238E27FC236}">
                <a16:creationId xmlns:a16="http://schemas.microsoft.com/office/drawing/2014/main" id="{CE4B7BB0-02D0-B842-05B2-B416E080BE8C}"/>
              </a:ext>
            </a:extLst>
          </p:cNvPr>
          <p:cNvSpPr txBox="1">
            <a:spLocks/>
          </p:cNvSpPr>
          <p:nvPr/>
        </p:nvSpPr>
        <p:spPr>
          <a:xfrm>
            <a:off x="7384942" y="6003622"/>
            <a:ext cx="4225086" cy="216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Table adapted from Müller et al. (2022): Transformers can do Bayesian Inference, Table 1.</a:t>
            </a:r>
          </a:p>
        </p:txBody>
      </p:sp>
    </p:spTree>
    <p:extLst>
      <p:ext uri="{BB962C8B-B14F-4D97-AF65-F5344CB8AC3E}">
        <p14:creationId xmlns:p14="http://schemas.microsoft.com/office/powerpoint/2010/main" val="38711717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ouble Brace 6">
            <a:extLst>
              <a:ext uri="{FF2B5EF4-FFF2-40B4-BE49-F238E27FC236}">
                <a16:creationId xmlns:a16="http://schemas.microsoft.com/office/drawing/2014/main" id="{ED4D6C19-502E-5A06-F8B8-BBB5C0501C7A}"/>
              </a:ext>
            </a:extLst>
          </p:cNvPr>
          <p:cNvSpPr/>
          <p:nvPr/>
        </p:nvSpPr>
        <p:spPr>
          <a:xfrm>
            <a:off x="2551744" y="3222715"/>
            <a:ext cx="689231" cy="1800314"/>
          </a:xfrm>
          <a:prstGeom prst="bracePair">
            <a:avLst/>
          </a:prstGeom>
          <a:ln w="12700">
            <a:solidFill>
              <a:srgbClr val="9C7FB8"/>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sp>
        <p:nvSpPr>
          <p:cNvPr id="5" name="Double Brace 4">
            <a:extLst>
              <a:ext uri="{FF2B5EF4-FFF2-40B4-BE49-F238E27FC236}">
                <a16:creationId xmlns:a16="http://schemas.microsoft.com/office/drawing/2014/main" id="{110F47D7-6DAF-61F1-FD21-DF174485FC9C}"/>
              </a:ext>
            </a:extLst>
          </p:cNvPr>
          <p:cNvSpPr/>
          <p:nvPr/>
        </p:nvSpPr>
        <p:spPr>
          <a:xfrm rot="5400000">
            <a:off x="3571255" y="2563125"/>
            <a:ext cx="516887" cy="1511106"/>
          </a:xfrm>
          <a:prstGeom prst="bracePair">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sp>
        <p:nvSpPr>
          <p:cNvPr id="4" name="Double Brace 3">
            <a:extLst>
              <a:ext uri="{FF2B5EF4-FFF2-40B4-BE49-F238E27FC236}">
                <a16:creationId xmlns:a16="http://schemas.microsoft.com/office/drawing/2014/main" id="{4F37F3A2-AFBC-FD01-5DA8-6DB6E2A030D8}"/>
              </a:ext>
            </a:extLst>
          </p:cNvPr>
          <p:cNvSpPr/>
          <p:nvPr/>
        </p:nvSpPr>
        <p:spPr>
          <a:xfrm rot="5400000">
            <a:off x="6996562" y="2447750"/>
            <a:ext cx="592886" cy="1758622"/>
          </a:xfrm>
          <a:prstGeom prst="bracePair">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sp>
        <p:nvSpPr>
          <p:cNvPr id="3" name="Double Brace 2">
            <a:extLst>
              <a:ext uri="{FF2B5EF4-FFF2-40B4-BE49-F238E27FC236}">
                <a16:creationId xmlns:a16="http://schemas.microsoft.com/office/drawing/2014/main" id="{31E940F1-9AEE-75C1-5CEF-8A84A93001CC}"/>
              </a:ext>
            </a:extLst>
          </p:cNvPr>
          <p:cNvSpPr/>
          <p:nvPr/>
        </p:nvSpPr>
        <p:spPr>
          <a:xfrm>
            <a:off x="5526265" y="3214487"/>
            <a:ext cx="689231" cy="1800314"/>
          </a:xfrm>
          <a:prstGeom prst="bracePair">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sp>
        <p:nvSpPr>
          <p:cNvPr id="2" name="Double Brace 1">
            <a:extLst>
              <a:ext uri="{FF2B5EF4-FFF2-40B4-BE49-F238E27FC236}">
                <a16:creationId xmlns:a16="http://schemas.microsoft.com/office/drawing/2014/main" id="{89704A93-396F-11DD-EC20-707DD64C6E32}"/>
              </a:ext>
            </a:extLst>
          </p:cNvPr>
          <p:cNvSpPr/>
          <p:nvPr/>
        </p:nvSpPr>
        <p:spPr>
          <a:xfrm>
            <a:off x="5864043" y="3205297"/>
            <a:ext cx="428981" cy="999431"/>
          </a:xfrm>
          <a:prstGeom prst="bracePair">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pic>
        <p:nvPicPr>
          <p:cNvPr id="7183" name="Picture 7182">
            <a:extLst>
              <a:ext uri="{FF2B5EF4-FFF2-40B4-BE49-F238E27FC236}">
                <a16:creationId xmlns:a16="http://schemas.microsoft.com/office/drawing/2014/main" id="{EB41F01A-83AB-1FA6-2E1D-1622F1AE1B8E}"/>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9217533" y="3166104"/>
            <a:ext cx="2634087" cy="1943179"/>
          </a:xfrm>
          <a:prstGeom prst="rect">
            <a:avLst/>
          </a:prstGeom>
        </p:spPr>
      </p:pic>
      <p:pic>
        <p:nvPicPr>
          <p:cNvPr id="7180" name="Picture 7179">
            <a:extLst>
              <a:ext uri="{FF2B5EF4-FFF2-40B4-BE49-F238E27FC236}">
                <a16:creationId xmlns:a16="http://schemas.microsoft.com/office/drawing/2014/main" id="{F5978261-F879-C6AC-ADC9-9D8ECE921F7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970856" y="3136462"/>
            <a:ext cx="2683037" cy="1972821"/>
          </a:xfrm>
          <a:prstGeom prst="rect">
            <a:avLst/>
          </a:prstGeom>
        </p:spPr>
      </p:pic>
      <p:sp>
        <p:nvSpPr>
          <p:cNvPr id="6" name="Slide Number Placeholder 5">
            <a:extLst>
              <a:ext uri="{FF2B5EF4-FFF2-40B4-BE49-F238E27FC236}">
                <a16:creationId xmlns:a16="http://schemas.microsoft.com/office/drawing/2014/main" id="{A916C670-DA30-7416-A20B-5F58667733B3}"/>
              </a:ext>
            </a:extLst>
          </p:cNvPr>
          <p:cNvSpPr>
            <a:spLocks noGrp="1"/>
          </p:cNvSpPr>
          <p:nvPr>
            <p:ph type="sldNum" sz="quarter" idx="12"/>
          </p:nvPr>
        </p:nvSpPr>
        <p:spPr/>
        <p:txBody>
          <a:bodyPr/>
          <a:lstStyle/>
          <a:p>
            <a:fld id="{5ACA52AF-F19D-405C-AD5F-7D94B96A5CC3}" type="slidenum">
              <a:rPr lang="de-CH" noProof="0" smtClean="0"/>
              <a:t>25</a:t>
            </a:fld>
            <a:endParaRPr lang="de-CH" noProof="0"/>
          </a:p>
        </p:txBody>
      </p:sp>
      <p:sp>
        <p:nvSpPr>
          <p:cNvPr id="10" name="Content Placeholder 2">
            <a:extLst>
              <a:ext uri="{FF2B5EF4-FFF2-40B4-BE49-F238E27FC236}">
                <a16:creationId xmlns:a16="http://schemas.microsoft.com/office/drawing/2014/main" id="{BB48A6D0-22E9-E100-9B31-26ABF0EBBBA2}"/>
              </a:ext>
            </a:extLst>
          </p:cNvPr>
          <p:cNvSpPr txBox="1">
            <a:spLocks/>
          </p:cNvSpPr>
          <p:nvPr/>
        </p:nvSpPr>
        <p:spPr>
          <a:xfrm>
            <a:off x="808037" y="2185109"/>
            <a:ext cx="715963" cy="348173"/>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CH" b="1"/>
              <a:t>Prior</a:t>
            </a:r>
          </a:p>
        </p:txBody>
      </p:sp>
      <p:sp>
        <p:nvSpPr>
          <p:cNvPr id="86" name="Content Placeholder 2">
            <a:extLst>
              <a:ext uri="{FF2B5EF4-FFF2-40B4-BE49-F238E27FC236}">
                <a16:creationId xmlns:a16="http://schemas.microsoft.com/office/drawing/2014/main" id="{BF3070E1-28A3-7DD1-B4AB-F28169868B84}"/>
              </a:ext>
            </a:extLst>
          </p:cNvPr>
          <p:cNvSpPr txBox="1">
            <a:spLocks/>
          </p:cNvSpPr>
          <p:nvPr/>
        </p:nvSpPr>
        <p:spPr>
          <a:xfrm>
            <a:off x="5242313" y="2029934"/>
            <a:ext cx="3255963" cy="689549"/>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mj-lt"/>
              <a:buNone/>
            </a:pPr>
            <a:r>
              <a:rPr lang="en-CH" b="1"/>
              <a:t>Fine-Tuning</a:t>
            </a:r>
            <a:r>
              <a:rPr lang="en-CH"/>
              <a:t> </a:t>
            </a:r>
            <a:br>
              <a:rPr lang="en-CH"/>
            </a:br>
            <a:r>
              <a:rPr lang="en-CH"/>
              <a:t>on 30 alphabets</a:t>
            </a:r>
          </a:p>
        </p:txBody>
      </p:sp>
      <p:sp>
        <p:nvSpPr>
          <p:cNvPr id="87" name="Content Placeholder 2">
            <a:extLst>
              <a:ext uri="{FF2B5EF4-FFF2-40B4-BE49-F238E27FC236}">
                <a16:creationId xmlns:a16="http://schemas.microsoft.com/office/drawing/2014/main" id="{FF62430D-566F-0CA8-4075-1825F05ABE73}"/>
              </a:ext>
            </a:extLst>
          </p:cNvPr>
          <p:cNvSpPr txBox="1">
            <a:spLocks/>
          </p:cNvSpPr>
          <p:nvPr/>
        </p:nvSpPr>
        <p:spPr>
          <a:xfrm>
            <a:off x="2827773" y="2029934"/>
            <a:ext cx="1961420" cy="689549"/>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mj-lt"/>
              <a:buNone/>
            </a:pPr>
            <a:r>
              <a:rPr lang="en-CH" b="1"/>
              <a:t>Pretraining</a:t>
            </a:r>
            <a:br>
              <a:rPr lang="en-CH"/>
            </a:br>
            <a:r>
              <a:rPr lang="en-CH"/>
              <a:t>on synthetic data</a:t>
            </a:r>
          </a:p>
        </p:txBody>
      </p:sp>
      <p:sp>
        <p:nvSpPr>
          <p:cNvPr id="89" name="Content Placeholder 2">
            <a:extLst>
              <a:ext uri="{FF2B5EF4-FFF2-40B4-BE49-F238E27FC236}">
                <a16:creationId xmlns:a16="http://schemas.microsoft.com/office/drawing/2014/main" id="{9E836F68-95B0-A4E0-3C6E-D71AF5B44312}"/>
              </a:ext>
            </a:extLst>
          </p:cNvPr>
          <p:cNvSpPr txBox="1">
            <a:spLocks/>
          </p:cNvSpPr>
          <p:nvPr/>
        </p:nvSpPr>
        <p:spPr>
          <a:xfrm>
            <a:off x="9435933" y="2029934"/>
            <a:ext cx="2155742" cy="515297"/>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mj-lt"/>
              <a:buNone/>
            </a:pPr>
            <a:r>
              <a:rPr lang="en-CH" b="1"/>
              <a:t>Evaluation</a:t>
            </a:r>
            <a:r>
              <a:rPr lang="en-CH"/>
              <a:t> </a:t>
            </a:r>
            <a:br>
              <a:rPr lang="en-CH"/>
            </a:br>
            <a:r>
              <a:rPr lang="en-CH"/>
              <a:t>on 20 new alphabets</a:t>
            </a:r>
          </a:p>
        </p:txBody>
      </p:sp>
      <p:pic>
        <p:nvPicPr>
          <p:cNvPr id="93" name="Picture 92">
            <a:extLst>
              <a:ext uri="{FF2B5EF4-FFF2-40B4-BE49-F238E27FC236}">
                <a16:creationId xmlns:a16="http://schemas.microsoft.com/office/drawing/2014/main" id="{DFFC3113-2C1A-8CF9-4761-00A07E432172}"/>
              </a:ext>
            </a:extLst>
          </p:cNvPr>
          <p:cNvPicPr>
            <a:picLocks noChangeAspect="1"/>
          </p:cNvPicPr>
          <p:nvPr/>
        </p:nvPicPr>
        <p:blipFill>
          <a:blip r:embed="rId5" cstate="screen">
            <a:extLst>
              <a:ext uri="{BEBA8EAE-BF5A-486C-A8C5-ECC9F3942E4B}">
                <a14:imgProps xmlns:a14="http://schemas.microsoft.com/office/drawing/2010/main">
                  <a14:imgLayer r:embed="rId6">
                    <a14:imgEffect>
                      <a14:brightnessContrast contrast="-20000"/>
                    </a14:imgEffect>
                  </a14:imgLayer>
                </a14:imgProps>
              </a:ext>
              <a:ext uri="{28A0092B-C50C-407E-A947-70E740481C1C}">
                <a14:useLocalDpi xmlns:a14="http://schemas.microsoft.com/office/drawing/2010/main"/>
              </a:ext>
            </a:extLst>
          </a:blip>
          <a:srcRect/>
          <a:stretch>
            <a:fillRect/>
          </a:stretch>
        </p:blipFill>
        <p:spPr>
          <a:xfrm>
            <a:off x="2640585" y="3140784"/>
            <a:ext cx="2364039" cy="2036970"/>
          </a:xfrm>
          <a:prstGeom prst="rect">
            <a:avLst/>
          </a:prstGeom>
        </p:spPr>
      </p:pic>
      <p:sp>
        <p:nvSpPr>
          <p:cNvPr id="96" name="Content Placeholder 2">
            <a:extLst>
              <a:ext uri="{FF2B5EF4-FFF2-40B4-BE49-F238E27FC236}">
                <a16:creationId xmlns:a16="http://schemas.microsoft.com/office/drawing/2014/main" id="{82F07F06-9866-75AE-8AAD-5ACCFF6F1A06}"/>
              </a:ext>
            </a:extLst>
          </p:cNvPr>
          <p:cNvSpPr txBox="1">
            <a:spLocks/>
          </p:cNvSpPr>
          <p:nvPr/>
        </p:nvSpPr>
        <p:spPr>
          <a:xfrm rot="16200000">
            <a:off x="1950259" y="3938043"/>
            <a:ext cx="1071584" cy="343090"/>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de-CH" sz="1400">
                <a:solidFill>
                  <a:srgbClr val="A693BA"/>
                </a:solidFill>
              </a:rPr>
              <a:t>5 prototypes</a:t>
            </a:r>
            <a:endParaRPr lang="en-CH" sz="1400">
              <a:solidFill>
                <a:srgbClr val="A693BA"/>
              </a:solidFill>
            </a:endParaRPr>
          </a:p>
        </p:txBody>
      </p:sp>
      <p:sp>
        <p:nvSpPr>
          <p:cNvPr id="98" name="Content Placeholder 2">
            <a:extLst>
              <a:ext uri="{FF2B5EF4-FFF2-40B4-BE49-F238E27FC236}">
                <a16:creationId xmlns:a16="http://schemas.microsoft.com/office/drawing/2014/main" id="{846F5D14-60C1-EF4E-FE09-309603E9F2A8}"/>
              </a:ext>
            </a:extLst>
          </p:cNvPr>
          <p:cNvSpPr txBox="1">
            <a:spLocks/>
          </p:cNvSpPr>
          <p:nvPr/>
        </p:nvSpPr>
        <p:spPr>
          <a:xfrm>
            <a:off x="3391241" y="2813201"/>
            <a:ext cx="1046192" cy="314416"/>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de-CH" sz="1400"/>
              <a:t>5 examples</a:t>
            </a:r>
            <a:endParaRPr lang="en-CH" sz="1400"/>
          </a:p>
        </p:txBody>
      </p:sp>
      <mc:AlternateContent xmlns:mc="http://schemas.openxmlformats.org/markup-compatibility/2006" xmlns:a14="http://schemas.microsoft.com/office/drawing/2010/main">
        <mc:Choice Requires="a14">
          <p:sp>
            <p:nvSpPr>
              <p:cNvPr id="100" name="Content Placeholder 2">
                <a:extLst>
                  <a:ext uri="{FF2B5EF4-FFF2-40B4-BE49-F238E27FC236}">
                    <a16:creationId xmlns:a16="http://schemas.microsoft.com/office/drawing/2014/main" id="{7F4AA066-FB9F-7AF6-7899-B3FD803E0926}"/>
                  </a:ext>
                </a:extLst>
              </p:cNvPr>
              <p:cNvSpPr txBox="1">
                <a:spLocks/>
              </p:cNvSpPr>
              <p:nvPr/>
            </p:nvSpPr>
            <p:spPr>
              <a:xfrm>
                <a:off x="4879752" y="1824230"/>
                <a:ext cx="1010283" cy="721758"/>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14:m>
                  <m:oMathPara xmlns:m="http://schemas.openxmlformats.org/officeDocument/2006/math">
                    <m:oMathParaPr>
                      <m:jc m:val="centerGroup"/>
                    </m:oMathParaPr>
                    <m:oMath xmlns:m="http://schemas.openxmlformats.org/officeDocument/2006/math">
                      <m:r>
                        <a:rPr lang="de-CH" sz="2000" b="1" i="1">
                          <a:solidFill>
                            <a:schemeClr val="tx1"/>
                          </a:solidFill>
                          <a:latin typeface="Cambria Math" panose="02040503050406030204" pitchFamily="18" charset="0"/>
                          <a:ea typeface="Cambria Math" panose="02040503050406030204" pitchFamily="18" charset="0"/>
                        </a:rPr>
                        <m:t> </m:t>
                      </m:r>
                    </m:oMath>
                  </m:oMathPara>
                </a14:m>
                <a:endParaRPr lang="de-CH" sz="2000" b="1" i="1">
                  <a:solidFill>
                    <a:schemeClr val="tx1"/>
                  </a:solidFill>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groupChr>
                        <m:groupChrPr>
                          <m:chr m:val="→"/>
                          <m:vertJc m:val="bot"/>
                          <m:ctrlPr>
                            <a:rPr lang="en-GB" sz="2000" b="1" i="1">
                              <a:solidFill>
                                <a:schemeClr val="tx1"/>
                              </a:solidFill>
                              <a:latin typeface="Cambria Math" panose="02040503050406030204" pitchFamily="18" charset="0"/>
                            </a:rPr>
                          </m:ctrlPr>
                        </m:groupChrPr>
                        <m:e>
                          <m:sSub>
                            <m:sSubPr>
                              <m:ctrlPr>
                                <a:rPr lang="en-GB" sz="2000" b="1" i="1">
                                  <a:latin typeface="Cambria Math" panose="02040503050406030204" pitchFamily="18" charset="0"/>
                                </a:rPr>
                              </m:ctrlPr>
                            </m:sSubPr>
                            <m:e>
                              <m:r>
                                <m:rPr>
                                  <m:nor/>
                                </m:rPr>
                                <a:rPr lang="de-CH" sz="2000" b="1" i="0">
                                  <a:latin typeface="Cambria Math" panose="02040503050406030204" pitchFamily="18" charset="0"/>
                                </a:rPr>
                                <m:t>T</m:t>
                              </m:r>
                            </m:e>
                            <m:sub>
                              <m:acc>
                                <m:accPr>
                                  <m:chr m:val="̂"/>
                                  <m:ctrlPr>
                                    <a:rPr lang="de-CH" sz="2000" b="1" i="1">
                                      <a:solidFill>
                                        <a:schemeClr val="tx1"/>
                                      </a:solidFill>
                                      <a:latin typeface="Cambria Math" panose="02040503050406030204" pitchFamily="18" charset="0"/>
                                    </a:rPr>
                                  </m:ctrlPr>
                                </m:accPr>
                                <m:e>
                                  <m:r>
                                    <a:rPr lang="de-CH" sz="2000" b="1" i="1">
                                      <a:latin typeface="Cambria Math" panose="02040503050406030204" pitchFamily="18" charset="0"/>
                                      <a:ea typeface="Cambria Math" panose="02040503050406030204" pitchFamily="18" charset="0"/>
                                    </a:rPr>
                                    <m:t>𝜽</m:t>
                                  </m:r>
                                </m:e>
                              </m:acc>
                            </m:sub>
                          </m:sSub>
                          <m:r>
                            <m:rPr>
                              <m:nor/>
                            </m:rPr>
                            <a:rPr lang="de-CH" sz="2000" b="1" i="0">
                              <a:latin typeface="Cambria Math" panose="02040503050406030204" pitchFamily="18" charset="0"/>
                              <a:ea typeface="Cambria Math" panose="02040503050406030204" pitchFamily="18" charset="0"/>
                            </a:rPr>
                            <m:t> </m:t>
                          </m:r>
                        </m:e>
                      </m:groupChr>
                    </m:oMath>
                  </m:oMathPara>
                </a14:m>
                <a:endParaRPr lang="en-GB" sz="2000" b="1">
                  <a:solidFill>
                    <a:schemeClr val="tx1"/>
                  </a:solidFill>
                </a:endParaRPr>
              </a:p>
            </p:txBody>
          </p:sp>
        </mc:Choice>
        <mc:Fallback xmlns="">
          <p:sp>
            <p:nvSpPr>
              <p:cNvPr id="100" name="Content Placeholder 2">
                <a:extLst>
                  <a:ext uri="{FF2B5EF4-FFF2-40B4-BE49-F238E27FC236}">
                    <a16:creationId xmlns:a16="http://schemas.microsoft.com/office/drawing/2014/main" id="{7F4AA066-FB9F-7AF6-7899-B3FD803E0926}"/>
                  </a:ext>
                </a:extLst>
              </p:cNvPr>
              <p:cNvSpPr txBox="1">
                <a:spLocks noRot="1" noChangeAspect="1" noMove="1" noResize="1" noEditPoints="1" noAdjustHandles="1" noChangeArrowheads="1" noChangeShapeType="1" noTextEdit="1"/>
              </p:cNvSpPr>
              <p:nvPr/>
            </p:nvSpPr>
            <p:spPr>
              <a:xfrm>
                <a:off x="4879752" y="1824230"/>
                <a:ext cx="1010283" cy="721758"/>
              </a:xfrm>
              <a:prstGeom prst="rect">
                <a:avLst/>
              </a:prstGeom>
              <a:blipFill>
                <a:blip r:embed="rId9"/>
                <a:stretch>
                  <a:fillRect t="-1724"/>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101" name="Content Placeholder 2">
                <a:extLst>
                  <a:ext uri="{FF2B5EF4-FFF2-40B4-BE49-F238E27FC236}">
                    <a16:creationId xmlns:a16="http://schemas.microsoft.com/office/drawing/2014/main" id="{0412F5DA-D0D4-0824-6DAD-29E4DA737191}"/>
                  </a:ext>
                </a:extLst>
              </p:cNvPr>
              <p:cNvSpPr txBox="1">
                <a:spLocks/>
              </p:cNvSpPr>
              <p:nvPr/>
            </p:nvSpPr>
            <p:spPr>
              <a:xfrm>
                <a:off x="1491899" y="1603035"/>
                <a:ext cx="1289251" cy="1071584"/>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14:m>
                  <m:oMathPara xmlns:m="http://schemas.openxmlformats.org/officeDocument/2006/math">
                    <m:oMathParaPr>
                      <m:jc m:val="centerGroup"/>
                    </m:oMathParaPr>
                    <m:oMath xmlns:m="http://schemas.openxmlformats.org/officeDocument/2006/math">
                      <m:r>
                        <a:rPr lang="de-CH" sz="2000" b="1" i="1">
                          <a:solidFill>
                            <a:schemeClr val="tx1"/>
                          </a:solidFill>
                          <a:latin typeface="Cambria Math" panose="02040503050406030204" pitchFamily="18" charset="0"/>
                          <a:ea typeface="Cambria Math" panose="02040503050406030204" pitchFamily="18" charset="0"/>
                        </a:rPr>
                        <m:t> </m:t>
                      </m:r>
                    </m:oMath>
                  </m:oMathPara>
                </a14:m>
                <a:endParaRPr lang="de-CH" sz="2000" b="1" i="1">
                  <a:solidFill>
                    <a:schemeClr val="tx1"/>
                  </a:solidFill>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groupChr>
                        <m:groupChrPr>
                          <m:chr m:val="→"/>
                          <m:vertJc m:val="bot"/>
                          <m:ctrlPr>
                            <a:rPr lang="en-GB" sz="1600" i="1">
                              <a:solidFill>
                                <a:schemeClr val="tx1"/>
                              </a:solidFill>
                              <a:latin typeface="Cambria Math" panose="02040503050406030204" pitchFamily="18" charset="0"/>
                            </a:rPr>
                          </m:ctrlPr>
                        </m:groupChrPr>
                        <m:e>
                          <m:eqArr>
                            <m:eqArrPr>
                              <m:ctrlPr>
                                <a:rPr lang="de-CH" sz="1600" i="1">
                                  <a:latin typeface="Cambria Math" panose="02040503050406030204" pitchFamily="18" charset="0"/>
                                </a:rPr>
                              </m:ctrlPr>
                            </m:eqArrPr>
                            <m:e>
                              <m:r>
                                <m:rPr>
                                  <m:nor/>
                                </m:rPr>
                                <a:rPr lang="de-CH" sz="1600" i="0"/>
                                <m:t> </m:t>
                              </m:r>
                            </m:e>
                            <m:e>
                              <m:r>
                                <m:rPr>
                                  <m:nor/>
                                </m:rPr>
                                <a:rPr lang="de-CH" sz="1600" i="0"/>
                                <m:t>prototype</m:t>
                              </m:r>
                            </m:e>
                            <m:e>
                              <m:r>
                                <m:rPr>
                                  <m:nor/>
                                </m:rPr>
                                <a:rPr lang="de-CH" sz="1600" b="0" i="0"/>
                                <m:t> </m:t>
                              </m:r>
                              <m:r>
                                <m:rPr>
                                  <m:nor/>
                                </m:rPr>
                                <a:rPr lang="de-CH" sz="1600" i="0"/>
                                <m:t>samples</m:t>
                              </m:r>
                              <m:r>
                                <m:rPr>
                                  <m:nor/>
                                </m:rPr>
                                <a:rPr lang="de-CH" sz="1600" i="0">
                                  <a:ea typeface="Cambria Math" panose="02040503050406030204" pitchFamily="18" charset="0"/>
                                </a:rPr>
                                <m:t> </m:t>
                              </m:r>
                            </m:e>
                          </m:eqArr>
                        </m:e>
                      </m:groupChr>
                    </m:oMath>
                  </m:oMathPara>
                </a14:m>
                <a:endParaRPr lang="en-GB" sz="1600">
                  <a:solidFill>
                    <a:schemeClr val="tx1"/>
                  </a:solidFill>
                </a:endParaRPr>
              </a:p>
            </p:txBody>
          </p:sp>
        </mc:Choice>
        <mc:Fallback xmlns="">
          <p:sp>
            <p:nvSpPr>
              <p:cNvPr id="101" name="Content Placeholder 2">
                <a:extLst>
                  <a:ext uri="{FF2B5EF4-FFF2-40B4-BE49-F238E27FC236}">
                    <a16:creationId xmlns:a16="http://schemas.microsoft.com/office/drawing/2014/main" id="{0412F5DA-D0D4-0824-6DAD-29E4DA737191}"/>
                  </a:ext>
                </a:extLst>
              </p:cNvPr>
              <p:cNvSpPr txBox="1">
                <a:spLocks noRot="1" noChangeAspect="1" noMove="1" noResize="1" noEditPoints="1" noAdjustHandles="1" noChangeArrowheads="1" noChangeShapeType="1" noTextEdit="1"/>
              </p:cNvSpPr>
              <p:nvPr/>
            </p:nvSpPr>
            <p:spPr>
              <a:xfrm>
                <a:off x="1491899" y="1603035"/>
                <a:ext cx="1289251" cy="1071584"/>
              </a:xfrm>
              <a:prstGeom prst="rect">
                <a:avLst/>
              </a:prstGeom>
              <a:blipFill>
                <a:blip r:embed="rId10"/>
                <a:stretch>
                  <a:fillRect t="-2353"/>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102" name="Content Placeholder 2">
                <a:extLst>
                  <a:ext uri="{FF2B5EF4-FFF2-40B4-BE49-F238E27FC236}">
                    <a16:creationId xmlns:a16="http://schemas.microsoft.com/office/drawing/2014/main" id="{A13A6B77-320F-BFF9-F3C7-623E9C57855A}"/>
                  </a:ext>
                </a:extLst>
              </p:cNvPr>
              <p:cNvSpPr txBox="1">
                <a:spLocks/>
              </p:cNvSpPr>
              <p:nvPr/>
            </p:nvSpPr>
            <p:spPr>
              <a:xfrm>
                <a:off x="8381551" y="1865929"/>
                <a:ext cx="1010283" cy="721758"/>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14:m>
                  <m:oMathPara xmlns:m="http://schemas.openxmlformats.org/officeDocument/2006/math">
                    <m:oMathParaPr>
                      <m:jc m:val="centerGroup"/>
                    </m:oMathParaPr>
                    <m:oMath xmlns:m="http://schemas.openxmlformats.org/officeDocument/2006/math">
                      <m:r>
                        <a:rPr lang="de-CH" sz="2000" b="1" i="1">
                          <a:solidFill>
                            <a:schemeClr val="tx1"/>
                          </a:solidFill>
                          <a:latin typeface="Cambria Math" panose="02040503050406030204" pitchFamily="18" charset="0"/>
                          <a:ea typeface="Cambria Math" panose="02040503050406030204" pitchFamily="18" charset="0"/>
                        </a:rPr>
                        <m:t> </m:t>
                      </m:r>
                    </m:oMath>
                  </m:oMathPara>
                </a14:m>
                <a:endParaRPr lang="de-CH" sz="2000" b="1" i="1">
                  <a:solidFill>
                    <a:schemeClr val="tx1"/>
                  </a:solidFill>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groupChr>
                        <m:groupChrPr>
                          <m:chr m:val="→"/>
                          <m:vertJc m:val="bot"/>
                          <m:ctrlPr>
                            <a:rPr lang="en-GB" sz="2000" b="1" i="1">
                              <a:solidFill>
                                <a:schemeClr val="tx1"/>
                              </a:solidFill>
                              <a:latin typeface="Cambria Math" panose="02040503050406030204" pitchFamily="18" charset="0"/>
                            </a:rPr>
                          </m:ctrlPr>
                        </m:groupChrPr>
                        <m:e>
                          <m:sSub>
                            <m:sSubPr>
                              <m:ctrlPr>
                                <a:rPr lang="en-GB" sz="2000" b="1" i="1">
                                  <a:latin typeface="Cambria Math" panose="02040503050406030204" pitchFamily="18" charset="0"/>
                                </a:rPr>
                              </m:ctrlPr>
                            </m:sSubPr>
                            <m:e>
                              <m:r>
                                <m:rPr>
                                  <m:nor/>
                                </m:rPr>
                                <a:rPr lang="de-CH" sz="2000" b="1" i="0">
                                  <a:latin typeface="Cambria Math" panose="02040503050406030204" pitchFamily="18" charset="0"/>
                                </a:rPr>
                                <m:t>T</m:t>
                              </m:r>
                            </m:e>
                            <m:sub>
                              <m:sSup>
                                <m:sSupPr>
                                  <m:ctrlPr>
                                    <a:rPr lang="de-CH" sz="2000" b="1" i="1">
                                      <a:latin typeface="Cambria Math" panose="02040503050406030204" pitchFamily="18" charset="0"/>
                                    </a:rPr>
                                  </m:ctrlPr>
                                </m:sSupPr>
                                <m:e>
                                  <m:acc>
                                    <m:accPr>
                                      <m:chr m:val="̂"/>
                                      <m:ctrlPr>
                                        <a:rPr lang="de-CH" sz="2000" b="1" i="1">
                                          <a:latin typeface="Cambria Math" panose="02040503050406030204" pitchFamily="18" charset="0"/>
                                        </a:rPr>
                                      </m:ctrlPr>
                                    </m:accPr>
                                    <m:e>
                                      <m:r>
                                        <a:rPr lang="de-CH" sz="2000" b="1" i="1">
                                          <a:latin typeface="Cambria Math" panose="02040503050406030204" pitchFamily="18" charset="0"/>
                                          <a:ea typeface="Cambria Math" panose="02040503050406030204" pitchFamily="18" charset="0"/>
                                        </a:rPr>
                                        <m:t>𝜽</m:t>
                                      </m:r>
                                    </m:e>
                                  </m:acc>
                                </m:e>
                                <m:sup>
                                  <m:r>
                                    <a:rPr lang="de-CH" sz="2000" b="1" i="1">
                                      <a:latin typeface="Cambria Math" panose="02040503050406030204" pitchFamily="18" charset="0"/>
                                    </a:rPr>
                                    <m:t>+</m:t>
                                  </m:r>
                                </m:sup>
                              </m:sSup>
                            </m:sub>
                          </m:sSub>
                          <m:r>
                            <m:rPr>
                              <m:nor/>
                            </m:rPr>
                            <a:rPr lang="de-CH" sz="2000" b="1" i="0">
                              <a:latin typeface="Cambria Math" panose="02040503050406030204" pitchFamily="18" charset="0"/>
                              <a:ea typeface="Cambria Math" panose="02040503050406030204" pitchFamily="18" charset="0"/>
                            </a:rPr>
                            <m:t> </m:t>
                          </m:r>
                        </m:e>
                      </m:groupChr>
                    </m:oMath>
                  </m:oMathPara>
                </a14:m>
                <a:endParaRPr lang="en-GB" sz="2000" b="1">
                  <a:solidFill>
                    <a:schemeClr val="tx1"/>
                  </a:solidFill>
                </a:endParaRPr>
              </a:p>
            </p:txBody>
          </p:sp>
        </mc:Choice>
        <mc:Fallback xmlns="">
          <p:sp>
            <p:nvSpPr>
              <p:cNvPr id="102" name="Content Placeholder 2">
                <a:extLst>
                  <a:ext uri="{FF2B5EF4-FFF2-40B4-BE49-F238E27FC236}">
                    <a16:creationId xmlns:a16="http://schemas.microsoft.com/office/drawing/2014/main" id="{A13A6B77-320F-BFF9-F3C7-623E9C57855A}"/>
                  </a:ext>
                </a:extLst>
              </p:cNvPr>
              <p:cNvSpPr txBox="1">
                <a:spLocks noRot="1" noChangeAspect="1" noMove="1" noResize="1" noEditPoints="1" noAdjustHandles="1" noChangeArrowheads="1" noChangeShapeType="1" noTextEdit="1"/>
              </p:cNvSpPr>
              <p:nvPr/>
            </p:nvSpPr>
            <p:spPr>
              <a:xfrm>
                <a:off x="8381551" y="1865929"/>
                <a:ext cx="1010283" cy="721758"/>
              </a:xfrm>
              <a:prstGeom prst="rect">
                <a:avLst/>
              </a:prstGeom>
              <a:blipFill>
                <a:blip r:embed="rId11"/>
                <a:stretch>
                  <a:fillRect t="-3448"/>
                </a:stretch>
              </a:blipFill>
            </p:spPr>
            <p:txBody>
              <a:bodyPr/>
              <a:lstStyle/>
              <a:p>
                <a:r>
                  <a:rPr lang="en-CH">
                    <a:noFill/>
                  </a:rPr>
                  <a:t> </a:t>
                </a:r>
              </a:p>
            </p:txBody>
          </p:sp>
        </mc:Fallback>
      </mc:AlternateContent>
      <p:sp>
        <p:nvSpPr>
          <p:cNvPr id="104" name="Content Placeholder 2">
            <a:extLst>
              <a:ext uri="{FF2B5EF4-FFF2-40B4-BE49-F238E27FC236}">
                <a16:creationId xmlns:a16="http://schemas.microsoft.com/office/drawing/2014/main" id="{5C7B9431-F6BD-7E41-ADB3-1659F1341F5A}"/>
              </a:ext>
            </a:extLst>
          </p:cNvPr>
          <p:cNvSpPr txBox="1">
            <a:spLocks/>
          </p:cNvSpPr>
          <p:nvPr/>
        </p:nvSpPr>
        <p:spPr>
          <a:xfrm rot="5400000">
            <a:off x="3097067" y="5738827"/>
            <a:ext cx="588349" cy="308805"/>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a:t>…</a:t>
            </a:r>
          </a:p>
          <a:p>
            <a:pPr marL="0" indent="0">
              <a:buNone/>
            </a:pPr>
            <a:endParaRPr lang="en-CH"/>
          </a:p>
        </p:txBody>
      </p:sp>
      <p:sp>
        <p:nvSpPr>
          <p:cNvPr id="106" name="Content Placeholder 2">
            <a:extLst>
              <a:ext uri="{FF2B5EF4-FFF2-40B4-BE49-F238E27FC236}">
                <a16:creationId xmlns:a16="http://schemas.microsoft.com/office/drawing/2014/main" id="{8CC55C27-DF73-9D8A-60D4-AE967574C464}"/>
              </a:ext>
            </a:extLst>
          </p:cNvPr>
          <p:cNvSpPr txBox="1">
            <a:spLocks/>
          </p:cNvSpPr>
          <p:nvPr/>
        </p:nvSpPr>
        <p:spPr>
          <a:xfrm>
            <a:off x="3009772" y="5599056"/>
            <a:ext cx="1961420" cy="394690"/>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mj-lt"/>
              <a:buNone/>
            </a:pPr>
            <a:r>
              <a:rPr lang="en-GB" sz="1400"/>
              <a:t>x</a:t>
            </a:r>
            <a:r>
              <a:rPr lang="en-CH" sz="1400"/>
              <a:t> 500’000 </a:t>
            </a:r>
          </a:p>
        </p:txBody>
      </p:sp>
      <p:sp>
        <p:nvSpPr>
          <p:cNvPr id="132" name="TextBox 131">
            <a:extLst>
              <a:ext uri="{FF2B5EF4-FFF2-40B4-BE49-F238E27FC236}">
                <a16:creationId xmlns:a16="http://schemas.microsoft.com/office/drawing/2014/main" id="{8AD2166C-239B-D53D-5160-DD7C7EA2BABA}"/>
              </a:ext>
            </a:extLst>
          </p:cNvPr>
          <p:cNvSpPr txBox="1"/>
          <p:nvPr/>
        </p:nvSpPr>
        <p:spPr>
          <a:xfrm>
            <a:off x="9251503" y="3153636"/>
            <a:ext cx="266532" cy="369332"/>
          </a:xfrm>
          <a:prstGeom prst="rect">
            <a:avLst/>
          </a:prstGeom>
          <a:noFill/>
        </p:spPr>
        <p:txBody>
          <a:bodyPr wrap="square">
            <a:spAutoFit/>
          </a:bodyPr>
          <a:lstStyle/>
          <a:p>
            <a:r>
              <a:rPr lang="he-IL" b="0" i="0">
                <a:solidFill>
                  <a:srgbClr val="202122"/>
                </a:solidFill>
                <a:effectLst/>
                <a:latin typeface="Ezra SIL SR"/>
              </a:rPr>
              <a:t>ב</a:t>
            </a:r>
            <a:endParaRPr lang="en-CH"/>
          </a:p>
        </p:txBody>
      </p:sp>
      <p:sp>
        <p:nvSpPr>
          <p:cNvPr id="133" name="TextBox 132">
            <a:extLst>
              <a:ext uri="{FF2B5EF4-FFF2-40B4-BE49-F238E27FC236}">
                <a16:creationId xmlns:a16="http://schemas.microsoft.com/office/drawing/2014/main" id="{041F5BAA-5D3A-F0CB-43EA-74F501507A65}"/>
              </a:ext>
            </a:extLst>
          </p:cNvPr>
          <p:cNvSpPr txBox="1"/>
          <p:nvPr/>
        </p:nvSpPr>
        <p:spPr>
          <a:xfrm>
            <a:off x="9246074" y="3558362"/>
            <a:ext cx="266532" cy="369332"/>
          </a:xfrm>
          <a:prstGeom prst="rect">
            <a:avLst/>
          </a:prstGeom>
          <a:noFill/>
        </p:spPr>
        <p:txBody>
          <a:bodyPr wrap="square">
            <a:spAutoFit/>
          </a:bodyPr>
          <a:lstStyle/>
          <a:p>
            <a:r>
              <a:rPr lang="he-IL"/>
              <a:t>ט</a:t>
            </a:r>
            <a:endParaRPr lang="en-CH"/>
          </a:p>
        </p:txBody>
      </p:sp>
      <p:sp>
        <p:nvSpPr>
          <p:cNvPr id="162" name="TextBox 161">
            <a:extLst>
              <a:ext uri="{FF2B5EF4-FFF2-40B4-BE49-F238E27FC236}">
                <a16:creationId xmlns:a16="http://schemas.microsoft.com/office/drawing/2014/main" id="{CB3902AF-C8D7-7C2C-2274-DE0168957BD6}"/>
              </a:ext>
            </a:extLst>
          </p:cNvPr>
          <p:cNvSpPr txBox="1"/>
          <p:nvPr/>
        </p:nvSpPr>
        <p:spPr>
          <a:xfrm>
            <a:off x="9204769" y="4731011"/>
            <a:ext cx="266532" cy="338554"/>
          </a:xfrm>
          <a:prstGeom prst="rect">
            <a:avLst/>
          </a:prstGeom>
          <a:noFill/>
        </p:spPr>
        <p:txBody>
          <a:bodyPr wrap="square">
            <a:spAutoFit/>
          </a:bodyPr>
          <a:lstStyle/>
          <a:p>
            <a:r>
              <a:rPr lang="en-CH" sz="1600" b="1"/>
              <a:t>ᜃ</a:t>
            </a:r>
            <a:endParaRPr lang="en-CH" sz="1600"/>
          </a:p>
        </p:txBody>
      </p:sp>
      <p:sp>
        <p:nvSpPr>
          <p:cNvPr id="186" name="Content Placeholder 2">
            <a:extLst>
              <a:ext uri="{FF2B5EF4-FFF2-40B4-BE49-F238E27FC236}">
                <a16:creationId xmlns:a16="http://schemas.microsoft.com/office/drawing/2014/main" id="{F3C51AAE-8AA5-BF8A-6F11-9FEDF0ED3EB1}"/>
              </a:ext>
            </a:extLst>
          </p:cNvPr>
          <p:cNvSpPr txBox="1">
            <a:spLocks/>
          </p:cNvSpPr>
          <p:nvPr/>
        </p:nvSpPr>
        <p:spPr>
          <a:xfrm rot="5400000">
            <a:off x="9257751" y="3887562"/>
            <a:ext cx="377079" cy="348174"/>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mj-lt"/>
              <a:buNone/>
            </a:pPr>
            <a:r>
              <a:rPr lang="de-CH"/>
              <a:t>…</a:t>
            </a:r>
            <a:endParaRPr lang="en-CH"/>
          </a:p>
        </p:txBody>
      </p:sp>
      <p:sp>
        <p:nvSpPr>
          <p:cNvPr id="187" name="Content Placeholder 2">
            <a:extLst>
              <a:ext uri="{FF2B5EF4-FFF2-40B4-BE49-F238E27FC236}">
                <a16:creationId xmlns:a16="http://schemas.microsoft.com/office/drawing/2014/main" id="{11DCD3CD-3BEF-E0C8-DFC6-9F5F8B443522}"/>
              </a:ext>
            </a:extLst>
          </p:cNvPr>
          <p:cNvSpPr txBox="1">
            <a:spLocks/>
          </p:cNvSpPr>
          <p:nvPr/>
        </p:nvSpPr>
        <p:spPr>
          <a:xfrm rot="5400000">
            <a:off x="10342191" y="3906238"/>
            <a:ext cx="377079" cy="348174"/>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mj-lt"/>
              <a:buNone/>
            </a:pPr>
            <a:r>
              <a:rPr lang="de-CH"/>
              <a:t>…</a:t>
            </a:r>
            <a:endParaRPr lang="en-CH"/>
          </a:p>
        </p:txBody>
      </p:sp>
      <p:sp>
        <p:nvSpPr>
          <p:cNvPr id="188" name="Content Placeholder 2">
            <a:extLst>
              <a:ext uri="{FF2B5EF4-FFF2-40B4-BE49-F238E27FC236}">
                <a16:creationId xmlns:a16="http://schemas.microsoft.com/office/drawing/2014/main" id="{D3697B64-BF80-1189-09FA-1CFD64EEFD6B}"/>
              </a:ext>
            </a:extLst>
          </p:cNvPr>
          <p:cNvSpPr txBox="1">
            <a:spLocks/>
          </p:cNvSpPr>
          <p:nvPr/>
        </p:nvSpPr>
        <p:spPr>
          <a:xfrm rot="5400000">
            <a:off x="11456509" y="3905973"/>
            <a:ext cx="377079" cy="348174"/>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mj-lt"/>
              <a:buNone/>
            </a:pPr>
            <a:r>
              <a:rPr lang="de-CH"/>
              <a:t>…</a:t>
            </a:r>
            <a:endParaRPr lang="en-CH"/>
          </a:p>
        </p:txBody>
      </p:sp>
      <p:sp>
        <p:nvSpPr>
          <p:cNvPr id="189" name="Content Placeholder 2">
            <a:extLst>
              <a:ext uri="{FF2B5EF4-FFF2-40B4-BE49-F238E27FC236}">
                <a16:creationId xmlns:a16="http://schemas.microsoft.com/office/drawing/2014/main" id="{3CC9A89B-CA90-BDB3-4A05-DF29D8E01CA2}"/>
              </a:ext>
            </a:extLst>
          </p:cNvPr>
          <p:cNvSpPr txBox="1">
            <a:spLocks/>
          </p:cNvSpPr>
          <p:nvPr/>
        </p:nvSpPr>
        <p:spPr>
          <a:xfrm rot="5400000">
            <a:off x="10319963" y="4489885"/>
            <a:ext cx="377079" cy="348174"/>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mj-lt"/>
              <a:buNone/>
            </a:pPr>
            <a:r>
              <a:rPr lang="de-CH"/>
              <a:t>…</a:t>
            </a:r>
            <a:endParaRPr lang="en-CH"/>
          </a:p>
        </p:txBody>
      </p:sp>
      <p:sp>
        <p:nvSpPr>
          <p:cNvPr id="190" name="Content Placeholder 2">
            <a:extLst>
              <a:ext uri="{FF2B5EF4-FFF2-40B4-BE49-F238E27FC236}">
                <a16:creationId xmlns:a16="http://schemas.microsoft.com/office/drawing/2014/main" id="{AE6B2E71-E4F1-BE90-8E8E-9934927209A2}"/>
              </a:ext>
            </a:extLst>
          </p:cNvPr>
          <p:cNvSpPr txBox="1">
            <a:spLocks/>
          </p:cNvSpPr>
          <p:nvPr/>
        </p:nvSpPr>
        <p:spPr>
          <a:xfrm rot="5400000">
            <a:off x="9251185" y="4475254"/>
            <a:ext cx="377079" cy="348174"/>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mj-lt"/>
              <a:buNone/>
            </a:pPr>
            <a:r>
              <a:rPr lang="de-CH"/>
              <a:t>…</a:t>
            </a:r>
            <a:endParaRPr lang="en-CH"/>
          </a:p>
        </p:txBody>
      </p:sp>
      <p:sp>
        <p:nvSpPr>
          <p:cNvPr id="191" name="Content Placeholder 2">
            <a:extLst>
              <a:ext uri="{FF2B5EF4-FFF2-40B4-BE49-F238E27FC236}">
                <a16:creationId xmlns:a16="http://schemas.microsoft.com/office/drawing/2014/main" id="{300C2132-7E36-E7F1-D1DD-CC7AA3C5DB45}"/>
              </a:ext>
            </a:extLst>
          </p:cNvPr>
          <p:cNvSpPr txBox="1">
            <a:spLocks/>
          </p:cNvSpPr>
          <p:nvPr/>
        </p:nvSpPr>
        <p:spPr>
          <a:xfrm rot="5400000">
            <a:off x="11469752" y="4495318"/>
            <a:ext cx="377079" cy="348174"/>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mj-lt"/>
              <a:buNone/>
            </a:pPr>
            <a:r>
              <a:rPr lang="de-CH"/>
              <a:t>…</a:t>
            </a:r>
            <a:endParaRPr lang="en-CH"/>
          </a:p>
        </p:txBody>
      </p:sp>
      <p:pic>
        <p:nvPicPr>
          <p:cNvPr id="7173" name="Graphic 7172" descr="Gauge outline">
            <a:extLst>
              <a:ext uri="{FF2B5EF4-FFF2-40B4-BE49-F238E27FC236}">
                <a16:creationId xmlns:a16="http://schemas.microsoft.com/office/drawing/2014/main" id="{1FCF5DE8-A0A5-5D69-2797-DAEAB04B01B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810869" y="2023265"/>
            <a:ext cx="526583" cy="526583"/>
          </a:xfrm>
          <a:prstGeom prst="rect">
            <a:avLst/>
          </a:prstGeom>
        </p:spPr>
      </p:pic>
      <p:sp>
        <p:nvSpPr>
          <p:cNvPr id="14" name="Content Placeholder 2">
            <a:extLst>
              <a:ext uri="{FF2B5EF4-FFF2-40B4-BE49-F238E27FC236}">
                <a16:creationId xmlns:a16="http://schemas.microsoft.com/office/drawing/2014/main" id="{79E94EA7-17C2-0EB3-2AB9-D4A1A234EE05}"/>
              </a:ext>
            </a:extLst>
          </p:cNvPr>
          <p:cNvSpPr txBox="1">
            <a:spLocks/>
          </p:cNvSpPr>
          <p:nvPr/>
        </p:nvSpPr>
        <p:spPr>
          <a:xfrm>
            <a:off x="6035567" y="4773519"/>
            <a:ext cx="343088" cy="336260"/>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ko-KR" altLang="en-US">
                <a:latin typeface="Bodoni 72 Book" pitchFamily="2" charset="0"/>
                <a:cs typeface="Al Bayan Plain" pitchFamily="2" charset="-78"/>
              </a:rPr>
              <a:t>ㅊ</a:t>
            </a:r>
            <a:endParaRPr lang="en-CH">
              <a:latin typeface="Bodoni 72 Book" pitchFamily="2" charset="0"/>
              <a:cs typeface="Al Bayan Plain" pitchFamily="2" charset="-78"/>
            </a:endParaRPr>
          </a:p>
        </p:txBody>
      </p:sp>
      <p:sp>
        <p:nvSpPr>
          <p:cNvPr id="15" name="Content Placeholder 2">
            <a:extLst>
              <a:ext uri="{FF2B5EF4-FFF2-40B4-BE49-F238E27FC236}">
                <a16:creationId xmlns:a16="http://schemas.microsoft.com/office/drawing/2014/main" id="{071083E4-860C-9510-612C-33DEA5CABD24}"/>
              </a:ext>
            </a:extLst>
          </p:cNvPr>
          <p:cNvSpPr txBox="1">
            <a:spLocks/>
          </p:cNvSpPr>
          <p:nvPr/>
        </p:nvSpPr>
        <p:spPr>
          <a:xfrm>
            <a:off x="6075800" y="3222311"/>
            <a:ext cx="302499" cy="216000"/>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l-GR"/>
              <a:t>α</a:t>
            </a:r>
            <a:endParaRPr lang="en-CH"/>
          </a:p>
        </p:txBody>
      </p:sp>
      <p:sp>
        <p:nvSpPr>
          <p:cNvPr id="17" name="Content Placeholder 2">
            <a:extLst>
              <a:ext uri="{FF2B5EF4-FFF2-40B4-BE49-F238E27FC236}">
                <a16:creationId xmlns:a16="http://schemas.microsoft.com/office/drawing/2014/main" id="{3861C89A-8045-0659-9E85-57592D8F5096}"/>
              </a:ext>
            </a:extLst>
          </p:cNvPr>
          <p:cNvSpPr txBox="1">
            <a:spLocks/>
          </p:cNvSpPr>
          <p:nvPr/>
        </p:nvSpPr>
        <p:spPr>
          <a:xfrm>
            <a:off x="6090088" y="3573789"/>
            <a:ext cx="295065" cy="324356"/>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l-GR"/>
              <a:t>λ</a:t>
            </a:r>
            <a:endParaRPr lang="de-CH"/>
          </a:p>
          <a:p>
            <a:pPr marL="0" indent="0">
              <a:buNone/>
            </a:pPr>
            <a:endParaRPr lang="en-CH"/>
          </a:p>
        </p:txBody>
      </p:sp>
      <p:sp>
        <p:nvSpPr>
          <p:cNvPr id="19" name="Content Placeholder 2">
            <a:extLst>
              <a:ext uri="{FF2B5EF4-FFF2-40B4-BE49-F238E27FC236}">
                <a16:creationId xmlns:a16="http://schemas.microsoft.com/office/drawing/2014/main" id="{3A6E37B5-BD9F-1796-67AD-365C12DD01AB}"/>
              </a:ext>
            </a:extLst>
          </p:cNvPr>
          <p:cNvSpPr txBox="1">
            <a:spLocks/>
          </p:cNvSpPr>
          <p:nvPr/>
        </p:nvSpPr>
        <p:spPr>
          <a:xfrm>
            <a:off x="6075800" y="4221013"/>
            <a:ext cx="295065" cy="324356"/>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a:t>w</a:t>
            </a:r>
            <a:endParaRPr lang="en-CH"/>
          </a:p>
        </p:txBody>
      </p:sp>
      <p:sp>
        <p:nvSpPr>
          <p:cNvPr id="22" name="Content Placeholder 2">
            <a:extLst>
              <a:ext uri="{FF2B5EF4-FFF2-40B4-BE49-F238E27FC236}">
                <a16:creationId xmlns:a16="http://schemas.microsoft.com/office/drawing/2014/main" id="{A2213CF0-C0FE-69F7-A5E3-D7D7A6277D5E}"/>
              </a:ext>
            </a:extLst>
          </p:cNvPr>
          <p:cNvSpPr txBox="1">
            <a:spLocks/>
          </p:cNvSpPr>
          <p:nvPr/>
        </p:nvSpPr>
        <p:spPr>
          <a:xfrm rot="5400000">
            <a:off x="5926643" y="4088906"/>
            <a:ext cx="588349" cy="308805"/>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a:t>…</a:t>
            </a:r>
          </a:p>
          <a:p>
            <a:pPr marL="0" indent="0">
              <a:buNone/>
            </a:pPr>
            <a:endParaRPr lang="en-CH"/>
          </a:p>
        </p:txBody>
      </p:sp>
      <p:sp>
        <p:nvSpPr>
          <p:cNvPr id="23" name="Content Placeholder 2">
            <a:extLst>
              <a:ext uri="{FF2B5EF4-FFF2-40B4-BE49-F238E27FC236}">
                <a16:creationId xmlns:a16="http://schemas.microsoft.com/office/drawing/2014/main" id="{A25B858D-C600-20A8-746B-A9A633FCC198}"/>
              </a:ext>
            </a:extLst>
          </p:cNvPr>
          <p:cNvSpPr txBox="1">
            <a:spLocks/>
          </p:cNvSpPr>
          <p:nvPr/>
        </p:nvSpPr>
        <p:spPr>
          <a:xfrm rot="5400000">
            <a:off x="5919159" y="4660706"/>
            <a:ext cx="588349" cy="308805"/>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a:t>…</a:t>
            </a:r>
          </a:p>
          <a:p>
            <a:pPr marL="0" indent="0">
              <a:buNone/>
            </a:pPr>
            <a:endParaRPr lang="en-CH"/>
          </a:p>
        </p:txBody>
      </p:sp>
      <p:sp>
        <p:nvSpPr>
          <p:cNvPr id="29" name="Content Placeholder 2">
            <a:extLst>
              <a:ext uri="{FF2B5EF4-FFF2-40B4-BE49-F238E27FC236}">
                <a16:creationId xmlns:a16="http://schemas.microsoft.com/office/drawing/2014/main" id="{4B3B1F8A-2D9A-64D7-7892-37053A0A0EC6}"/>
              </a:ext>
            </a:extLst>
          </p:cNvPr>
          <p:cNvSpPr txBox="1">
            <a:spLocks/>
          </p:cNvSpPr>
          <p:nvPr/>
        </p:nvSpPr>
        <p:spPr>
          <a:xfrm rot="16200000">
            <a:off x="5265518" y="3519789"/>
            <a:ext cx="1071584" cy="343090"/>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de-CH" sz="1400"/>
              <a:t>5 characters</a:t>
            </a:r>
            <a:endParaRPr lang="en-CH" sz="1400"/>
          </a:p>
        </p:txBody>
      </p:sp>
      <p:sp>
        <p:nvSpPr>
          <p:cNvPr id="34" name="Content Placeholder 2">
            <a:extLst>
              <a:ext uri="{FF2B5EF4-FFF2-40B4-BE49-F238E27FC236}">
                <a16:creationId xmlns:a16="http://schemas.microsoft.com/office/drawing/2014/main" id="{E5839A73-1EA8-9AC4-152D-837A8C029B43}"/>
              </a:ext>
            </a:extLst>
          </p:cNvPr>
          <p:cNvSpPr txBox="1">
            <a:spLocks/>
          </p:cNvSpPr>
          <p:nvPr/>
        </p:nvSpPr>
        <p:spPr>
          <a:xfrm>
            <a:off x="6789278" y="2792201"/>
            <a:ext cx="1046192" cy="314416"/>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de-CH" sz="1400"/>
              <a:t>5 examples</a:t>
            </a:r>
            <a:endParaRPr lang="en-CH" sz="1400"/>
          </a:p>
        </p:txBody>
      </p:sp>
      <p:sp>
        <p:nvSpPr>
          <p:cNvPr id="81" name="Content Placeholder 2">
            <a:extLst>
              <a:ext uri="{FF2B5EF4-FFF2-40B4-BE49-F238E27FC236}">
                <a16:creationId xmlns:a16="http://schemas.microsoft.com/office/drawing/2014/main" id="{91AB3527-7E7A-411C-7160-35A096F88638}"/>
              </a:ext>
            </a:extLst>
          </p:cNvPr>
          <p:cNvSpPr txBox="1">
            <a:spLocks/>
          </p:cNvSpPr>
          <p:nvPr/>
        </p:nvSpPr>
        <p:spPr>
          <a:xfrm rot="5400000">
            <a:off x="7005436" y="4072024"/>
            <a:ext cx="588349" cy="308805"/>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a:t>…</a:t>
            </a:r>
          </a:p>
          <a:p>
            <a:pPr marL="0" indent="0">
              <a:buNone/>
            </a:pPr>
            <a:endParaRPr lang="en-CH"/>
          </a:p>
        </p:txBody>
      </p:sp>
      <p:sp>
        <p:nvSpPr>
          <p:cNvPr id="82" name="Content Placeholder 2">
            <a:extLst>
              <a:ext uri="{FF2B5EF4-FFF2-40B4-BE49-F238E27FC236}">
                <a16:creationId xmlns:a16="http://schemas.microsoft.com/office/drawing/2014/main" id="{1B6C927C-32E2-E978-0B5B-511E21DC4279}"/>
              </a:ext>
            </a:extLst>
          </p:cNvPr>
          <p:cNvSpPr txBox="1">
            <a:spLocks/>
          </p:cNvSpPr>
          <p:nvPr/>
        </p:nvSpPr>
        <p:spPr>
          <a:xfrm rot="5400000">
            <a:off x="6985739" y="4662306"/>
            <a:ext cx="588349" cy="308805"/>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a:t>…</a:t>
            </a:r>
          </a:p>
          <a:p>
            <a:pPr marL="0" indent="0">
              <a:buNone/>
            </a:pPr>
            <a:endParaRPr lang="en-CH"/>
          </a:p>
        </p:txBody>
      </p:sp>
      <p:sp>
        <p:nvSpPr>
          <p:cNvPr id="83" name="Content Placeholder 2">
            <a:extLst>
              <a:ext uri="{FF2B5EF4-FFF2-40B4-BE49-F238E27FC236}">
                <a16:creationId xmlns:a16="http://schemas.microsoft.com/office/drawing/2014/main" id="{0B0382EE-9749-A372-92E8-F5E38D06B772}"/>
              </a:ext>
            </a:extLst>
          </p:cNvPr>
          <p:cNvSpPr txBox="1">
            <a:spLocks/>
          </p:cNvSpPr>
          <p:nvPr/>
        </p:nvSpPr>
        <p:spPr>
          <a:xfrm rot="5400000">
            <a:off x="8166425" y="4117781"/>
            <a:ext cx="588349" cy="308805"/>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a:t>…</a:t>
            </a:r>
          </a:p>
          <a:p>
            <a:pPr marL="0" indent="0">
              <a:buNone/>
            </a:pPr>
            <a:endParaRPr lang="en-CH"/>
          </a:p>
        </p:txBody>
      </p:sp>
      <p:sp>
        <p:nvSpPr>
          <p:cNvPr id="84" name="Content Placeholder 2">
            <a:extLst>
              <a:ext uri="{FF2B5EF4-FFF2-40B4-BE49-F238E27FC236}">
                <a16:creationId xmlns:a16="http://schemas.microsoft.com/office/drawing/2014/main" id="{AECBEAE7-71D3-0FB9-F5A1-54BECC48A4D0}"/>
              </a:ext>
            </a:extLst>
          </p:cNvPr>
          <p:cNvSpPr txBox="1">
            <a:spLocks/>
          </p:cNvSpPr>
          <p:nvPr/>
        </p:nvSpPr>
        <p:spPr>
          <a:xfrm rot="5400000">
            <a:off x="8158721" y="4681556"/>
            <a:ext cx="588349" cy="308805"/>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a:t>…</a:t>
            </a:r>
          </a:p>
          <a:p>
            <a:pPr marL="0" indent="0">
              <a:buNone/>
            </a:pPr>
            <a:endParaRPr lang="en-CH"/>
          </a:p>
        </p:txBody>
      </p:sp>
      <p:sp>
        <p:nvSpPr>
          <p:cNvPr id="7175" name="Content Placeholder 2">
            <a:extLst>
              <a:ext uri="{FF2B5EF4-FFF2-40B4-BE49-F238E27FC236}">
                <a16:creationId xmlns:a16="http://schemas.microsoft.com/office/drawing/2014/main" id="{9F84586A-7408-00D9-A4D6-9D63431E1B7E}"/>
              </a:ext>
            </a:extLst>
          </p:cNvPr>
          <p:cNvSpPr txBox="1">
            <a:spLocks/>
          </p:cNvSpPr>
          <p:nvPr/>
        </p:nvSpPr>
        <p:spPr>
          <a:xfrm rot="16200000">
            <a:off x="4942371" y="3903128"/>
            <a:ext cx="1071584" cy="343090"/>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de-CH" sz="1400"/>
              <a:t>30 alphabets</a:t>
            </a:r>
            <a:endParaRPr lang="en-CH" sz="1400"/>
          </a:p>
        </p:txBody>
      </p:sp>
      <p:sp>
        <p:nvSpPr>
          <p:cNvPr id="7178" name="Footer Placeholder 4">
            <a:extLst>
              <a:ext uri="{FF2B5EF4-FFF2-40B4-BE49-F238E27FC236}">
                <a16:creationId xmlns:a16="http://schemas.microsoft.com/office/drawing/2014/main" id="{1227F8E0-62FB-744F-6ECB-FFDBD35D23E0}"/>
              </a:ext>
            </a:extLst>
          </p:cNvPr>
          <p:cNvSpPr>
            <a:spLocks noGrp="1"/>
          </p:cNvSpPr>
          <p:nvPr>
            <p:ph type="ftr" sz="quarter" idx="11"/>
          </p:nvPr>
        </p:nvSpPr>
        <p:spPr>
          <a:xfrm>
            <a:off x="3951530" y="6522444"/>
            <a:ext cx="4288941" cy="216000"/>
          </a:xfrm>
        </p:spPr>
        <p:txBody>
          <a:bodyPr/>
          <a:lstStyle/>
          <a:p>
            <a:pPr algn="ctr"/>
            <a:r>
              <a:rPr lang="de-DE" noProof="0"/>
              <a:t>Results – Few-shot learning</a:t>
            </a:r>
          </a:p>
        </p:txBody>
      </p:sp>
      <p:sp>
        <p:nvSpPr>
          <p:cNvPr id="7179" name="Google Shape;187;p21">
            <a:extLst>
              <a:ext uri="{FF2B5EF4-FFF2-40B4-BE49-F238E27FC236}">
                <a16:creationId xmlns:a16="http://schemas.microsoft.com/office/drawing/2014/main" id="{F5BD60AB-AA42-F528-34F1-D900D234197D}"/>
              </a:ext>
            </a:extLst>
          </p:cNvPr>
          <p:cNvSpPr txBox="1"/>
          <p:nvPr/>
        </p:nvSpPr>
        <p:spPr>
          <a:xfrm>
            <a:off x="627922" y="576000"/>
            <a:ext cx="10832239" cy="513000"/>
          </a:xfrm>
          <a:prstGeom prst="rect">
            <a:avLst/>
          </a:prstGeom>
          <a:noFill/>
          <a:ln>
            <a:noFill/>
          </a:ln>
        </p:spPr>
        <p:txBody>
          <a:bodyPr spcFirstLastPara="1" wrap="square" lIns="118900" tIns="118900" rIns="118900" bIns="118900" anchor="b" anchorCtr="0">
            <a:noAutofit/>
          </a:bodyPr>
          <a:lstStyle/>
          <a:p>
            <a:r>
              <a:rPr lang="en-CH" sz="3200"/>
              <a:t>PFNs can do few-shot learning (with fine-tuning)</a:t>
            </a:r>
          </a:p>
        </p:txBody>
      </p:sp>
      <p:sp>
        <p:nvSpPr>
          <p:cNvPr id="7181" name="Content Placeholder 2">
            <a:extLst>
              <a:ext uri="{FF2B5EF4-FFF2-40B4-BE49-F238E27FC236}">
                <a16:creationId xmlns:a16="http://schemas.microsoft.com/office/drawing/2014/main" id="{9090F31F-1984-A663-01E0-E352A347A5FA}"/>
              </a:ext>
            </a:extLst>
          </p:cNvPr>
          <p:cNvSpPr txBox="1">
            <a:spLocks/>
          </p:cNvSpPr>
          <p:nvPr/>
        </p:nvSpPr>
        <p:spPr>
          <a:xfrm>
            <a:off x="9219377" y="4267745"/>
            <a:ext cx="377079" cy="316522"/>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mj-lt"/>
              <a:buNone/>
            </a:pPr>
            <a:r>
              <a:rPr lang="az-Cyrl-AZ" sz="1600"/>
              <a:t>Ж</a:t>
            </a:r>
            <a:endParaRPr lang="en-CH" sz="1600"/>
          </a:p>
        </p:txBody>
      </p:sp>
      <p:sp>
        <p:nvSpPr>
          <p:cNvPr id="8" name="Rectangle 7">
            <a:extLst>
              <a:ext uri="{FF2B5EF4-FFF2-40B4-BE49-F238E27FC236}">
                <a16:creationId xmlns:a16="http://schemas.microsoft.com/office/drawing/2014/main" id="{D5639BAD-EBD1-E677-7709-5CA5FCAD8449}"/>
              </a:ext>
            </a:extLst>
          </p:cNvPr>
          <p:cNvSpPr/>
          <p:nvPr/>
        </p:nvSpPr>
        <p:spPr>
          <a:xfrm>
            <a:off x="1487183" y="1824230"/>
            <a:ext cx="3540796" cy="4219885"/>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90" name="Picture 89">
            <a:extLst>
              <a:ext uri="{FF2B5EF4-FFF2-40B4-BE49-F238E27FC236}">
                <a16:creationId xmlns:a16="http://schemas.microsoft.com/office/drawing/2014/main" id="{9897C2CC-51D0-63DF-680D-07CA56D8A9A9}"/>
              </a:ext>
            </a:extLst>
          </p:cNvPr>
          <p:cNvPicPr>
            <a:picLocks noChangeAspect="1"/>
          </p:cNvPicPr>
          <p:nvPr/>
        </p:nvPicPr>
        <p:blipFill>
          <a:blip r:embed="rId14" cstate="screen">
            <a:extLst>
              <a:ext uri="{28A0092B-C50C-407E-A947-70E740481C1C}">
                <a14:useLocalDpi xmlns:a14="http://schemas.microsoft.com/office/drawing/2010/main"/>
              </a:ext>
            </a:extLst>
          </a:blip>
          <a:srcRect/>
          <a:stretch>
            <a:fillRect/>
          </a:stretch>
        </p:blipFill>
        <p:spPr>
          <a:xfrm>
            <a:off x="328113" y="3018597"/>
            <a:ext cx="1780034" cy="2058679"/>
          </a:xfrm>
          <a:prstGeom prst="rect">
            <a:avLst/>
          </a:prstGeom>
        </p:spPr>
      </p:pic>
      <p:sp>
        <p:nvSpPr>
          <p:cNvPr id="9" name="Rectangle 8">
            <a:extLst>
              <a:ext uri="{FF2B5EF4-FFF2-40B4-BE49-F238E27FC236}">
                <a16:creationId xmlns:a16="http://schemas.microsoft.com/office/drawing/2014/main" id="{59411792-B830-0CAB-10D1-83D58F2B8545}"/>
              </a:ext>
            </a:extLst>
          </p:cNvPr>
          <p:cNvSpPr/>
          <p:nvPr/>
        </p:nvSpPr>
        <p:spPr>
          <a:xfrm>
            <a:off x="5200201" y="1824230"/>
            <a:ext cx="3434118" cy="4219885"/>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 name="Rectangle 10">
            <a:extLst>
              <a:ext uri="{FF2B5EF4-FFF2-40B4-BE49-F238E27FC236}">
                <a16:creationId xmlns:a16="http://schemas.microsoft.com/office/drawing/2014/main" id="{3A352E7B-42D8-A3E4-B51C-4E788845B3C8}"/>
              </a:ext>
            </a:extLst>
          </p:cNvPr>
          <p:cNvSpPr/>
          <p:nvPr/>
        </p:nvSpPr>
        <p:spPr>
          <a:xfrm>
            <a:off x="8649982" y="1824230"/>
            <a:ext cx="3434118" cy="4219885"/>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2191215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89E30-8F5D-A7A6-654C-8A0148E2649D}"/>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58B9647-3360-04A3-686E-13FEF4A6722A}"/>
              </a:ext>
            </a:extLst>
          </p:cNvPr>
          <p:cNvSpPr>
            <a:spLocks noGrp="1"/>
          </p:cNvSpPr>
          <p:nvPr>
            <p:ph type="sldNum" sz="quarter" idx="12"/>
          </p:nvPr>
        </p:nvSpPr>
        <p:spPr/>
        <p:txBody>
          <a:bodyPr/>
          <a:lstStyle/>
          <a:p>
            <a:fld id="{5ACA52AF-F19D-405C-AD5F-7D94B96A5CC3}" type="slidenum">
              <a:rPr lang="de-CH" noProof="0" smtClean="0"/>
              <a:t>26</a:t>
            </a:fld>
            <a:endParaRPr lang="de-CH" noProof="0"/>
          </a:p>
        </p:txBody>
      </p:sp>
      <p:pic>
        <p:nvPicPr>
          <p:cNvPr id="8" name="Picture 7">
            <a:extLst>
              <a:ext uri="{FF2B5EF4-FFF2-40B4-BE49-F238E27FC236}">
                <a16:creationId xmlns:a16="http://schemas.microsoft.com/office/drawing/2014/main" id="{73BB0B0C-C528-CBFF-27EC-EC26ADE0987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95474" y="2412670"/>
            <a:ext cx="9601048" cy="1428727"/>
          </a:xfrm>
          <a:prstGeom prst="rect">
            <a:avLst/>
          </a:prstGeom>
        </p:spPr>
      </p:pic>
      <p:sp>
        <p:nvSpPr>
          <p:cNvPr id="11" name="Footer Placeholder 4">
            <a:extLst>
              <a:ext uri="{FF2B5EF4-FFF2-40B4-BE49-F238E27FC236}">
                <a16:creationId xmlns:a16="http://schemas.microsoft.com/office/drawing/2014/main" id="{04B4BDA9-C8FA-A468-925C-036A34083CE2}"/>
              </a:ext>
            </a:extLst>
          </p:cNvPr>
          <p:cNvSpPr>
            <a:spLocks noGrp="1"/>
          </p:cNvSpPr>
          <p:nvPr>
            <p:ph type="ftr" sz="quarter" idx="11"/>
          </p:nvPr>
        </p:nvSpPr>
        <p:spPr>
          <a:xfrm>
            <a:off x="3951530" y="6522444"/>
            <a:ext cx="4288941" cy="216000"/>
          </a:xfrm>
        </p:spPr>
        <p:txBody>
          <a:bodyPr/>
          <a:lstStyle/>
          <a:p>
            <a:pPr algn="ctr"/>
            <a:r>
              <a:rPr lang="de-DE" noProof="0"/>
              <a:t>Results – Few-shot learning</a:t>
            </a:r>
          </a:p>
        </p:txBody>
      </p:sp>
      <p:sp>
        <p:nvSpPr>
          <p:cNvPr id="13" name="Google Shape;187;p21">
            <a:extLst>
              <a:ext uri="{FF2B5EF4-FFF2-40B4-BE49-F238E27FC236}">
                <a16:creationId xmlns:a16="http://schemas.microsoft.com/office/drawing/2014/main" id="{180695E6-CDEC-54A6-CD19-80C5ACAC10D1}"/>
              </a:ext>
            </a:extLst>
          </p:cNvPr>
          <p:cNvSpPr txBox="1"/>
          <p:nvPr/>
        </p:nvSpPr>
        <p:spPr>
          <a:xfrm>
            <a:off x="627922" y="576000"/>
            <a:ext cx="11030678" cy="513000"/>
          </a:xfrm>
          <a:prstGeom prst="rect">
            <a:avLst/>
          </a:prstGeom>
          <a:noFill/>
          <a:ln>
            <a:noFill/>
          </a:ln>
        </p:spPr>
        <p:txBody>
          <a:bodyPr spcFirstLastPara="1" wrap="square" lIns="118900" tIns="118900" rIns="118900" bIns="118900" anchor="b" anchorCtr="0">
            <a:noAutofit/>
          </a:bodyPr>
          <a:lstStyle/>
          <a:p>
            <a:r>
              <a:rPr lang="en-CH" sz="3200"/>
              <a:t>PFNs are on par with state-of-the art models</a:t>
            </a:r>
          </a:p>
        </p:txBody>
      </p:sp>
      <p:sp>
        <p:nvSpPr>
          <p:cNvPr id="16" name="Rectangle 15">
            <a:extLst>
              <a:ext uri="{FF2B5EF4-FFF2-40B4-BE49-F238E27FC236}">
                <a16:creationId xmlns:a16="http://schemas.microsoft.com/office/drawing/2014/main" id="{69505709-5AED-35DD-04B7-BC0AA11B36EB}"/>
              </a:ext>
            </a:extLst>
          </p:cNvPr>
          <p:cNvSpPr/>
          <p:nvPr/>
        </p:nvSpPr>
        <p:spPr>
          <a:xfrm>
            <a:off x="6482443" y="3429000"/>
            <a:ext cx="4294414" cy="250371"/>
          </a:xfrm>
          <a:prstGeom prst="rect">
            <a:avLst/>
          </a:prstGeom>
          <a:solidFill>
            <a:srgbClr val="E5CE51">
              <a:alpha val="4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 name="Footer Placeholder 4">
            <a:extLst>
              <a:ext uri="{FF2B5EF4-FFF2-40B4-BE49-F238E27FC236}">
                <a16:creationId xmlns:a16="http://schemas.microsoft.com/office/drawing/2014/main" id="{A58EFF91-FC50-BD9D-07C5-5296491FC731}"/>
              </a:ext>
            </a:extLst>
          </p:cNvPr>
          <p:cNvSpPr txBox="1">
            <a:spLocks/>
          </p:cNvSpPr>
          <p:nvPr/>
        </p:nvSpPr>
        <p:spPr>
          <a:xfrm>
            <a:off x="7307451" y="3825816"/>
            <a:ext cx="3589071" cy="216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Table: Müller et al. (2022): Transformers can do Bayesian Inference, Table 2.</a:t>
            </a:r>
          </a:p>
        </p:txBody>
      </p:sp>
    </p:spTree>
    <p:extLst>
      <p:ext uri="{BB962C8B-B14F-4D97-AF65-F5344CB8AC3E}">
        <p14:creationId xmlns:p14="http://schemas.microsoft.com/office/powerpoint/2010/main" val="40887828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16DF5-9914-E649-C767-97A5EB7D119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20F766E-35D6-59C2-0A8A-6C144F189A82}"/>
              </a:ext>
            </a:extLst>
          </p:cNvPr>
          <p:cNvSpPr>
            <a:spLocks noGrp="1"/>
          </p:cNvSpPr>
          <p:nvPr>
            <p:ph type="sldNum" sz="quarter" idx="12"/>
          </p:nvPr>
        </p:nvSpPr>
        <p:spPr/>
        <p:txBody>
          <a:bodyPr/>
          <a:lstStyle/>
          <a:p>
            <a:fld id="{5ACA52AF-F19D-405C-AD5F-7D94B96A5CC3}" type="slidenum">
              <a:rPr lang="de-CH" noProof="0" smtClean="0"/>
              <a:t>27</a:t>
            </a:fld>
            <a:endParaRPr lang="de-CH" noProof="0"/>
          </a:p>
        </p:txBody>
      </p:sp>
      <p:sp>
        <p:nvSpPr>
          <p:cNvPr id="9" name="Google Shape;187;p21">
            <a:extLst>
              <a:ext uri="{FF2B5EF4-FFF2-40B4-BE49-F238E27FC236}">
                <a16:creationId xmlns:a16="http://schemas.microsoft.com/office/drawing/2014/main" id="{41376E83-68E2-2349-7B7F-EE448E121DE6}"/>
              </a:ext>
            </a:extLst>
          </p:cNvPr>
          <p:cNvSpPr txBox="1"/>
          <p:nvPr/>
        </p:nvSpPr>
        <p:spPr>
          <a:xfrm>
            <a:off x="627923" y="576000"/>
            <a:ext cx="7667400" cy="513000"/>
          </a:xfrm>
          <a:prstGeom prst="rect">
            <a:avLst/>
          </a:prstGeom>
          <a:noFill/>
          <a:ln>
            <a:noFill/>
          </a:ln>
        </p:spPr>
        <p:txBody>
          <a:bodyPr spcFirstLastPara="1" wrap="square" lIns="118900" tIns="118900" rIns="118900" bIns="118900" anchor="b" anchorCtr="0">
            <a:noAutofit/>
          </a:bodyPr>
          <a:lstStyle/>
          <a:p>
            <a:pPr marL="0" lvl="0" indent="0" algn="l" rtl="0">
              <a:spcBef>
                <a:spcPts val="0"/>
              </a:spcBef>
              <a:spcAft>
                <a:spcPts val="0"/>
              </a:spcAft>
              <a:buNone/>
            </a:pPr>
            <a:r>
              <a:rPr lang="de-CH" sz="3200" b="1" err="1">
                <a:solidFill>
                  <a:schemeClr val="dk1"/>
                </a:solidFill>
              </a:rPr>
              <a:t>Discussion</a:t>
            </a:r>
            <a:endParaRPr sz="3200" b="1">
              <a:solidFill>
                <a:schemeClr val="dk1"/>
              </a:solidFill>
            </a:endParaRPr>
          </a:p>
        </p:txBody>
      </p:sp>
    </p:spTree>
    <p:extLst>
      <p:ext uri="{BB962C8B-B14F-4D97-AF65-F5344CB8AC3E}">
        <p14:creationId xmlns:p14="http://schemas.microsoft.com/office/powerpoint/2010/main" val="24747697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8A51C-7A07-8762-952E-71210A5BB85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6A3F9C-6547-0EBA-A59B-A0BCFC4E8D50}"/>
              </a:ext>
            </a:extLst>
          </p:cNvPr>
          <p:cNvSpPr>
            <a:spLocks noGrp="1"/>
          </p:cNvSpPr>
          <p:nvPr>
            <p:ph idx="1"/>
          </p:nvPr>
        </p:nvSpPr>
        <p:spPr/>
        <p:txBody>
          <a:bodyPr/>
          <a:lstStyle/>
          <a:p>
            <a:pPr marL="285750" indent="-285750">
              <a:buFont typeface="Arial" panose="020B0604020202020204" pitchFamily="34" charset="0"/>
              <a:buChar char="•"/>
            </a:pPr>
            <a:endParaRPr lang="en-CH"/>
          </a:p>
          <a:p>
            <a:pPr marL="285750" indent="-285750">
              <a:buFont typeface="Arial" panose="020B0604020202020204" pitchFamily="34" charset="0"/>
              <a:buChar char="•"/>
            </a:pPr>
            <a:r>
              <a:rPr lang="de-CH" b="1"/>
              <a:t>High speedups </a:t>
            </a:r>
            <a:r>
              <a:rPr lang="de-CH"/>
              <a:t>during inference compared to baseline models</a:t>
            </a:r>
            <a:br>
              <a:rPr lang="de-CH"/>
            </a:br>
            <a:endParaRPr lang="de-CH"/>
          </a:p>
          <a:p>
            <a:pPr marL="285750" indent="-285750">
              <a:buFont typeface="Arial" panose="020B0604020202020204" pitchFamily="34" charset="0"/>
              <a:buChar char="•"/>
            </a:pPr>
            <a:r>
              <a:rPr lang="de-CH"/>
              <a:t>Sampling synthetic training datasets from prior is </a:t>
            </a:r>
            <a:r>
              <a:rPr lang="de-CH" b="1"/>
              <a:t>cheap and limitless</a:t>
            </a:r>
            <a:br>
              <a:rPr lang="en-GB" b="1"/>
            </a:br>
            <a:endParaRPr lang="en-GB" b="1"/>
          </a:p>
          <a:p>
            <a:pPr marL="285750" indent="-285750">
              <a:buFont typeface="Arial" panose="020B0604020202020204" pitchFamily="34" charset="0"/>
              <a:buChar char="•"/>
            </a:pPr>
            <a:r>
              <a:rPr lang="en-GB" b="1"/>
              <a:t>Good calibration </a:t>
            </a:r>
            <a:r>
              <a:rPr lang="en-GB"/>
              <a:t>and lowest ECE compared to baseline models</a:t>
            </a:r>
            <a:br>
              <a:rPr lang="en-GB"/>
            </a:br>
            <a:endParaRPr lang="en-GB"/>
          </a:p>
          <a:p>
            <a:pPr marL="285750" indent="-285750">
              <a:buFont typeface="Arial" panose="020B0604020202020204" pitchFamily="34" charset="0"/>
              <a:buChar char="•"/>
            </a:pPr>
            <a:r>
              <a:rPr lang="en-GB" b="1"/>
              <a:t>Close approximation </a:t>
            </a:r>
            <a:r>
              <a:rPr lang="en-GB"/>
              <a:t>of true PPD</a:t>
            </a:r>
            <a:br>
              <a:rPr lang="en-GB"/>
            </a:br>
            <a:endParaRPr lang="en-GB"/>
          </a:p>
          <a:p>
            <a:pPr marL="285750" indent="-285750">
              <a:buFont typeface="Arial" panose="020B0604020202020204" pitchFamily="34" charset="0"/>
              <a:buChar char="•"/>
            </a:pPr>
            <a:r>
              <a:rPr lang="en-GB" b="1"/>
              <a:t>Minimal constraints </a:t>
            </a:r>
            <a:r>
              <a:rPr lang="en-GB"/>
              <a:t>(any prior one can sample from)</a:t>
            </a:r>
            <a:br>
              <a:rPr lang="en-GB"/>
            </a:br>
            <a:endParaRPr lang="en-GB"/>
          </a:p>
          <a:p>
            <a:pPr marL="285750" indent="-285750">
              <a:buFont typeface="Arial" panose="020B0604020202020204" pitchFamily="34" charset="0"/>
              <a:buChar char="•"/>
            </a:pPr>
            <a:endParaRPr lang="en-GB"/>
          </a:p>
        </p:txBody>
      </p:sp>
      <p:sp>
        <p:nvSpPr>
          <p:cNvPr id="6" name="Slide Number Placeholder 5">
            <a:extLst>
              <a:ext uri="{FF2B5EF4-FFF2-40B4-BE49-F238E27FC236}">
                <a16:creationId xmlns:a16="http://schemas.microsoft.com/office/drawing/2014/main" id="{B1FCD384-FA34-D47D-77BE-71C41CE34E71}"/>
              </a:ext>
            </a:extLst>
          </p:cNvPr>
          <p:cNvSpPr>
            <a:spLocks noGrp="1"/>
          </p:cNvSpPr>
          <p:nvPr>
            <p:ph type="sldNum" sz="quarter" idx="12"/>
          </p:nvPr>
        </p:nvSpPr>
        <p:spPr/>
        <p:txBody>
          <a:bodyPr/>
          <a:lstStyle/>
          <a:p>
            <a:fld id="{5ACA52AF-F19D-405C-AD5F-7D94B96A5CC3}" type="slidenum">
              <a:rPr lang="de-CH" noProof="0" smtClean="0"/>
              <a:t>28</a:t>
            </a:fld>
            <a:endParaRPr lang="de-CH" noProof="0"/>
          </a:p>
        </p:txBody>
      </p:sp>
      <p:sp>
        <p:nvSpPr>
          <p:cNvPr id="5" name="Footer Placeholder 4">
            <a:extLst>
              <a:ext uri="{FF2B5EF4-FFF2-40B4-BE49-F238E27FC236}">
                <a16:creationId xmlns:a16="http://schemas.microsoft.com/office/drawing/2014/main" id="{42FC8D83-1529-C393-6F2A-1E17E137BA1C}"/>
              </a:ext>
            </a:extLst>
          </p:cNvPr>
          <p:cNvSpPr>
            <a:spLocks noGrp="1"/>
          </p:cNvSpPr>
          <p:nvPr>
            <p:ph type="ftr" sz="quarter" idx="11"/>
          </p:nvPr>
        </p:nvSpPr>
        <p:spPr>
          <a:xfrm>
            <a:off x="5723751" y="6522444"/>
            <a:ext cx="744495" cy="216000"/>
          </a:xfrm>
        </p:spPr>
        <p:txBody>
          <a:bodyPr/>
          <a:lstStyle/>
          <a:p>
            <a:pPr algn="ctr"/>
            <a:r>
              <a:rPr lang="de-DE" noProof="0"/>
              <a:t>Discussion</a:t>
            </a:r>
            <a:endParaRPr lang="de-CH" noProof="0"/>
          </a:p>
        </p:txBody>
      </p:sp>
      <p:sp>
        <p:nvSpPr>
          <p:cNvPr id="2" name="Google Shape;187;p21">
            <a:extLst>
              <a:ext uri="{FF2B5EF4-FFF2-40B4-BE49-F238E27FC236}">
                <a16:creationId xmlns:a16="http://schemas.microsoft.com/office/drawing/2014/main" id="{30E34DB2-4E70-DFCF-E692-A0B261CBB8CC}"/>
              </a:ext>
            </a:extLst>
          </p:cNvPr>
          <p:cNvSpPr txBox="1"/>
          <p:nvPr/>
        </p:nvSpPr>
        <p:spPr>
          <a:xfrm>
            <a:off x="627922" y="576000"/>
            <a:ext cx="7558816" cy="513000"/>
          </a:xfrm>
          <a:prstGeom prst="rect">
            <a:avLst/>
          </a:prstGeom>
          <a:noFill/>
          <a:ln>
            <a:noFill/>
          </a:ln>
        </p:spPr>
        <p:txBody>
          <a:bodyPr spcFirstLastPara="1" wrap="square" lIns="118900" tIns="118900" rIns="118900" bIns="118900" anchor="b" anchorCtr="0">
            <a:noAutofit/>
          </a:bodyPr>
          <a:lstStyle/>
          <a:p>
            <a:r>
              <a:rPr lang="en-CH" sz="3200"/>
              <a:t>Strengths</a:t>
            </a:r>
          </a:p>
        </p:txBody>
      </p:sp>
    </p:spTree>
    <p:extLst>
      <p:ext uri="{BB962C8B-B14F-4D97-AF65-F5344CB8AC3E}">
        <p14:creationId xmlns:p14="http://schemas.microsoft.com/office/powerpoint/2010/main" val="12765297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D1831-F2A8-3CE4-5716-874D13B5975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83CD9B-FE81-4DD5-575F-B0886A891F28}"/>
              </a:ext>
            </a:extLst>
          </p:cNvPr>
          <p:cNvSpPr>
            <a:spLocks noGrp="1"/>
          </p:cNvSpPr>
          <p:nvPr>
            <p:ph idx="1"/>
          </p:nvPr>
        </p:nvSpPr>
        <p:spPr/>
        <p:txBody>
          <a:bodyPr/>
          <a:lstStyle/>
          <a:p>
            <a:pPr marL="285750" indent="-285750">
              <a:buFont typeface="Arial" panose="020B0604020202020204" pitchFamily="34" charset="0"/>
              <a:buChar char="•"/>
            </a:pPr>
            <a:endParaRPr lang="en-CH"/>
          </a:p>
          <a:p>
            <a:pPr marL="285750" indent="-285750">
              <a:buFont typeface="Arial" panose="020B0604020202020204" pitchFamily="34" charset="0"/>
              <a:buChar char="•"/>
            </a:pPr>
            <a:r>
              <a:rPr lang="en-CH" b="1"/>
              <a:t>High one-time cost </a:t>
            </a:r>
            <a:r>
              <a:rPr lang="en-CH"/>
              <a:t>upfront during pretraining</a:t>
            </a:r>
            <a:br>
              <a:rPr lang="en-GB"/>
            </a:br>
            <a:endParaRPr lang="en-GB"/>
          </a:p>
          <a:p>
            <a:pPr marL="285750" indent="-285750">
              <a:buFont typeface="Arial" panose="020B0604020202020204" pitchFamily="34" charset="0"/>
              <a:buChar char="•"/>
            </a:pPr>
            <a:r>
              <a:rPr lang="en-GB"/>
              <a:t>Study was </a:t>
            </a:r>
            <a:r>
              <a:rPr lang="en-GB" b="1"/>
              <a:t>limited to small, simplified datasets </a:t>
            </a:r>
            <a:r>
              <a:rPr lang="en-GB"/>
              <a:t>(not very “real-world”)</a:t>
            </a:r>
            <a:br>
              <a:rPr lang="en-GB" b="1"/>
            </a:br>
            <a:endParaRPr lang="en-GB" b="1"/>
          </a:p>
          <a:p>
            <a:pPr marL="285750" indent="-285750">
              <a:buFont typeface="Arial" panose="020B0604020202020204" pitchFamily="34" charset="0"/>
              <a:buChar char="•"/>
            </a:pPr>
            <a:r>
              <a:rPr lang="en-GB" b="1"/>
              <a:t>Designing a prior </a:t>
            </a:r>
            <a:r>
              <a:rPr lang="en-GB"/>
              <a:t>might not be trivial</a:t>
            </a:r>
            <a:br>
              <a:rPr lang="en-CH"/>
            </a:br>
            <a:endParaRPr lang="en-CH"/>
          </a:p>
          <a:p>
            <a:pPr marL="285750" indent="-285750">
              <a:buFont typeface="Arial" panose="020B0604020202020204" pitchFamily="34" charset="0"/>
              <a:buChar char="•"/>
            </a:pPr>
            <a:r>
              <a:rPr lang="de-CH" b="1" err="1"/>
              <a:t>Not very interpretable </a:t>
            </a:r>
            <a:r>
              <a:rPr lang="de-CH" err="1"/>
              <a:t>(no</a:t>
            </a:r>
            <a:r>
              <a:rPr lang="de-CH"/>
              <a:t> </a:t>
            </a:r>
            <a:r>
              <a:rPr lang="de-CH" err="1"/>
              <a:t>access</a:t>
            </a:r>
            <a:r>
              <a:rPr lang="de-CH"/>
              <a:t> </a:t>
            </a:r>
            <a:r>
              <a:rPr lang="de-CH" err="1"/>
              <a:t>to</a:t>
            </a:r>
            <a:r>
              <a:rPr lang="de-CH"/>
              <a:t> </a:t>
            </a:r>
            <a:r>
              <a:rPr lang="de-CH" err="1"/>
              <a:t>the latent posterior)</a:t>
            </a:r>
            <a:endParaRPr lang="en-GB"/>
          </a:p>
        </p:txBody>
      </p:sp>
      <p:sp>
        <p:nvSpPr>
          <p:cNvPr id="6" name="Slide Number Placeholder 5">
            <a:extLst>
              <a:ext uri="{FF2B5EF4-FFF2-40B4-BE49-F238E27FC236}">
                <a16:creationId xmlns:a16="http://schemas.microsoft.com/office/drawing/2014/main" id="{CDB1FE3C-C030-E1BF-A521-B8DD29CBB649}"/>
              </a:ext>
            </a:extLst>
          </p:cNvPr>
          <p:cNvSpPr>
            <a:spLocks noGrp="1"/>
          </p:cNvSpPr>
          <p:nvPr>
            <p:ph type="sldNum" sz="quarter" idx="12"/>
          </p:nvPr>
        </p:nvSpPr>
        <p:spPr/>
        <p:txBody>
          <a:bodyPr/>
          <a:lstStyle/>
          <a:p>
            <a:fld id="{5ACA52AF-F19D-405C-AD5F-7D94B96A5CC3}" type="slidenum">
              <a:rPr lang="de-CH" noProof="0" smtClean="0"/>
              <a:t>29</a:t>
            </a:fld>
            <a:endParaRPr lang="de-CH" noProof="0"/>
          </a:p>
        </p:txBody>
      </p:sp>
      <p:sp>
        <p:nvSpPr>
          <p:cNvPr id="5" name="Footer Placeholder 4">
            <a:extLst>
              <a:ext uri="{FF2B5EF4-FFF2-40B4-BE49-F238E27FC236}">
                <a16:creationId xmlns:a16="http://schemas.microsoft.com/office/drawing/2014/main" id="{2C7CCA33-2B9A-D60A-B989-E18A544C3FBD}"/>
              </a:ext>
            </a:extLst>
          </p:cNvPr>
          <p:cNvSpPr>
            <a:spLocks noGrp="1"/>
          </p:cNvSpPr>
          <p:nvPr>
            <p:ph type="ftr" sz="quarter" idx="11"/>
          </p:nvPr>
        </p:nvSpPr>
        <p:spPr>
          <a:xfrm>
            <a:off x="5723751" y="6522444"/>
            <a:ext cx="744495" cy="216000"/>
          </a:xfrm>
        </p:spPr>
        <p:txBody>
          <a:bodyPr/>
          <a:lstStyle/>
          <a:p>
            <a:pPr algn="ctr"/>
            <a:r>
              <a:rPr lang="de-DE" noProof="0"/>
              <a:t>Discussion</a:t>
            </a:r>
            <a:endParaRPr lang="de-CH" noProof="0"/>
          </a:p>
        </p:txBody>
      </p:sp>
      <p:sp>
        <p:nvSpPr>
          <p:cNvPr id="2" name="Google Shape;187;p21">
            <a:extLst>
              <a:ext uri="{FF2B5EF4-FFF2-40B4-BE49-F238E27FC236}">
                <a16:creationId xmlns:a16="http://schemas.microsoft.com/office/drawing/2014/main" id="{E9B97639-EF6B-22D8-754D-4D246C5F5851}"/>
              </a:ext>
            </a:extLst>
          </p:cNvPr>
          <p:cNvSpPr txBox="1"/>
          <p:nvPr/>
        </p:nvSpPr>
        <p:spPr>
          <a:xfrm>
            <a:off x="627922" y="576000"/>
            <a:ext cx="11030678" cy="513000"/>
          </a:xfrm>
          <a:prstGeom prst="rect">
            <a:avLst/>
          </a:prstGeom>
          <a:noFill/>
          <a:ln>
            <a:noFill/>
          </a:ln>
        </p:spPr>
        <p:txBody>
          <a:bodyPr spcFirstLastPara="1" wrap="square" lIns="118900" tIns="118900" rIns="118900" bIns="118900" anchor="b" anchorCtr="0">
            <a:noAutofit/>
          </a:bodyPr>
          <a:lstStyle/>
          <a:p>
            <a:r>
              <a:rPr lang="en-CH" sz="3200"/>
              <a:t>Limitations</a:t>
            </a:r>
          </a:p>
        </p:txBody>
      </p:sp>
    </p:spTree>
    <p:extLst>
      <p:ext uri="{BB962C8B-B14F-4D97-AF65-F5344CB8AC3E}">
        <p14:creationId xmlns:p14="http://schemas.microsoft.com/office/powerpoint/2010/main" val="3060939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6428B1-BE51-E095-5853-A783C2B18878}"/>
              </a:ext>
            </a:extLst>
          </p:cNvPr>
          <p:cNvSpPr>
            <a:spLocks noGrp="1"/>
          </p:cNvSpPr>
          <p:nvPr>
            <p:ph idx="1"/>
          </p:nvPr>
        </p:nvSpPr>
        <p:spPr/>
        <p:txBody>
          <a:bodyPr/>
          <a:lstStyle/>
          <a:p>
            <a:pPr marL="285750" indent="-285750">
              <a:buFont typeface="Arial" panose="020B0604020202020204" pitchFamily="34" charset="0"/>
              <a:buChar char="•"/>
            </a:pPr>
            <a:endParaRPr lang="en-GB" b="1"/>
          </a:p>
          <a:p>
            <a:pPr marL="285750" indent="-285750">
              <a:buFont typeface="Arial" panose="020B0604020202020204" pitchFamily="34" charset="0"/>
              <a:buChar char="•"/>
            </a:pPr>
            <a:r>
              <a:rPr lang="en-GB" b="1"/>
              <a:t>TabPFNv2.5</a:t>
            </a:r>
            <a:r>
              <a:rPr lang="en-GB"/>
              <a:t> (Grinsztajn et al., 2025)</a:t>
            </a:r>
            <a:br>
              <a:rPr lang="en-GB"/>
            </a:br>
            <a:r>
              <a:rPr lang="en-GB"/>
              <a:t>Improved classification of tabular data using a prior over Structural Causal Models.</a:t>
            </a:r>
          </a:p>
          <a:p>
            <a:pPr marL="0" indent="0">
              <a:buNone/>
            </a:pPr>
            <a:endParaRPr lang="en-GB"/>
          </a:p>
          <a:p>
            <a:pPr marL="285750" indent="-285750">
              <a:buFont typeface="Arial" panose="020B0604020202020204" pitchFamily="34" charset="0"/>
              <a:buChar char="•"/>
            </a:pPr>
            <a:r>
              <a:rPr lang="en-GB" b="1"/>
              <a:t>Do-PFN</a:t>
            </a:r>
            <a:r>
              <a:rPr lang="en-GB"/>
              <a:t> (Robertson et al., 2025)</a:t>
            </a:r>
            <a:br>
              <a:rPr lang="en-GB"/>
            </a:br>
            <a:r>
              <a:rPr lang="en-GB"/>
              <a:t>Learns causal inference by simulating causal interventions and estimating the </a:t>
            </a:r>
            <a:br>
              <a:rPr lang="en-GB"/>
            </a:br>
            <a:r>
              <a:rPr lang="en-GB"/>
              <a:t>conditional interventional distributions.</a:t>
            </a:r>
          </a:p>
          <a:p>
            <a:pPr marL="285750" indent="-285750">
              <a:buFont typeface="Arial" panose="020B0604020202020204" pitchFamily="34" charset="0"/>
              <a:buChar char="•"/>
            </a:pPr>
            <a:endParaRPr lang="en-GB" b="1"/>
          </a:p>
          <a:p>
            <a:pPr marL="285750" indent="-285750">
              <a:buFont typeface="Arial" panose="020B0604020202020204" pitchFamily="34" charset="0"/>
              <a:buChar char="•"/>
            </a:pPr>
            <a:r>
              <a:rPr lang="en-GB" b="1"/>
              <a:t>Mamba4Cast</a:t>
            </a:r>
            <a:r>
              <a:rPr lang="en-GB"/>
              <a:t> (Bhethanabhotla et al., 2024)</a:t>
            </a:r>
            <a:br>
              <a:rPr lang="en-GB"/>
            </a:br>
            <a:r>
              <a:rPr lang="en-GB"/>
              <a:t>Zero-shot time series forecasting with Mamba architecture instead of Transformer for faster inference.</a:t>
            </a:r>
            <a:br>
              <a:rPr lang="en-GB"/>
            </a:br>
            <a:endParaRPr lang="en-GB"/>
          </a:p>
          <a:p>
            <a:pPr marL="0" indent="0">
              <a:buNone/>
            </a:pPr>
            <a:endParaRPr lang="en-GB"/>
          </a:p>
          <a:p>
            <a:pPr marL="0" indent="0">
              <a:buNone/>
            </a:pPr>
            <a:r>
              <a:rPr lang="en-GB"/>
              <a:t>and many more...</a:t>
            </a:r>
          </a:p>
          <a:p>
            <a:pPr marL="285750" indent="-285750">
              <a:buFont typeface="Arial" panose="020B0604020202020204" pitchFamily="34" charset="0"/>
              <a:buChar char="•"/>
            </a:pPr>
            <a:endParaRPr lang="en-GB"/>
          </a:p>
        </p:txBody>
      </p:sp>
      <p:sp>
        <p:nvSpPr>
          <p:cNvPr id="6" name="Slide Number Placeholder 5">
            <a:extLst>
              <a:ext uri="{FF2B5EF4-FFF2-40B4-BE49-F238E27FC236}">
                <a16:creationId xmlns:a16="http://schemas.microsoft.com/office/drawing/2014/main" id="{843DFFAA-3A1B-EB02-DE29-7BB9F43E69A1}"/>
              </a:ext>
            </a:extLst>
          </p:cNvPr>
          <p:cNvSpPr>
            <a:spLocks noGrp="1"/>
          </p:cNvSpPr>
          <p:nvPr>
            <p:ph type="sldNum" sz="quarter" idx="12"/>
          </p:nvPr>
        </p:nvSpPr>
        <p:spPr/>
        <p:txBody>
          <a:bodyPr/>
          <a:lstStyle/>
          <a:p>
            <a:fld id="{5ACA52AF-F19D-405C-AD5F-7D94B96A5CC3}" type="slidenum">
              <a:rPr lang="de-CH" noProof="0" smtClean="0"/>
              <a:t>30</a:t>
            </a:fld>
            <a:endParaRPr lang="de-CH" noProof="0"/>
          </a:p>
        </p:txBody>
      </p:sp>
      <p:sp>
        <p:nvSpPr>
          <p:cNvPr id="9" name="Footer Placeholder 4">
            <a:extLst>
              <a:ext uri="{FF2B5EF4-FFF2-40B4-BE49-F238E27FC236}">
                <a16:creationId xmlns:a16="http://schemas.microsoft.com/office/drawing/2014/main" id="{E50DBE75-B594-E36C-C60A-E8623D24037A}"/>
              </a:ext>
            </a:extLst>
          </p:cNvPr>
          <p:cNvSpPr>
            <a:spLocks noGrp="1"/>
          </p:cNvSpPr>
          <p:nvPr>
            <p:ph type="ftr" sz="quarter" idx="11"/>
          </p:nvPr>
        </p:nvSpPr>
        <p:spPr>
          <a:xfrm>
            <a:off x="5723751" y="6522444"/>
            <a:ext cx="744495" cy="216000"/>
          </a:xfrm>
        </p:spPr>
        <p:txBody>
          <a:bodyPr/>
          <a:lstStyle/>
          <a:p>
            <a:pPr algn="ctr"/>
            <a:r>
              <a:rPr lang="de-DE" noProof="0"/>
              <a:t>Discussion</a:t>
            </a:r>
            <a:endParaRPr lang="de-CH" noProof="0"/>
          </a:p>
        </p:txBody>
      </p:sp>
      <p:sp>
        <p:nvSpPr>
          <p:cNvPr id="11" name="Google Shape;187;p21">
            <a:extLst>
              <a:ext uri="{FF2B5EF4-FFF2-40B4-BE49-F238E27FC236}">
                <a16:creationId xmlns:a16="http://schemas.microsoft.com/office/drawing/2014/main" id="{47D2E4DE-98EF-6400-4CCB-608E0E160B32}"/>
              </a:ext>
            </a:extLst>
          </p:cNvPr>
          <p:cNvSpPr txBox="1"/>
          <p:nvPr/>
        </p:nvSpPr>
        <p:spPr>
          <a:xfrm>
            <a:off x="627922" y="576000"/>
            <a:ext cx="11030678" cy="513000"/>
          </a:xfrm>
          <a:prstGeom prst="rect">
            <a:avLst/>
          </a:prstGeom>
          <a:noFill/>
          <a:ln>
            <a:noFill/>
          </a:ln>
        </p:spPr>
        <p:txBody>
          <a:bodyPr spcFirstLastPara="1" wrap="square" lIns="118900" tIns="118900" rIns="118900" bIns="118900" anchor="b" anchorCtr="0">
            <a:noAutofit/>
          </a:bodyPr>
          <a:lstStyle/>
          <a:p>
            <a:r>
              <a:rPr lang="en-CH" sz="3200"/>
              <a:t>Further developments and applications of PFNs</a:t>
            </a:r>
          </a:p>
        </p:txBody>
      </p:sp>
    </p:spTree>
    <p:extLst>
      <p:ext uri="{BB962C8B-B14F-4D97-AF65-F5344CB8AC3E}">
        <p14:creationId xmlns:p14="http://schemas.microsoft.com/office/powerpoint/2010/main" val="33741649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6A7B7-DB84-9D19-73F6-5256822BFFD2}"/>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24867F6-D66A-B004-0CA9-6D6480AEE563}"/>
              </a:ext>
            </a:extLst>
          </p:cNvPr>
          <p:cNvSpPr>
            <a:spLocks noGrp="1"/>
          </p:cNvSpPr>
          <p:nvPr>
            <p:ph type="sldNum" sz="quarter" idx="12"/>
          </p:nvPr>
        </p:nvSpPr>
        <p:spPr/>
        <p:txBody>
          <a:bodyPr/>
          <a:lstStyle/>
          <a:p>
            <a:fld id="{5ACA52AF-F19D-405C-AD5F-7D94B96A5CC3}" type="slidenum">
              <a:rPr lang="de-CH" noProof="0" smtClean="0"/>
              <a:t>31</a:t>
            </a:fld>
            <a:endParaRPr lang="de-CH" noProof="0"/>
          </a:p>
        </p:txBody>
      </p:sp>
      <p:sp>
        <p:nvSpPr>
          <p:cNvPr id="9" name="Google Shape;187;p21">
            <a:extLst>
              <a:ext uri="{FF2B5EF4-FFF2-40B4-BE49-F238E27FC236}">
                <a16:creationId xmlns:a16="http://schemas.microsoft.com/office/drawing/2014/main" id="{1AC06A30-CC8F-C4EF-7A0F-E3FB873FA7B8}"/>
              </a:ext>
            </a:extLst>
          </p:cNvPr>
          <p:cNvSpPr txBox="1"/>
          <p:nvPr/>
        </p:nvSpPr>
        <p:spPr>
          <a:xfrm>
            <a:off x="627923" y="576000"/>
            <a:ext cx="7667400" cy="513000"/>
          </a:xfrm>
          <a:prstGeom prst="rect">
            <a:avLst/>
          </a:prstGeom>
          <a:noFill/>
          <a:ln>
            <a:noFill/>
          </a:ln>
        </p:spPr>
        <p:txBody>
          <a:bodyPr spcFirstLastPara="1" wrap="square" lIns="118900" tIns="118900" rIns="118900" bIns="118900" anchor="b" anchorCtr="0">
            <a:noAutofit/>
          </a:bodyPr>
          <a:lstStyle/>
          <a:p>
            <a:pPr marL="0" lvl="0" indent="0" algn="l" rtl="0">
              <a:spcBef>
                <a:spcPts val="0"/>
              </a:spcBef>
              <a:spcAft>
                <a:spcPts val="0"/>
              </a:spcAft>
              <a:buNone/>
            </a:pPr>
            <a:r>
              <a:rPr lang="de-CH" sz="3200" b="1" err="1">
                <a:solidFill>
                  <a:schemeClr val="dk1"/>
                </a:solidFill>
              </a:rPr>
              <a:t>Take-Home messages</a:t>
            </a:r>
            <a:endParaRPr sz="3200" b="1">
              <a:solidFill>
                <a:schemeClr val="dk1"/>
              </a:solidFill>
            </a:endParaRPr>
          </a:p>
        </p:txBody>
      </p:sp>
    </p:spTree>
    <p:extLst>
      <p:ext uri="{BB962C8B-B14F-4D97-AF65-F5344CB8AC3E}">
        <p14:creationId xmlns:p14="http://schemas.microsoft.com/office/powerpoint/2010/main" val="21958645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FE9CA-9FC0-6A7D-F9F6-D611E582B6F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936D80-2C9B-AB9F-AEA7-8EF2DF708FDF}"/>
              </a:ext>
            </a:extLst>
          </p:cNvPr>
          <p:cNvSpPr>
            <a:spLocks noGrp="1"/>
          </p:cNvSpPr>
          <p:nvPr>
            <p:ph idx="1"/>
          </p:nvPr>
        </p:nvSpPr>
        <p:spPr>
          <a:xfrm>
            <a:off x="731837" y="1080655"/>
            <a:ext cx="10728325" cy="5012220"/>
          </a:xfrm>
        </p:spPr>
        <p:txBody>
          <a:bodyPr/>
          <a:lstStyle/>
          <a:p>
            <a:pPr marL="0" indent="0">
              <a:buNone/>
            </a:pPr>
            <a:br>
              <a:rPr lang="en-CH"/>
            </a:br>
            <a:endParaRPr lang="en-CH"/>
          </a:p>
          <a:p>
            <a:pPr marL="285750" indent="-285750">
              <a:lnSpc>
                <a:spcPct val="150000"/>
              </a:lnSpc>
              <a:buFont typeface="Arial" panose="020B0604020202020204" pitchFamily="34" charset="0"/>
              <a:buChar char="•"/>
            </a:pPr>
            <a:r>
              <a:rPr lang="en-GB"/>
              <a:t>PFNs are transformers that train on </a:t>
            </a:r>
            <a:r>
              <a:rPr lang="en-GB" b="1"/>
              <a:t>synthetic datasets sampled from a prior </a:t>
            </a:r>
            <a:br>
              <a:rPr lang="en-GB" b="1"/>
            </a:br>
            <a:r>
              <a:rPr lang="en-GB"/>
              <a:t>in order to </a:t>
            </a:r>
            <a:r>
              <a:rPr lang="en-GB" b="1"/>
              <a:t>meta-learn Bayesian inference</a:t>
            </a:r>
            <a:br>
              <a:rPr lang="en-GB" b="1"/>
            </a:br>
            <a:endParaRPr lang="en-GB"/>
          </a:p>
          <a:p>
            <a:pPr marL="285750" indent="-285750">
              <a:lnSpc>
                <a:spcPct val="150000"/>
              </a:lnSpc>
              <a:buFont typeface="Arial" panose="020B0604020202020204" pitchFamily="34" charset="0"/>
              <a:buChar char="•"/>
            </a:pPr>
            <a:r>
              <a:rPr lang="en-GB"/>
              <a:t>Are </a:t>
            </a:r>
            <a:r>
              <a:rPr lang="en-GB" b="1"/>
              <a:t>fast</a:t>
            </a:r>
            <a:r>
              <a:rPr lang="en-GB"/>
              <a:t> </a:t>
            </a:r>
            <a:r>
              <a:rPr lang="en-GB" b="1"/>
              <a:t>during inference (1 forward pass) </a:t>
            </a:r>
            <a:r>
              <a:rPr lang="en-GB"/>
              <a:t>but require some pretraining</a:t>
            </a:r>
            <a:br>
              <a:rPr lang="en-GB"/>
            </a:br>
            <a:endParaRPr lang="en-GB"/>
          </a:p>
          <a:p>
            <a:pPr marL="285750" indent="-285750">
              <a:lnSpc>
                <a:spcPct val="150000"/>
              </a:lnSpc>
              <a:buFont typeface="Arial" panose="020B0604020202020204" pitchFamily="34" charset="0"/>
              <a:buChar char="•"/>
            </a:pPr>
            <a:r>
              <a:rPr lang="en-GB"/>
              <a:t>Use a</a:t>
            </a:r>
            <a:r>
              <a:rPr lang="en-GB" b="1"/>
              <a:t> novel regression head </a:t>
            </a:r>
            <a:r>
              <a:rPr lang="en-GB"/>
              <a:t>that turns regression into a network-friendly classification problem</a:t>
            </a:r>
            <a:br>
              <a:rPr lang="en-GB"/>
            </a:br>
            <a:endParaRPr lang="en-CH"/>
          </a:p>
          <a:p>
            <a:pPr marL="285750" indent="-285750">
              <a:lnSpc>
                <a:spcPct val="150000"/>
              </a:lnSpc>
              <a:buFont typeface="Arial" panose="020B0604020202020204" pitchFamily="34" charset="0"/>
              <a:buChar char="•"/>
            </a:pPr>
            <a:r>
              <a:rPr lang="en-GB"/>
              <a:t>Excel on </a:t>
            </a:r>
            <a:r>
              <a:rPr lang="en-GB" b="1"/>
              <a:t>small tabular data</a:t>
            </a:r>
            <a:r>
              <a:rPr lang="en-GB"/>
              <a:t>, and have shown to enable </a:t>
            </a:r>
            <a:r>
              <a:rPr lang="en-GB" b="1"/>
              <a:t>few-shot learning </a:t>
            </a:r>
            <a:r>
              <a:rPr lang="en-GB"/>
              <a:t>(with fine-tuning)</a:t>
            </a:r>
            <a:br>
              <a:rPr lang="en-GB"/>
            </a:br>
            <a:endParaRPr lang="en-GB"/>
          </a:p>
          <a:p>
            <a:pPr>
              <a:buFont typeface="Arial" panose="020B0604020202020204" pitchFamily="34" charset="0"/>
              <a:buChar char="•"/>
            </a:pPr>
            <a:endParaRPr lang="en-GB" b="1"/>
          </a:p>
        </p:txBody>
      </p:sp>
      <p:sp>
        <p:nvSpPr>
          <p:cNvPr id="6" name="Slide Number Placeholder 5">
            <a:extLst>
              <a:ext uri="{FF2B5EF4-FFF2-40B4-BE49-F238E27FC236}">
                <a16:creationId xmlns:a16="http://schemas.microsoft.com/office/drawing/2014/main" id="{CFA1FCE5-54D5-0828-41BF-04EAA49A31B7}"/>
              </a:ext>
            </a:extLst>
          </p:cNvPr>
          <p:cNvSpPr>
            <a:spLocks noGrp="1"/>
          </p:cNvSpPr>
          <p:nvPr>
            <p:ph type="sldNum" sz="quarter" idx="12"/>
          </p:nvPr>
        </p:nvSpPr>
        <p:spPr/>
        <p:txBody>
          <a:bodyPr/>
          <a:lstStyle/>
          <a:p>
            <a:fld id="{5ACA52AF-F19D-405C-AD5F-7D94B96A5CC3}" type="slidenum">
              <a:rPr lang="de-CH" noProof="0" smtClean="0"/>
              <a:t>32</a:t>
            </a:fld>
            <a:endParaRPr lang="de-CH" noProof="0"/>
          </a:p>
        </p:txBody>
      </p:sp>
      <p:sp>
        <p:nvSpPr>
          <p:cNvPr id="9" name="Footer Placeholder 4">
            <a:extLst>
              <a:ext uri="{FF2B5EF4-FFF2-40B4-BE49-F238E27FC236}">
                <a16:creationId xmlns:a16="http://schemas.microsoft.com/office/drawing/2014/main" id="{C8DB3449-8A53-CD7B-45AC-BB70B08AE7C8}"/>
              </a:ext>
            </a:extLst>
          </p:cNvPr>
          <p:cNvSpPr>
            <a:spLocks noGrp="1"/>
          </p:cNvSpPr>
          <p:nvPr>
            <p:ph type="ftr" sz="quarter" idx="11"/>
          </p:nvPr>
        </p:nvSpPr>
        <p:spPr>
          <a:xfrm>
            <a:off x="5723751" y="6522444"/>
            <a:ext cx="744495" cy="216000"/>
          </a:xfrm>
        </p:spPr>
        <p:txBody>
          <a:bodyPr/>
          <a:lstStyle/>
          <a:p>
            <a:pPr algn="ctr"/>
            <a:r>
              <a:rPr lang="de-DE" noProof="0"/>
              <a:t>Discussion</a:t>
            </a:r>
            <a:endParaRPr lang="de-CH" noProof="0"/>
          </a:p>
        </p:txBody>
      </p:sp>
      <p:sp>
        <p:nvSpPr>
          <p:cNvPr id="7" name="Google Shape;187;p21">
            <a:extLst>
              <a:ext uri="{FF2B5EF4-FFF2-40B4-BE49-F238E27FC236}">
                <a16:creationId xmlns:a16="http://schemas.microsoft.com/office/drawing/2014/main" id="{F5778630-3300-71A2-70EB-1B63E8794AB0}"/>
              </a:ext>
            </a:extLst>
          </p:cNvPr>
          <p:cNvSpPr txBox="1"/>
          <p:nvPr/>
        </p:nvSpPr>
        <p:spPr>
          <a:xfrm>
            <a:off x="627922" y="576000"/>
            <a:ext cx="10832239" cy="513000"/>
          </a:xfrm>
          <a:prstGeom prst="rect">
            <a:avLst/>
          </a:prstGeom>
          <a:noFill/>
          <a:ln>
            <a:noFill/>
          </a:ln>
        </p:spPr>
        <p:txBody>
          <a:bodyPr spcFirstLastPara="1" wrap="square" lIns="118900" tIns="118900" rIns="118900" bIns="118900" anchor="b" anchorCtr="0">
            <a:noAutofit/>
          </a:bodyPr>
          <a:lstStyle/>
          <a:p>
            <a:r>
              <a:rPr lang="en-GB" sz="3200"/>
              <a:t>Prior-Data Fitted Networks</a:t>
            </a:r>
            <a:endParaRPr lang="en-CH" sz="3200"/>
          </a:p>
        </p:txBody>
      </p:sp>
    </p:spTree>
    <p:extLst>
      <p:ext uri="{BB962C8B-B14F-4D97-AF65-F5344CB8AC3E}">
        <p14:creationId xmlns:p14="http://schemas.microsoft.com/office/powerpoint/2010/main" val="22329908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39C29-21CC-B3F6-5CD5-D54ED1199397}"/>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49A036B-2C6B-6220-C64D-D013021B9349}"/>
              </a:ext>
            </a:extLst>
          </p:cNvPr>
          <p:cNvSpPr>
            <a:spLocks noGrp="1"/>
          </p:cNvSpPr>
          <p:nvPr>
            <p:ph type="sldNum" sz="quarter" idx="12"/>
          </p:nvPr>
        </p:nvSpPr>
        <p:spPr/>
        <p:txBody>
          <a:bodyPr/>
          <a:lstStyle/>
          <a:p>
            <a:fld id="{5ACA52AF-F19D-405C-AD5F-7D94B96A5CC3}" type="slidenum">
              <a:rPr lang="de-CH" noProof="0" smtClean="0"/>
              <a:t>33</a:t>
            </a:fld>
            <a:endParaRPr lang="de-CH" noProof="0"/>
          </a:p>
        </p:txBody>
      </p:sp>
      <p:sp>
        <p:nvSpPr>
          <p:cNvPr id="9" name="Google Shape;187;p21">
            <a:extLst>
              <a:ext uri="{FF2B5EF4-FFF2-40B4-BE49-F238E27FC236}">
                <a16:creationId xmlns:a16="http://schemas.microsoft.com/office/drawing/2014/main" id="{AD3455E4-BF92-023D-3BE2-669D56CC8583}"/>
              </a:ext>
            </a:extLst>
          </p:cNvPr>
          <p:cNvSpPr txBox="1"/>
          <p:nvPr/>
        </p:nvSpPr>
        <p:spPr>
          <a:xfrm>
            <a:off x="627923" y="576000"/>
            <a:ext cx="7667400" cy="513000"/>
          </a:xfrm>
          <a:prstGeom prst="rect">
            <a:avLst/>
          </a:prstGeom>
          <a:noFill/>
          <a:ln>
            <a:noFill/>
          </a:ln>
        </p:spPr>
        <p:txBody>
          <a:bodyPr spcFirstLastPara="1" wrap="square" lIns="118900" tIns="118900" rIns="118900" bIns="118900" anchor="b" anchorCtr="0">
            <a:noAutofit/>
          </a:bodyPr>
          <a:lstStyle/>
          <a:p>
            <a:pPr marL="0" lvl="0" indent="0" algn="l" rtl="0">
              <a:spcBef>
                <a:spcPts val="0"/>
              </a:spcBef>
              <a:spcAft>
                <a:spcPts val="0"/>
              </a:spcAft>
              <a:buNone/>
            </a:pPr>
            <a:r>
              <a:rPr lang="de-CH" sz="3200" b="1" err="1">
                <a:solidFill>
                  <a:schemeClr val="dk1"/>
                </a:solidFill>
              </a:rPr>
              <a:t>References</a:t>
            </a:r>
            <a:endParaRPr sz="3200" b="1">
              <a:solidFill>
                <a:schemeClr val="dk1"/>
              </a:solidFill>
            </a:endParaRPr>
          </a:p>
        </p:txBody>
      </p:sp>
      <p:sp>
        <p:nvSpPr>
          <p:cNvPr id="2" name="Content Placeholder 2">
            <a:extLst>
              <a:ext uri="{FF2B5EF4-FFF2-40B4-BE49-F238E27FC236}">
                <a16:creationId xmlns:a16="http://schemas.microsoft.com/office/drawing/2014/main" id="{2A7C6119-701A-F60C-AA76-4F7D53D2982D}"/>
              </a:ext>
            </a:extLst>
          </p:cNvPr>
          <p:cNvSpPr>
            <a:spLocks noGrp="1"/>
          </p:cNvSpPr>
          <p:nvPr>
            <p:ph idx="1"/>
          </p:nvPr>
        </p:nvSpPr>
        <p:spPr>
          <a:xfrm>
            <a:off x="731837" y="1412875"/>
            <a:ext cx="10728325" cy="4680000"/>
          </a:xfrm>
        </p:spPr>
        <p:txBody>
          <a:bodyPr/>
          <a:lstStyle/>
          <a:p>
            <a:pPr marL="0" indent="0">
              <a:buNone/>
            </a:pPr>
            <a:r>
              <a:rPr lang="en-GB" sz="1400" b="1"/>
              <a:t>Bhethanabhotla</a:t>
            </a:r>
            <a:r>
              <a:rPr lang="en-GB" sz="1400"/>
              <a:t>, S. K., Swelam, O., Siems, J., Salinas, D., &amp; Hutter, F. (</a:t>
            </a:r>
            <a:r>
              <a:rPr lang="en-GB" sz="1400" b="1"/>
              <a:t>2024</a:t>
            </a:r>
            <a:r>
              <a:rPr lang="en-GB" sz="1400"/>
              <a:t>). Mamba4Cast: Efficient Zero-Shot Time Series Forecasting with State Space Models. arXiv.org. https://arxiv.org/abs/2410.09385</a:t>
            </a:r>
          </a:p>
          <a:p>
            <a:pPr marL="0" indent="0">
              <a:buNone/>
            </a:pPr>
            <a:r>
              <a:rPr lang="en-GB" sz="1400" b="1"/>
              <a:t>Grinsztajn</a:t>
            </a:r>
            <a:r>
              <a:rPr lang="en-GB" sz="1400"/>
              <a:t>, L., Flöge, K., Key, O., Birkel, F., Jund, P., Roof, B., Jäger, B., Safaric, D., Alessi, S., Hayler, A., Manium, M., Yu, R., Jablonski, F., Hoo, S. B., Garg, A., Robertson, J., Bühler, M., Moroshan, V., Purucker, L., . . . Hutter, F. (</a:t>
            </a:r>
            <a:r>
              <a:rPr lang="en-GB" sz="1400" b="1"/>
              <a:t>2025</a:t>
            </a:r>
            <a:r>
              <a:rPr lang="en-GB" sz="1400"/>
              <a:t>). TABPFN-2.5: Advancing the state of the art in tabular foundation models. arXiv (Cornell University). https://doi.org/10.48550/arxiv.2511.08667</a:t>
            </a:r>
          </a:p>
          <a:p>
            <a:pPr marL="0" indent="0">
              <a:buNone/>
            </a:pPr>
            <a:r>
              <a:rPr lang="en-GB" sz="1400" b="1"/>
              <a:t>Kim</a:t>
            </a:r>
            <a:r>
              <a:rPr lang="en-GB" sz="1400"/>
              <a:t>, H., Mnih, A., Schwarz, J., Garnelo, M., Eslami, A., Rosenbaum, D., Vinyals, O., &amp; Teh, Y. W. (</a:t>
            </a:r>
            <a:r>
              <a:rPr lang="en-GB" sz="1400" b="1"/>
              <a:t>2018</a:t>
            </a:r>
            <a:r>
              <a:rPr lang="en-GB" sz="1400"/>
              <a:t>). Attentive neural processes. In International Conference on Learning Representations.</a:t>
            </a:r>
          </a:p>
          <a:p>
            <a:pPr marL="0" indent="0">
              <a:buNone/>
            </a:pPr>
            <a:r>
              <a:rPr lang="en-GB" sz="1400" b="1"/>
              <a:t>Lueckmann</a:t>
            </a:r>
            <a:r>
              <a:rPr lang="en-GB" sz="1400"/>
              <a:t>, J.-M., Boelts, J., Greenberg, D., Goncalves, P., &amp; Macke, J. (</a:t>
            </a:r>
            <a:r>
              <a:rPr lang="en-GB" sz="1400" b="1"/>
              <a:t>2021</a:t>
            </a:r>
            <a:r>
              <a:rPr lang="en-GB" sz="1400"/>
              <a:t>). Benchmarking simulation-based inference. In International Conference on Artificial Intelligence and Statistics, pp. 343–351. PMLR.</a:t>
            </a:r>
          </a:p>
          <a:p>
            <a:pPr marL="0" indent="0">
              <a:buNone/>
            </a:pPr>
            <a:r>
              <a:rPr lang="en-GB" sz="1400" b="1"/>
              <a:t>Müller</a:t>
            </a:r>
            <a:r>
              <a:rPr lang="en-GB" sz="1400"/>
              <a:t>, S., Hollmann, N., Arango, S. P., Grabocka, J., &amp; Hutter, F. (</a:t>
            </a:r>
            <a:r>
              <a:rPr lang="en-GB" sz="1400" b="1"/>
              <a:t>2021</a:t>
            </a:r>
            <a:r>
              <a:rPr lang="en-GB" sz="1400"/>
              <a:t>). Transformers can do Bayesian inference. arXiv.org. https://arxiv.org/abs/2112.10510</a:t>
            </a:r>
          </a:p>
          <a:p>
            <a:pPr marL="0" indent="0">
              <a:buNone/>
            </a:pPr>
            <a:r>
              <a:rPr lang="en-GB" sz="1400" b="1"/>
              <a:t>Müller</a:t>
            </a:r>
            <a:r>
              <a:rPr lang="en-GB" sz="1400"/>
              <a:t>, S., Reuter, A., Hollmann, N., Rügamer, D., &amp; Hutter, F. (</a:t>
            </a:r>
            <a:r>
              <a:rPr lang="en-GB" sz="1400" b="1"/>
              <a:t>2025</a:t>
            </a:r>
            <a:r>
              <a:rPr lang="en-GB" sz="1400"/>
              <a:t>). Position: The future of Bayesian prediction is Prior-Fitted. arXiv (Cornell University). https://doi.org/10.48550/arxiv.2505.23947</a:t>
            </a:r>
          </a:p>
          <a:p>
            <a:pPr marL="0" indent="0">
              <a:buNone/>
            </a:pPr>
            <a:r>
              <a:rPr lang="en-GB" sz="1400" b="1"/>
              <a:t>Reuter</a:t>
            </a:r>
            <a:r>
              <a:rPr lang="en-GB" sz="1400"/>
              <a:t>, A., Rudner, T. G. J., Fortuin, V., &amp; Rügamer, D. (</a:t>
            </a:r>
            <a:r>
              <a:rPr lang="en-GB" sz="1400" b="1"/>
              <a:t>2025</a:t>
            </a:r>
            <a:r>
              <a:rPr lang="en-GB" sz="1400"/>
              <a:t>). Can transformers learn full Bayesian inference in context? arXiv.org. https://arxiv.org/abs/2501.16825</a:t>
            </a:r>
          </a:p>
          <a:p>
            <a:pPr marL="0" indent="0">
              <a:buNone/>
            </a:pPr>
            <a:r>
              <a:rPr lang="en-GB" sz="1400" b="1"/>
              <a:t>Robertson</a:t>
            </a:r>
            <a:r>
              <a:rPr lang="en-GB" sz="1400"/>
              <a:t>, J., Reuter, A., Guo, S., Hollmann, N., Hutter, F., &amp; Schölkopf, B. (</a:t>
            </a:r>
            <a:r>
              <a:rPr lang="en-GB" sz="1400" b="1"/>
              <a:t>2025</a:t>
            </a:r>
            <a:r>
              <a:rPr lang="en-GB" sz="1400"/>
              <a:t>). Do-PFN: In-Context learning for Causal effect Estimation. arXiv.org. https://arxiv.org/abs/2506.06039</a:t>
            </a:r>
            <a:endParaRPr lang="en-CH" sz="1400"/>
          </a:p>
        </p:txBody>
      </p:sp>
    </p:spTree>
    <p:extLst>
      <p:ext uri="{BB962C8B-B14F-4D97-AF65-F5344CB8AC3E}">
        <p14:creationId xmlns:p14="http://schemas.microsoft.com/office/powerpoint/2010/main" val="3409288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3561-B565-716A-C8AE-110D8BC00D98}"/>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40CC581-7F8D-155E-6722-3A3FE71BDA1B}"/>
              </a:ext>
            </a:extLst>
          </p:cNvPr>
          <p:cNvSpPr>
            <a:spLocks noGrp="1"/>
          </p:cNvSpPr>
          <p:nvPr>
            <p:ph type="sldNum" sz="quarter" idx="12"/>
          </p:nvPr>
        </p:nvSpPr>
        <p:spPr/>
        <p:txBody>
          <a:bodyPr/>
          <a:lstStyle/>
          <a:p>
            <a:fld id="{5ACA52AF-F19D-405C-AD5F-7D94B96A5CC3}" type="slidenum">
              <a:rPr lang="de-CH" noProof="0" smtClean="0"/>
              <a:t>34</a:t>
            </a:fld>
            <a:endParaRPr lang="de-CH" noProof="0"/>
          </a:p>
        </p:txBody>
      </p:sp>
      <p:sp>
        <p:nvSpPr>
          <p:cNvPr id="9" name="Google Shape;187;p21">
            <a:extLst>
              <a:ext uri="{FF2B5EF4-FFF2-40B4-BE49-F238E27FC236}">
                <a16:creationId xmlns:a16="http://schemas.microsoft.com/office/drawing/2014/main" id="{17897654-CB0A-612E-04AC-D52496863E1D}"/>
              </a:ext>
            </a:extLst>
          </p:cNvPr>
          <p:cNvSpPr txBox="1"/>
          <p:nvPr/>
        </p:nvSpPr>
        <p:spPr>
          <a:xfrm>
            <a:off x="627923" y="576000"/>
            <a:ext cx="7667400" cy="513000"/>
          </a:xfrm>
          <a:prstGeom prst="rect">
            <a:avLst/>
          </a:prstGeom>
          <a:noFill/>
          <a:ln>
            <a:noFill/>
          </a:ln>
        </p:spPr>
        <p:txBody>
          <a:bodyPr spcFirstLastPara="1" wrap="square" lIns="118900" tIns="118900" rIns="118900" bIns="118900" anchor="b" anchorCtr="0">
            <a:noAutofit/>
          </a:bodyPr>
          <a:lstStyle/>
          <a:p>
            <a:pPr marL="0" lvl="0" indent="0" algn="l" rtl="0">
              <a:spcBef>
                <a:spcPts val="0"/>
              </a:spcBef>
              <a:spcAft>
                <a:spcPts val="0"/>
              </a:spcAft>
              <a:buNone/>
            </a:pPr>
            <a:r>
              <a:rPr lang="de-CH" sz="3200" b="1" err="1">
                <a:solidFill>
                  <a:schemeClr val="dk1"/>
                </a:solidFill>
              </a:rPr>
              <a:t>References</a:t>
            </a:r>
            <a:endParaRPr sz="3200" b="1">
              <a:solidFill>
                <a:schemeClr val="dk1"/>
              </a:solidFill>
            </a:endParaRPr>
          </a:p>
        </p:txBody>
      </p:sp>
      <p:sp>
        <p:nvSpPr>
          <p:cNvPr id="2" name="Content Placeholder 2">
            <a:extLst>
              <a:ext uri="{FF2B5EF4-FFF2-40B4-BE49-F238E27FC236}">
                <a16:creationId xmlns:a16="http://schemas.microsoft.com/office/drawing/2014/main" id="{BEF4A660-B6F0-5774-1A26-7676938145AC}"/>
              </a:ext>
            </a:extLst>
          </p:cNvPr>
          <p:cNvSpPr>
            <a:spLocks noGrp="1"/>
          </p:cNvSpPr>
          <p:nvPr>
            <p:ph idx="1"/>
          </p:nvPr>
        </p:nvSpPr>
        <p:spPr>
          <a:xfrm>
            <a:off x="731837" y="1412875"/>
            <a:ext cx="10728325" cy="4680000"/>
          </a:xfrm>
        </p:spPr>
        <p:txBody>
          <a:bodyPr/>
          <a:lstStyle/>
          <a:p>
            <a:pPr marL="0" indent="0">
              <a:buNone/>
            </a:pPr>
            <a:r>
              <a:rPr lang="en-GB" sz="1400" b="1"/>
              <a:t>Grinsztajn</a:t>
            </a:r>
            <a:r>
              <a:rPr lang="en-GB" sz="1400"/>
              <a:t>, L., Flöge, K., Key, O., Birkel, F., Jund, P., Roof, B., Jäger, B., Safaric, D., Alessi, S., Hayler, A., Manium, M., Yu, R., Jablonski, F., Hoo, S.B., Garg, A., Robertson, J., Bühler, M., Moroshan, V., Purucker, L. and Cornu, C. (2025). TabPFN-2.5: Advancing the State of the Art in Tabular Foundation Models. arXiv (Cornell University). doi:https://doi.org/10.48550/arxiv.2511.08667.</a:t>
            </a:r>
          </a:p>
          <a:p>
            <a:pPr marL="0" indent="0">
              <a:buNone/>
            </a:pPr>
            <a:br>
              <a:rPr lang="en-GB" sz="1400"/>
            </a:br>
            <a:br>
              <a:rPr lang="en-GB" sz="1400"/>
            </a:br>
            <a:r>
              <a:rPr lang="en-GB" sz="1400"/>
              <a:t>Animation tool: Anthropic. (2025). Claude 4.5 Sonnet [Large language model]. https://claude.ai/new</a:t>
            </a:r>
            <a:endParaRPr lang="en-CH" sz="1400"/>
          </a:p>
        </p:txBody>
      </p:sp>
    </p:spTree>
    <p:extLst>
      <p:ext uri="{BB962C8B-B14F-4D97-AF65-F5344CB8AC3E}">
        <p14:creationId xmlns:p14="http://schemas.microsoft.com/office/powerpoint/2010/main" val="1189924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AA3E6-CBF6-0D3B-21B0-A6A49A1B2853}"/>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60F951D-40D8-0D71-3157-6E4D6E6AC88E}"/>
              </a:ext>
            </a:extLst>
          </p:cNvPr>
          <p:cNvSpPr>
            <a:spLocks noGrp="1"/>
          </p:cNvSpPr>
          <p:nvPr>
            <p:ph type="sldNum" sz="quarter" idx="12"/>
          </p:nvPr>
        </p:nvSpPr>
        <p:spPr/>
        <p:txBody>
          <a:bodyPr/>
          <a:lstStyle/>
          <a:p>
            <a:fld id="{5ACA52AF-F19D-405C-AD5F-7D94B96A5CC3}" type="slidenum">
              <a:rPr lang="de-CH" noProof="0" smtClean="0"/>
              <a:t>35</a:t>
            </a:fld>
            <a:endParaRPr lang="de-CH" noProof="0"/>
          </a:p>
        </p:txBody>
      </p:sp>
      <p:sp>
        <p:nvSpPr>
          <p:cNvPr id="9" name="Google Shape;187;p21">
            <a:extLst>
              <a:ext uri="{FF2B5EF4-FFF2-40B4-BE49-F238E27FC236}">
                <a16:creationId xmlns:a16="http://schemas.microsoft.com/office/drawing/2014/main" id="{471D12F3-D605-2C0B-5C02-A5D547544D65}"/>
              </a:ext>
            </a:extLst>
          </p:cNvPr>
          <p:cNvSpPr txBox="1"/>
          <p:nvPr/>
        </p:nvSpPr>
        <p:spPr>
          <a:xfrm>
            <a:off x="627923" y="576000"/>
            <a:ext cx="7667400" cy="513000"/>
          </a:xfrm>
          <a:prstGeom prst="rect">
            <a:avLst/>
          </a:prstGeom>
          <a:noFill/>
          <a:ln>
            <a:noFill/>
          </a:ln>
        </p:spPr>
        <p:txBody>
          <a:bodyPr spcFirstLastPara="1" wrap="square" lIns="118900" tIns="118900" rIns="118900" bIns="118900" anchor="b" anchorCtr="0">
            <a:noAutofit/>
          </a:bodyPr>
          <a:lstStyle/>
          <a:p>
            <a:pPr marL="0" lvl="0" indent="0" algn="l" rtl="0">
              <a:spcBef>
                <a:spcPts val="0"/>
              </a:spcBef>
              <a:spcAft>
                <a:spcPts val="0"/>
              </a:spcAft>
              <a:buNone/>
            </a:pPr>
            <a:r>
              <a:rPr lang="de-CH" sz="3200" b="1">
                <a:solidFill>
                  <a:schemeClr val="dk1"/>
                </a:solidFill>
              </a:rPr>
              <a:t>Any questions?</a:t>
            </a:r>
            <a:endParaRPr sz="3200" b="1">
              <a:solidFill>
                <a:schemeClr val="dk1"/>
              </a:solidFill>
            </a:endParaRPr>
          </a:p>
        </p:txBody>
      </p:sp>
    </p:spTree>
    <p:extLst>
      <p:ext uri="{BB962C8B-B14F-4D97-AF65-F5344CB8AC3E}">
        <p14:creationId xmlns:p14="http://schemas.microsoft.com/office/powerpoint/2010/main" val="15516681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5CD1945-6FD2-975B-7518-8D12294F8FEF}"/>
              </a:ext>
            </a:extLst>
          </p:cNvPr>
          <p:cNvSpPr>
            <a:spLocks noGrp="1"/>
          </p:cNvSpPr>
          <p:nvPr>
            <p:ph type="sldNum" sz="quarter" idx="12"/>
          </p:nvPr>
        </p:nvSpPr>
        <p:spPr/>
        <p:txBody>
          <a:bodyPr/>
          <a:lstStyle/>
          <a:p>
            <a:fld id="{5ACA52AF-F19D-405C-AD5F-7D94B96A5CC3}" type="slidenum">
              <a:rPr lang="de-CH" noProof="0" smtClean="0"/>
              <a:t>36</a:t>
            </a:fld>
            <a:endParaRPr lang="de-CH" noProof="0"/>
          </a:p>
        </p:txBody>
      </p:sp>
      <p:sp>
        <p:nvSpPr>
          <p:cNvPr id="7" name="Google Shape;187;p21">
            <a:extLst>
              <a:ext uri="{FF2B5EF4-FFF2-40B4-BE49-F238E27FC236}">
                <a16:creationId xmlns:a16="http://schemas.microsoft.com/office/drawing/2014/main" id="{983DE058-0631-2E35-E701-B5B183F52FDD}"/>
              </a:ext>
            </a:extLst>
          </p:cNvPr>
          <p:cNvSpPr txBox="1"/>
          <p:nvPr/>
        </p:nvSpPr>
        <p:spPr>
          <a:xfrm>
            <a:off x="627923" y="576000"/>
            <a:ext cx="7667400" cy="513000"/>
          </a:xfrm>
          <a:prstGeom prst="rect">
            <a:avLst/>
          </a:prstGeom>
          <a:noFill/>
          <a:ln>
            <a:noFill/>
          </a:ln>
        </p:spPr>
        <p:txBody>
          <a:bodyPr spcFirstLastPara="1" wrap="square" lIns="118900" tIns="118900" rIns="118900" bIns="118900" anchor="b" anchorCtr="0">
            <a:noAutofit/>
          </a:bodyPr>
          <a:lstStyle/>
          <a:p>
            <a:pPr marL="0" lvl="0" indent="0" algn="l" rtl="0">
              <a:spcBef>
                <a:spcPts val="0"/>
              </a:spcBef>
              <a:spcAft>
                <a:spcPts val="0"/>
              </a:spcAft>
              <a:buNone/>
            </a:pPr>
            <a:r>
              <a:rPr lang="de-CH" sz="3200" b="1">
                <a:solidFill>
                  <a:schemeClr val="dk1"/>
                </a:solidFill>
              </a:rPr>
              <a:t>Back-Up Slides</a:t>
            </a:r>
            <a:endParaRPr sz="3200" b="1">
              <a:solidFill>
                <a:schemeClr val="dk1"/>
              </a:solidFill>
            </a:endParaRPr>
          </a:p>
        </p:txBody>
      </p:sp>
    </p:spTree>
    <p:extLst>
      <p:ext uri="{BB962C8B-B14F-4D97-AF65-F5344CB8AC3E}">
        <p14:creationId xmlns:p14="http://schemas.microsoft.com/office/powerpoint/2010/main" val="30906456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D7B43-8D70-A028-C1B7-54C374D22850}"/>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69D8597-64AC-4770-105D-0EB15F277C56}"/>
              </a:ext>
            </a:extLst>
          </p:cNvPr>
          <p:cNvSpPr>
            <a:spLocks noGrp="1"/>
          </p:cNvSpPr>
          <p:nvPr>
            <p:ph type="sldNum" sz="quarter" idx="12"/>
          </p:nvPr>
        </p:nvSpPr>
        <p:spPr>
          <a:xfrm>
            <a:off x="11137585" y="6522444"/>
            <a:ext cx="322577" cy="216000"/>
          </a:xfrm>
        </p:spPr>
        <p:txBody>
          <a:bodyPr anchor="ctr">
            <a:normAutofit/>
          </a:bodyPr>
          <a:lstStyle/>
          <a:p>
            <a:pPr>
              <a:spcAft>
                <a:spcPts val="600"/>
              </a:spcAft>
            </a:pPr>
            <a:fld id="{5ACA52AF-F19D-405C-AD5F-7D94B96A5CC3}" type="slidenum">
              <a:rPr lang="de-CH" noProof="0" smtClean="0"/>
              <a:pPr>
                <a:spcAft>
                  <a:spcPts val="600"/>
                </a:spcAft>
              </a:pPr>
              <a:t>37</a:t>
            </a:fld>
            <a:endParaRPr lang="de-CH" noProof="0"/>
          </a:p>
        </p:txBody>
      </p:sp>
      <p:pic>
        <p:nvPicPr>
          <p:cNvPr id="7" name="Picture 6">
            <a:extLst>
              <a:ext uri="{FF2B5EF4-FFF2-40B4-BE49-F238E27FC236}">
                <a16:creationId xmlns:a16="http://schemas.microsoft.com/office/drawing/2014/main" id="{9A61FA14-211A-C4EA-F332-489651D6B2E6}"/>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289980" y="658057"/>
            <a:ext cx="11666631" cy="5477718"/>
          </a:xfrm>
          <a:prstGeom prst="rect">
            <a:avLst/>
          </a:prstGeom>
        </p:spPr>
      </p:pic>
      <p:sp>
        <p:nvSpPr>
          <p:cNvPr id="9" name="Footer Placeholder 4">
            <a:extLst>
              <a:ext uri="{FF2B5EF4-FFF2-40B4-BE49-F238E27FC236}">
                <a16:creationId xmlns:a16="http://schemas.microsoft.com/office/drawing/2014/main" id="{6F619D6F-C340-C1F2-2529-55D08DC72174}"/>
              </a:ext>
            </a:extLst>
          </p:cNvPr>
          <p:cNvSpPr txBox="1">
            <a:spLocks/>
          </p:cNvSpPr>
          <p:nvPr/>
        </p:nvSpPr>
        <p:spPr>
          <a:xfrm>
            <a:off x="5723751" y="6522444"/>
            <a:ext cx="744495" cy="216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a:t>Method</a:t>
            </a:r>
            <a:endParaRPr lang="de-CH"/>
          </a:p>
        </p:txBody>
      </p:sp>
      <p:sp>
        <p:nvSpPr>
          <p:cNvPr id="10" name="Title 1">
            <a:extLst>
              <a:ext uri="{FF2B5EF4-FFF2-40B4-BE49-F238E27FC236}">
                <a16:creationId xmlns:a16="http://schemas.microsoft.com/office/drawing/2014/main" id="{5A1E7462-AF63-A1EE-9964-DD2424081FCA}"/>
              </a:ext>
            </a:extLst>
          </p:cNvPr>
          <p:cNvSpPr txBox="1">
            <a:spLocks/>
          </p:cNvSpPr>
          <p:nvPr/>
        </p:nvSpPr>
        <p:spPr>
          <a:xfrm>
            <a:off x="581017" y="916592"/>
            <a:ext cx="4235948" cy="9000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CH" sz="1800"/>
              <a:t>From the </a:t>
            </a:r>
            <a:r>
              <a:rPr lang="en-CH" sz="1800" b="1"/>
              <a:t>prior</a:t>
            </a:r>
            <a:r>
              <a:rPr lang="en-CH" sz="1800"/>
              <a:t>, </a:t>
            </a:r>
            <a:br>
              <a:rPr lang="en-CH" sz="1800"/>
            </a:br>
            <a:r>
              <a:rPr lang="en-CH" sz="1800"/>
              <a:t>sample K synthetic</a:t>
            </a:r>
            <a:r>
              <a:rPr lang="en-CH" sz="1800" b="1"/>
              <a:t> datasets D</a:t>
            </a:r>
            <a:r>
              <a:rPr lang="en-CH" sz="1800" b="1" baseline="30000"/>
              <a:t>(i)</a:t>
            </a:r>
            <a:r>
              <a:rPr lang="en-CH" sz="1800" b="1"/>
              <a:t> </a:t>
            </a:r>
            <a:r>
              <a:rPr lang="en-CH" sz="1800"/>
              <a:t>with </a:t>
            </a:r>
            <a:r>
              <a:rPr lang="en-CH" sz="1800" b="1">
                <a:solidFill>
                  <a:srgbClr val="5787C0"/>
                </a:solidFill>
              </a:rPr>
              <a:t>training points </a:t>
            </a:r>
            <a:r>
              <a:rPr lang="en-CH" sz="1800"/>
              <a:t>plus one </a:t>
            </a:r>
            <a:r>
              <a:rPr lang="en-CH" sz="1800" b="1">
                <a:solidFill>
                  <a:srgbClr val="FC6B65"/>
                </a:solidFill>
              </a:rPr>
              <a:t>test point</a:t>
            </a:r>
            <a:endParaRPr lang="en-CH" sz="1800"/>
          </a:p>
        </p:txBody>
      </p:sp>
      <p:sp>
        <p:nvSpPr>
          <p:cNvPr id="13" name="Content Placeholder 2">
            <a:extLst>
              <a:ext uri="{FF2B5EF4-FFF2-40B4-BE49-F238E27FC236}">
                <a16:creationId xmlns:a16="http://schemas.microsoft.com/office/drawing/2014/main" id="{FBAEE3D1-A359-FAE9-5C01-B3F91FC18A43}"/>
              </a:ext>
            </a:extLst>
          </p:cNvPr>
          <p:cNvSpPr txBox="1">
            <a:spLocks/>
          </p:cNvSpPr>
          <p:nvPr/>
        </p:nvSpPr>
        <p:spPr>
          <a:xfrm>
            <a:off x="1874819" y="1964811"/>
            <a:ext cx="409718" cy="357521"/>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600">
                <a:ea typeface="Cambria Math" panose="02040503050406030204" pitchFamily="18" charset="0"/>
              </a:rPr>
              <a:t>D</a:t>
            </a:r>
            <a:r>
              <a:rPr lang="en-GB" sz="1600" baseline="30000">
                <a:ea typeface="Cambria Math" panose="02040503050406030204" pitchFamily="18" charset="0"/>
              </a:rPr>
              <a:t>(1)</a:t>
            </a:r>
            <a:endParaRPr lang="en-GB" sz="1600">
              <a:ea typeface="Cambria Math" panose="02040503050406030204" pitchFamily="18" charset="0"/>
            </a:endParaRPr>
          </a:p>
        </p:txBody>
      </p:sp>
      <p:sp>
        <p:nvSpPr>
          <p:cNvPr id="16" name="Content Placeholder 2">
            <a:extLst>
              <a:ext uri="{FF2B5EF4-FFF2-40B4-BE49-F238E27FC236}">
                <a16:creationId xmlns:a16="http://schemas.microsoft.com/office/drawing/2014/main" id="{61222A37-F45E-163F-8C59-484DD7E3F768}"/>
              </a:ext>
            </a:extLst>
          </p:cNvPr>
          <p:cNvSpPr txBox="1">
            <a:spLocks/>
          </p:cNvSpPr>
          <p:nvPr/>
        </p:nvSpPr>
        <p:spPr>
          <a:xfrm>
            <a:off x="1860673" y="3229973"/>
            <a:ext cx="409718" cy="357521"/>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600">
                <a:ea typeface="Cambria Math" panose="02040503050406030204" pitchFamily="18" charset="0"/>
              </a:rPr>
              <a:t>D</a:t>
            </a:r>
            <a:r>
              <a:rPr lang="en-GB" sz="1600" baseline="30000">
                <a:ea typeface="Cambria Math" panose="02040503050406030204" pitchFamily="18" charset="0"/>
              </a:rPr>
              <a:t>(2)</a:t>
            </a:r>
            <a:endParaRPr lang="en-GB" sz="1600">
              <a:ea typeface="Cambria Math" panose="02040503050406030204" pitchFamily="18" charset="0"/>
            </a:endParaRPr>
          </a:p>
        </p:txBody>
      </p:sp>
      <p:sp>
        <p:nvSpPr>
          <p:cNvPr id="17" name="Content Placeholder 2">
            <a:extLst>
              <a:ext uri="{FF2B5EF4-FFF2-40B4-BE49-F238E27FC236}">
                <a16:creationId xmlns:a16="http://schemas.microsoft.com/office/drawing/2014/main" id="{AEF0339A-6906-720D-E1BC-08E79E3FF1BD}"/>
              </a:ext>
            </a:extLst>
          </p:cNvPr>
          <p:cNvSpPr txBox="1">
            <a:spLocks/>
          </p:cNvSpPr>
          <p:nvPr/>
        </p:nvSpPr>
        <p:spPr>
          <a:xfrm>
            <a:off x="1860673" y="4789973"/>
            <a:ext cx="409718" cy="357521"/>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600">
                <a:ea typeface="Cambria Math" panose="02040503050406030204" pitchFamily="18" charset="0"/>
              </a:rPr>
              <a:t>D</a:t>
            </a:r>
            <a:r>
              <a:rPr lang="en-GB" sz="1600" baseline="30000">
                <a:ea typeface="Cambria Math" panose="02040503050406030204" pitchFamily="18" charset="0"/>
              </a:rPr>
              <a:t>(k)</a:t>
            </a:r>
            <a:endParaRPr lang="en-GB" sz="1600">
              <a:ea typeface="Cambria Math" panose="02040503050406030204" pitchFamily="18" charset="0"/>
            </a:endParaRPr>
          </a:p>
        </p:txBody>
      </p:sp>
      <p:sp>
        <p:nvSpPr>
          <p:cNvPr id="35" name="Content Placeholder 2">
            <a:extLst>
              <a:ext uri="{FF2B5EF4-FFF2-40B4-BE49-F238E27FC236}">
                <a16:creationId xmlns:a16="http://schemas.microsoft.com/office/drawing/2014/main" id="{5EB3239A-3857-E244-3999-CB7D54F2ACC0}"/>
              </a:ext>
            </a:extLst>
          </p:cNvPr>
          <p:cNvSpPr txBox="1">
            <a:spLocks/>
          </p:cNvSpPr>
          <p:nvPr/>
        </p:nvSpPr>
        <p:spPr>
          <a:xfrm rot="5400000">
            <a:off x="837485" y="4568001"/>
            <a:ext cx="588349" cy="308805"/>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a:t>…</a:t>
            </a:r>
          </a:p>
          <a:p>
            <a:pPr marL="0" indent="0">
              <a:buNone/>
            </a:pPr>
            <a:endParaRPr lang="en-CH"/>
          </a:p>
        </p:txBody>
      </p:sp>
      <p:sp>
        <p:nvSpPr>
          <p:cNvPr id="36" name="Content Placeholder 2">
            <a:extLst>
              <a:ext uri="{FF2B5EF4-FFF2-40B4-BE49-F238E27FC236}">
                <a16:creationId xmlns:a16="http://schemas.microsoft.com/office/drawing/2014/main" id="{B8267D0B-CF5D-09CA-7822-A9556321589B}"/>
              </a:ext>
            </a:extLst>
          </p:cNvPr>
          <p:cNvSpPr txBox="1">
            <a:spLocks/>
          </p:cNvSpPr>
          <p:nvPr/>
        </p:nvSpPr>
        <p:spPr>
          <a:xfrm rot="5400000">
            <a:off x="3054810" y="4545672"/>
            <a:ext cx="588349" cy="308805"/>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a:t>…</a:t>
            </a:r>
          </a:p>
          <a:p>
            <a:pPr marL="0" indent="0">
              <a:buNone/>
            </a:pPr>
            <a:endParaRPr lang="en-CH"/>
          </a:p>
        </p:txBody>
      </p:sp>
      <p:sp>
        <p:nvSpPr>
          <p:cNvPr id="37" name="Title 1">
            <a:extLst>
              <a:ext uri="{FF2B5EF4-FFF2-40B4-BE49-F238E27FC236}">
                <a16:creationId xmlns:a16="http://schemas.microsoft.com/office/drawing/2014/main" id="{EA9776B1-0F05-BCE5-CA13-1613CCF81FD6}"/>
              </a:ext>
            </a:extLst>
          </p:cNvPr>
          <p:cNvSpPr txBox="1">
            <a:spLocks/>
          </p:cNvSpPr>
          <p:nvPr/>
        </p:nvSpPr>
        <p:spPr>
          <a:xfrm>
            <a:off x="5929312" y="916592"/>
            <a:ext cx="6010718" cy="35752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CH" sz="1800" b="1"/>
              <a:t>Pretrain</a:t>
            </a:r>
            <a:r>
              <a:rPr lang="en-CH" sz="1800"/>
              <a:t> the PFN by </a:t>
            </a:r>
            <a:r>
              <a:rPr lang="en-CH" sz="1800" b="1"/>
              <a:t>minimizing negative log-likelihood</a:t>
            </a:r>
          </a:p>
        </p:txBody>
      </p:sp>
      <mc:AlternateContent xmlns:mc="http://schemas.openxmlformats.org/markup-compatibility/2006" xmlns:a14="http://schemas.microsoft.com/office/drawing/2010/main">
        <mc:Choice Requires="a14">
          <p:sp>
            <p:nvSpPr>
              <p:cNvPr id="40" name="Content Placeholder 2">
                <a:extLst>
                  <a:ext uri="{FF2B5EF4-FFF2-40B4-BE49-F238E27FC236}">
                    <a16:creationId xmlns:a16="http://schemas.microsoft.com/office/drawing/2014/main" id="{B45D4085-6956-1BBB-BF4E-E8DA558849CD}"/>
                  </a:ext>
                </a:extLst>
              </p:cNvPr>
              <p:cNvSpPr txBox="1">
                <a:spLocks/>
              </p:cNvSpPr>
              <p:nvPr/>
            </p:nvSpPr>
            <p:spPr>
              <a:xfrm>
                <a:off x="6368230" y="1741237"/>
                <a:ext cx="547222" cy="357521"/>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14:m>
                  <m:oMathPara xmlns:m="http://schemas.openxmlformats.org/officeDocument/2006/math">
                    <m:oMathParaPr>
                      <m:jc m:val="centerGroup"/>
                    </m:oMathParaPr>
                    <m:oMath xmlns:m="http://schemas.openxmlformats.org/officeDocument/2006/math">
                      <m:sSub>
                        <m:sSubPr>
                          <m:ctrlPr>
                            <a:rPr lang="en-GB" b="1" i="1">
                              <a:solidFill>
                                <a:schemeClr val="accent2">
                                  <a:lumMod val="60000"/>
                                  <a:lumOff val="40000"/>
                                </a:schemeClr>
                              </a:solidFill>
                              <a:latin typeface="Cambria Math" panose="02040503050406030204" pitchFamily="18" charset="0"/>
                              <a:ea typeface="Cambria Math" panose="02040503050406030204" pitchFamily="18" charset="0"/>
                            </a:rPr>
                          </m:ctrlPr>
                        </m:sSubPr>
                        <m:e>
                          <m:r>
                            <a:rPr lang="de-CH" b="1" i="1">
                              <a:solidFill>
                                <a:schemeClr val="accent2">
                                  <a:lumMod val="60000"/>
                                  <a:lumOff val="40000"/>
                                </a:schemeClr>
                              </a:solidFill>
                              <a:latin typeface="Cambria Math" panose="02040503050406030204" pitchFamily="18" charset="0"/>
                              <a:ea typeface="Cambria Math" panose="02040503050406030204" pitchFamily="18" charset="0"/>
                            </a:rPr>
                            <m:t>𝒒</m:t>
                          </m:r>
                        </m:e>
                        <m:sub>
                          <m:r>
                            <a:rPr lang="en-GB" b="1" i="1">
                              <a:solidFill>
                                <a:schemeClr val="accent2">
                                  <a:lumMod val="60000"/>
                                  <a:lumOff val="40000"/>
                                </a:schemeClr>
                              </a:solidFill>
                              <a:latin typeface="Cambria Math" panose="02040503050406030204" pitchFamily="18" charset="0"/>
                              <a:ea typeface="Cambria Math" panose="02040503050406030204" pitchFamily="18" charset="0"/>
                            </a:rPr>
                            <m:t>𝜽</m:t>
                          </m:r>
                        </m:sub>
                      </m:sSub>
                    </m:oMath>
                  </m:oMathPara>
                </a14:m>
                <a:endParaRPr lang="en-GB" b="1">
                  <a:solidFill>
                    <a:schemeClr val="accent2">
                      <a:lumMod val="60000"/>
                      <a:lumOff val="40000"/>
                    </a:schemeClr>
                  </a:solidFill>
                  <a:ea typeface="Cambria Math" panose="02040503050406030204" pitchFamily="18" charset="0"/>
                </a:endParaRPr>
              </a:p>
            </p:txBody>
          </p:sp>
        </mc:Choice>
        <mc:Fallback xmlns="">
          <p:sp>
            <p:nvSpPr>
              <p:cNvPr id="40" name="Content Placeholder 2">
                <a:extLst>
                  <a:ext uri="{FF2B5EF4-FFF2-40B4-BE49-F238E27FC236}">
                    <a16:creationId xmlns:a16="http://schemas.microsoft.com/office/drawing/2014/main" id="{B45D4085-6956-1BBB-BF4E-E8DA558849CD}"/>
                  </a:ext>
                </a:extLst>
              </p:cNvPr>
              <p:cNvSpPr txBox="1">
                <a:spLocks noRot="1" noChangeAspect="1" noMove="1" noResize="1" noEditPoints="1" noAdjustHandles="1" noChangeArrowheads="1" noChangeShapeType="1" noTextEdit="1"/>
              </p:cNvSpPr>
              <p:nvPr/>
            </p:nvSpPr>
            <p:spPr>
              <a:xfrm>
                <a:off x="6368230" y="1741237"/>
                <a:ext cx="547222" cy="357521"/>
              </a:xfrm>
              <a:prstGeom prst="rect">
                <a:avLst/>
              </a:prstGeom>
              <a:blipFill>
                <a:blip r:embed="rId4"/>
                <a:stretch>
                  <a:fillRect b="-3448"/>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41" name="Content Placeholder 2">
                <a:extLst>
                  <a:ext uri="{FF2B5EF4-FFF2-40B4-BE49-F238E27FC236}">
                    <a16:creationId xmlns:a16="http://schemas.microsoft.com/office/drawing/2014/main" id="{1C29875C-0806-51BC-9D39-9601B9E6C05B}"/>
                  </a:ext>
                </a:extLst>
              </p:cNvPr>
              <p:cNvSpPr txBox="1">
                <a:spLocks/>
              </p:cNvSpPr>
              <p:nvPr/>
            </p:nvSpPr>
            <p:spPr>
              <a:xfrm>
                <a:off x="8806385" y="2216782"/>
                <a:ext cx="547222" cy="357521"/>
              </a:xfrm>
              <a:prstGeom prst="rect">
                <a:avLst/>
              </a:prstGeom>
              <a:noFill/>
            </p:spPr>
            <p:txBody>
              <a:bodyPr vert="horz" lIns="0" tIns="0" rIns="0" bIns="0" rtlCol="0">
                <a:noAutofit/>
              </a:bodyPr>
              <a:lstStyle>
                <a:defPPr>
                  <a:defRPr lang="de-DE"/>
                </a:defPPr>
                <a:lvl1pPr indent="0">
                  <a:lnSpc>
                    <a:spcPct val="100000"/>
                  </a:lnSpc>
                  <a:spcBef>
                    <a:spcPts val="1000"/>
                  </a:spcBef>
                  <a:buFont typeface="+mj-lt"/>
                  <a:buNone/>
                  <a:defRPr b="1" i="1">
                    <a:solidFill>
                      <a:schemeClr val="accent2">
                        <a:lumMod val="60000"/>
                        <a:lumOff val="40000"/>
                      </a:schemeClr>
                    </a:solidFill>
                    <a:ea typeface="Cambria Math" panose="02040503050406030204" pitchFamily="18" charset="0"/>
                  </a:defRPr>
                </a:lvl1pPr>
                <a:lvl2pPr marL="1079500" indent="-539750">
                  <a:lnSpc>
                    <a:spcPct val="100000"/>
                  </a:lnSpc>
                  <a:spcBef>
                    <a:spcPts val="500"/>
                  </a:spcBef>
                  <a:buFont typeface="+mj-lt"/>
                  <a:buAutoNum type="arabicPeriod"/>
                </a:lvl2pPr>
                <a:lvl3pPr marL="1612900" indent="-533400">
                  <a:lnSpc>
                    <a:spcPct val="100000"/>
                  </a:lnSpc>
                  <a:spcBef>
                    <a:spcPts val="500"/>
                  </a:spcBef>
                  <a:buFont typeface="+mj-lt"/>
                  <a:buAutoNum type="arabicPeriod"/>
                </a:lvl3pPr>
                <a:lvl4pPr marL="2152650" indent="-539750">
                  <a:lnSpc>
                    <a:spcPct val="100000"/>
                  </a:lnSpc>
                  <a:spcBef>
                    <a:spcPts val="500"/>
                  </a:spcBef>
                  <a:buFont typeface="+mj-lt"/>
                  <a:buAutoNum type="arabicPeriod"/>
                </a:lvl4pPr>
                <a:lvl5pPr marL="2692400" indent="-539750">
                  <a:lnSpc>
                    <a:spcPct val="100000"/>
                  </a:lnSpc>
                  <a:spcBef>
                    <a:spcPts val="500"/>
                  </a:spcBef>
                  <a:buFont typeface="+mj-lt"/>
                  <a:buAutoNum type="arabicPeriod"/>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de-CH" b="1" i="1">
                              <a:latin typeface="Cambria Math" panose="02040503050406030204" pitchFamily="18" charset="0"/>
                            </a:rPr>
                            <m:t>𝒒</m:t>
                          </m:r>
                        </m:e>
                        <m:sub>
                          <m:r>
                            <a:rPr lang="en-GB" b="1" i="1">
                              <a:latin typeface="Cambria Math" panose="02040503050406030204" pitchFamily="18" charset="0"/>
                            </a:rPr>
                            <m:t>𝜽</m:t>
                          </m:r>
                        </m:sub>
                      </m:sSub>
                    </m:oMath>
                  </m:oMathPara>
                </a14:m>
                <a:endParaRPr lang="en-GB"/>
              </a:p>
            </p:txBody>
          </p:sp>
        </mc:Choice>
        <mc:Fallback xmlns="">
          <p:sp>
            <p:nvSpPr>
              <p:cNvPr id="41" name="Content Placeholder 2">
                <a:extLst>
                  <a:ext uri="{FF2B5EF4-FFF2-40B4-BE49-F238E27FC236}">
                    <a16:creationId xmlns:a16="http://schemas.microsoft.com/office/drawing/2014/main" id="{1C29875C-0806-51BC-9D39-9601B9E6C05B}"/>
                  </a:ext>
                </a:extLst>
              </p:cNvPr>
              <p:cNvSpPr txBox="1">
                <a:spLocks noRot="1" noChangeAspect="1" noMove="1" noResize="1" noEditPoints="1" noAdjustHandles="1" noChangeArrowheads="1" noChangeShapeType="1" noTextEdit="1"/>
              </p:cNvSpPr>
              <p:nvPr/>
            </p:nvSpPr>
            <p:spPr>
              <a:xfrm>
                <a:off x="8806385" y="2216782"/>
                <a:ext cx="547222" cy="357521"/>
              </a:xfrm>
              <a:prstGeom prst="rect">
                <a:avLst/>
              </a:prstGeom>
              <a:blipFill>
                <a:blip r:embed="rId5"/>
                <a:stretch>
                  <a:fillRect b="-3448"/>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44" name="Content Placeholder 2">
                <a:extLst>
                  <a:ext uri="{FF2B5EF4-FFF2-40B4-BE49-F238E27FC236}">
                    <a16:creationId xmlns:a16="http://schemas.microsoft.com/office/drawing/2014/main" id="{5A26E3D0-64E1-10B1-7F9C-7DF2FC75C163}"/>
                  </a:ext>
                </a:extLst>
              </p:cNvPr>
              <p:cNvSpPr txBox="1">
                <a:spLocks/>
              </p:cNvSpPr>
              <p:nvPr/>
            </p:nvSpPr>
            <p:spPr>
              <a:xfrm>
                <a:off x="11460162" y="1832072"/>
                <a:ext cx="547222" cy="357521"/>
              </a:xfrm>
              <a:prstGeom prst="rect">
                <a:avLst/>
              </a:prstGeom>
              <a:noFill/>
            </p:spPr>
            <p:txBody>
              <a:bodyPr vert="horz" lIns="0" tIns="0" rIns="0" bIns="0" rtlCol="0">
                <a:noAutofit/>
              </a:bodyPr>
              <a:lstStyle>
                <a:defPPr>
                  <a:defRPr lang="de-DE"/>
                </a:defPPr>
                <a:lvl1pPr indent="0">
                  <a:lnSpc>
                    <a:spcPct val="100000"/>
                  </a:lnSpc>
                  <a:spcBef>
                    <a:spcPts val="1000"/>
                  </a:spcBef>
                  <a:buFont typeface="+mj-lt"/>
                  <a:buNone/>
                  <a:defRPr b="1" i="1">
                    <a:solidFill>
                      <a:schemeClr val="accent2">
                        <a:lumMod val="60000"/>
                        <a:lumOff val="40000"/>
                      </a:schemeClr>
                    </a:solidFill>
                    <a:ea typeface="Cambria Math" panose="02040503050406030204" pitchFamily="18" charset="0"/>
                  </a:defRPr>
                </a:lvl1pPr>
                <a:lvl2pPr marL="1079500" indent="-539750">
                  <a:lnSpc>
                    <a:spcPct val="100000"/>
                  </a:lnSpc>
                  <a:spcBef>
                    <a:spcPts val="500"/>
                  </a:spcBef>
                  <a:buFont typeface="+mj-lt"/>
                  <a:buAutoNum type="arabicPeriod"/>
                </a:lvl2pPr>
                <a:lvl3pPr marL="1612900" indent="-533400">
                  <a:lnSpc>
                    <a:spcPct val="100000"/>
                  </a:lnSpc>
                  <a:spcBef>
                    <a:spcPts val="500"/>
                  </a:spcBef>
                  <a:buFont typeface="+mj-lt"/>
                  <a:buAutoNum type="arabicPeriod"/>
                </a:lvl3pPr>
                <a:lvl4pPr marL="2152650" indent="-539750">
                  <a:lnSpc>
                    <a:spcPct val="100000"/>
                  </a:lnSpc>
                  <a:spcBef>
                    <a:spcPts val="500"/>
                  </a:spcBef>
                  <a:buFont typeface="+mj-lt"/>
                  <a:buAutoNum type="arabicPeriod"/>
                </a:lvl4pPr>
                <a:lvl5pPr marL="2692400" indent="-539750">
                  <a:lnSpc>
                    <a:spcPct val="100000"/>
                  </a:lnSpc>
                  <a:spcBef>
                    <a:spcPts val="500"/>
                  </a:spcBef>
                  <a:buFont typeface="+mj-lt"/>
                  <a:buAutoNum type="arabicPeriod"/>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de-CH" b="1" i="1">
                              <a:latin typeface="Cambria Math" panose="02040503050406030204" pitchFamily="18" charset="0"/>
                            </a:rPr>
                            <m:t>𝒒</m:t>
                          </m:r>
                        </m:e>
                        <m:sub>
                          <m:r>
                            <a:rPr lang="en-GB" b="1" i="1">
                              <a:latin typeface="Cambria Math" panose="02040503050406030204" pitchFamily="18" charset="0"/>
                            </a:rPr>
                            <m:t>𝜽</m:t>
                          </m:r>
                        </m:sub>
                      </m:sSub>
                    </m:oMath>
                  </m:oMathPara>
                </a14:m>
                <a:endParaRPr lang="en-GB"/>
              </a:p>
            </p:txBody>
          </p:sp>
        </mc:Choice>
        <mc:Fallback xmlns="">
          <p:sp>
            <p:nvSpPr>
              <p:cNvPr id="44" name="Content Placeholder 2">
                <a:extLst>
                  <a:ext uri="{FF2B5EF4-FFF2-40B4-BE49-F238E27FC236}">
                    <a16:creationId xmlns:a16="http://schemas.microsoft.com/office/drawing/2014/main" id="{5A26E3D0-64E1-10B1-7F9C-7DF2FC75C163}"/>
                  </a:ext>
                </a:extLst>
              </p:cNvPr>
              <p:cNvSpPr txBox="1">
                <a:spLocks noRot="1" noChangeAspect="1" noMove="1" noResize="1" noEditPoints="1" noAdjustHandles="1" noChangeArrowheads="1" noChangeShapeType="1" noTextEdit="1"/>
              </p:cNvSpPr>
              <p:nvPr/>
            </p:nvSpPr>
            <p:spPr>
              <a:xfrm>
                <a:off x="11460162" y="1832072"/>
                <a:ext cx="547222" cy="357521"/>
              </a:xfrm>
              <a:prstGeom prst="rect">
                <a:avLst/>
              </a:prstGeom>
              <a:blipFill>
                <a:blip r:embed="rId6"/>
                <a:stretch>
                  <a:fillRect/>
                </a:stretch>
              </a:blipFill>
            </p:spPr>
            <p:txBody>
              <a:bodyPr/>
              <a:lstStyle/>
              <a:p>
                <a:r>
                  <a:rPr lang="en-CH">
                    <a:noFill/>
                  </a:rPr>
                  <a:t> </a:t>
                </a:r>
              </a:p>
            </p:txBody>
          </p:sp>
        </mc:Fallback>
      </mc:AlternateContent>
      <p:sp>
        <p:nvSpPr>
          <p:cNvPr id="47" name="Title 1">
            <a:extLst>
              <a:ext uri="{FF2B5EF4-FFF2-40B4-BE49-F238E27FC236}">
                <a16:creationId xmlns:a16="http://schemas.microsoft.com/office/drawing/2014/main" id="{ED10B2CA-CA89-BFD7-43CF-BA378BD65567}"/>
              </a:ext>
            </a:extLst>
          </p:cNvPr>
          <p:cNvSpPr txBox="1">
            <a:spLocks/>
          </p:cNvSpPr>
          <p:nvPr/>
        </p:nvSpPr>
        <p:spPr>
          <a:xfrm>
            <a:off x="5929312" y="3682957"/>
            <a:ext cx="6010718" cy="9000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de-CH" sz="1800"/>
              <a:t>The trained PFN can do </a:t>
            </a:r>
            <a:r>
              <a:rPr lang="de-CH" sz="1800" b="1"/>
              <a:t>Bayesian Inference </a:t>
            </a:r>
            <a:r>
              <a:rPr lang="de-CH" sz="1800"/>
              <a:t>on a </a:t>
            </a:r>
            <a:r>
              <a:rPr lang="de-CH" sz="1800" b="1">
                <a:solidFill>
                  <a:srgbClr val="FC6B65"/>
                </a:solidFill>
              </a:rPr>
              <a:t>query point </a:t>
            </a:r>
            <a:r>
              <a:rPr lang="de-CH" sz="1800"/>
              <a:t>with a </a:t>
            </a:r>
            <a:r>
              <a:rPr lang="de-CH" sz="1800" b="1"/>
              <a:t>real-life dataset </a:t>
            </a:r>
            <a:r>
              <a:rPr lang="de-CH" sz="1800"/>
              <a:t>as input:</a:t>
            </a:r>
            <a:endParaRPr lang="en-CH" sz="1800"/>
          </a:p>
        </p:txBody>
      </p:sp>
      <mc:AlternateContent xmlns:mc="http://schemas.openxmlformats.org/markup-compatibility/2006" xmlns:a14="http://schemas.microsoft.com/office/drawing/2010/main">
        <mc:Choice Requires="a14">
          <p:sp>
            <p:nvSpPr>
              <p:cNvPr id="72" name="Content Placeholder 2">
                <a:extLst>
                  <a:ext uri="{FF2B5EF4-FFF2-40B4-BE49-F238E27FC236}">
                    <a16:creationId xmlns:a16="http://schemas.microsoft.com/office/drawing/2014/main" id="{8FA8873F-3B21-53E6-48F0-31828A1EB37C}"/>
                  </a:ext>
                </a:extLst>
              </p:cNvPr>
              <p:cNvSpPr txBox="1">
                <a:spLocks/>
              </p:cNvSpPr>
              <p:nvPr/>
            </p:nvSpPr>
            <p:spPr>
              <a:xfrm>
                <a:off x="10155541" y="4030213"/>
                <a:ext cx="1652901" cy="409086"/>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14:m>
                  <m:oMathPara xmlns:m="http://schemas.openxmlformats.org/officeDocument/2006/math">
                    <m:oMathParaPr>
                      <m:jc m:val="centerGroup"/>
                    </m:oMathParaPr>
                    <m:oMath xmlns:m="http://schemas.openxmlformats.org/officeDocument/2006/math">
                      <m:sSub>
                        <m:sSubPr>
                          <m:ctrlPr>
                            <a:rPr lang="en-GB" sz="1600" b="1" i="1">
                              <a:solidFill>
                                <a:schemeClr val="accent2">
                                  <a:lumMod val="60000"/>
                                  <a:lumOff val="40000"/>
                                </a:schemeClr>
                              </a:solidFill>
                              <a:latin typeface="Cambria Math" panose="02040503050406030204" pitchFamily="18" charset="0"/>
                            </a:rPr>
                          </m:ctrlPr>
                        </m:sSubPr>
                        <m:e>
                          <m:r>
                            <m:rPr>
                              <m:nor/>
                            </m:rPr>
                            <a:rPr lang="de-CH" sz="1600" b="1" i="0">
                              <a:solidFill>
                                <a:schemeClr val="accent2">
                                  <a:lumMod val="60000"/>
                                  <a:lumOff val="40000"/>
                                </a:schemeClr>
                              </a:solidFill>
                            </a:rPr>
                            <m:t>q</m:t>
                          </m:r>
                        </m:e>
                        <m:sub>
                          <m:acc>
                            <m:accPr>
                              <m:chr m:val="̂"/>
                              <m:ctrlPr>
                                <a:rPr lang="en-GB" sz="1600" b="1" i="1">
                                  <a:solidFill>
                                    <a:schemeClr val="accent2">
                                      <a:lumMod val="60000"/>
                                      <a:lumOff val="40000"/>
                                    </a:schemeClr>
                                  </a:solidFill>
                                  <a:latin typeface="Cambria Math" panose="02040503050406030204" pitchFamily="18" charset="0"/>
                                </a:rPr>
                              </m:ctrlPr>
                            </m:accPr>
                            <m:e>
                              <m:r>
                                <m:rPr>
                                  <m:nor/>
                                </m:rPr>
                                <a:rPr lang="en-GB" sz="1600" b="1" i="0">
                                  <a:solidFill>
                                    <a:schemeClr val="accent2">
                                      <a:lumMod val="60000"/>
                                      <a:lumOff val="40000"/>
                                    </a:schemeClr>
                                  </a:solidFill>
                                  <a:ea typeface="Cambria Math" panose="02040503050406030204" pitchFamily="18" charset="0"/>
                                </a:rPr>
                                <m:t>θ</m:t>
                              </m:r>
                            </m:e>
                          </m:acc>
                        </m:sub>
                      </m:sSub>
                      <m:r>
                        <m:rPr>
                          <m:nor/>
                        </m:rPr>
                        <a:rPr lang="de-CH" sz="1600" b="0" i="0"/>
                        <m:t> </m:t>
                      </m:r>
                      <m:r>
                        <m:rPr>
                          <m:nor/>
                        </m:rPr>
                        <a:rPr lang="de-CH" sz="1600" b="0" i="0">
                          <a:ea typeface="Cambria Math" panose="02040503050406030204" pitchFamily="18" charset="0"/>
                        </a:rPr>
                        <m:t>≈ </m:t>
                      </m:r>
                      <m:r>
                        <m:rPr>
                          <m:nor/>
                        </m:rPr>
                        <a:rPr lang="de-CH" sz="1600" b="1" i="0">
                          <a:solidFill>
                            <a:srgbClr val="FB9D00"/>
                          </a:solidFill>
                          <a:ea typeface="Cambria Math" panose="02040503050406030204" pitchFamily="18" charset="0"/>
                        </a:rPr>
                        <m:t>True</m:t>
                      </m:r>
                      <m:r>
                        <m:rPr>
                          <m:nor/>
                        </m:rPr>
                        <a:rPr lang="de-CH" sz="1600" b="1" i="0">
                          <a:solidFill>
                            <a:srgbClr val="FB9D00"/>
                          </a:solidFill>
                          <a:ea typeface="Cambria Math" panose="02040503050406030204" pitchFamily="18" charset="0"/>
                        </a:rPr>
                        <m:t> </m:t>
                      </m:r>
                      <m:r>
                        <m:rPr>
                          <m:nor/>
                        </m:rPr>
                        <a:rPr lang="de-CH" sz="1600" b="1" i="0">
                          <a:solidFill>
                            <a:srgbClr val="FB9D00"/>
                          </a:solidFill>
                          <a:ea typeface="Cambria Math" panose="02040503050406030204" pitchFamily="18" charset="0"/>
                        </a:rPr>
                        <m:t>PPD</m:t>
                      </m:r>
                    </m:oMath>
                  </m:oMathPara>
                </a14:m>
                <a:endParaRPr lang="en-GB" sz="1600" b="1"/>
              </a:p>
            </p:txBody>
          </p:sp>
        </mc:Choice>
        <mc:Fallback xmlns="">
          <p:sp>
            <p:nvSpPr>
              <p:cNvPr id="72" name="Content Placeholder 2">
                <a:extLst>
                  <a:ext uri="{FF2B5EF4-FFF2-40B4-BE49-F238E27FC236}">
                    <a16:creationId xmlns:a16="http://schemas.microsoft.com/office/drawing/2014/main" id="{8FA8873F-3B21-53E6-48F0-31828A1EB37C}"/>
                  </a:ext>
                </a:extLst>
              </p:cNvPr>
              <p:cNvSpPr txBox="1">
                <a:spLocks noRot="1" noChangeAspect="1" noMove="1" noResize="1" noEditPoints="1" noAdjustHandles="1" noChangeArrowheads="1" noChangeShapeType="1" noTextEdit="1"/>
              </p:cNvSpPr>
              <p:nvPr/>
            </p:nvSpPr>
            <p:spPr>
              <a:xfrm>
                <a:off x="10155541" y="4030213"/>
                <a:ext cx="1652901" cy="409086"/>
              </a:xfrm>
              <a:prstGeom prst="rect">
                <a:avLst/>
              </a:prstGeom>
              <a:blipFill>
                <a:blip r:embed="rId7"/>
                <a:stretch>
                  <a:fillRect t="-12121"/>
                </a:stretch>
              </a:blipFill>
            </p:spPr>
            <p:txBody>
              <a:bodyPr/>
              <a:lstStyle/>
              <a:p>
                <a:r>
                  <a:rPr lang="en-CH">
                    <a:noFill/>
                  </a:rPr>
                  <a:t> </a:t>
                </a:r>
              </a:p>
            </p:txBody>
          </p:sp>
        </mc:Fallback>
      </mc:AlternateContent>
      <p:cxnSp>
        <p:nvCxnSpPr>
          <p:cNvPr id="77" name="Elbow Connector 76">
            <a:extLst>
              <a:ext uri="{FF2B5EF4-FFF2-40B4-BE49-F238E27FC236}">
                <a16:creationId xmlns:a16="http://schemas.microsoft.com/office/drawing/2014/main" id="{D9E5689F-2C05-1D21-FEED-85FC179730E1}"/>
              </a:ext>
            </a:extLst>
          </p:cNvPr>
          <p:cNvCxnSpPr>
            <a:cxnSpLocks/>
          </p:cNvCxnSpPr>
          <p:nvPr/>
        </p:nvCxnSpPr>
        <p:spPr>
          <a:xfrm rot="5400000">
            <a:off x="5038189" y="2552107"/>
            <a:ext cx="900000" cy="388140"/>
          </a:xfrm>
          <a:prstGeom prst="bentConnector3">
            <a:avLst>
              <a:gd name="adj1" fmla="val 1182"/>
            </a:avLst>
          </a:prstGeom>
          <a:ln w="2540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09B531C3-A986-1952-2332-98AA2B302DA0}"/>
              </a:ext>
            </a:extLst>
          </p:cNvPr>
          <p:cNvCxnSpPr>
            <a:cxnSpLocks/>
          </p:cNvCxnSpPr>
          <p:nvPr/>
        </p:nvCxnSpPr>
        <p:spPr>
          <a:xfrm>
            <a:off x="4968865" y="1335595"/>
            <a:ext cx="681311" cy="0"/>
          </a:xfrm>
          <a:prstGeom prst="straightConnector1">
            <a:avLst/>
          </a:prstGeom>
          <a:ln w="2540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94" name="Elbow Connector 93">
            <a:extLst>
              <a:ext uri="{FF2B5EF4-FFF2-40B4-BE49-F238E27FC236}">
                <a16:creationId xmlns:a16="http://schemas.microsoft.com/office/drawing/2014/main" id="{21544919-3903-22EC-F5AE-B76C7BA1BE09}"/>
              </a:ext>
            </a:extLst>
          </p:cNvPr>
          <p:cNvCxnSpPr>
            <a:cxnSpLocks/>
          </p:cNvCxnSpPr>
          <p:nvPr/>
        </p:nvCxnSpPr>
        <p:spPr>
          <a:xfrm rot="16200000" flipH="1">
            <a:off x="5017026" y="4037267"/>
            <a:ext cx="900000" cy="388800"/>
          </a:xfrm>
          <a:prstGeom prst="bentConnector3">
            <a:avLst>
              <a:gd name="adj1" fmla="val 100099"/>
            </a:avLst>
          </a:prstGeom>
          <a:ln w="2540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8" name="Title 1">
                <a:extLst>
                  <a:ext uri="{FF2B5EF4-FFF2-40B4-BE49-F238E27FC236}">
                    <a16:creationId xmlns:a16="http://schemas.microsoft.com/office/drawing/2014/main" id="{73AADD5B-EC97-43FA-9C9C-29743FC2DE59}"/>
                  </a:ext>
                </a:extLst>
              </p:cNvPr>
              <p:cNvSpPr txBox="1">
                <a:spLocks/>
              </p:cNvSpPr>
              <p:nvPr/>
            </p:nvSpPr>
            <p:spPr>
              <a:xfrm>
                <a:off x="4961839" y="3348625"/>
                <a:ext cx="681312" cy="400690"/>
              </a:xfrm>
              <a:prstGeom prst="rect">
                <a:avLst/>
              </a:prstGeom>
            </p:spPr>
            <p:txBody>
              <a:bodyPr vert="horz" lIns="0" tIns="0" rIns="0" bIns="0" rtlCol="0" anchor="t" anchorCtr="0">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acc>
                        <m:accPr>
                          <m:chr m:val="̂"/>
                          <m:ctrlPr>
                            <a:rPr lang="en-CH" sz="2400" b="1" i="1">
                              <a:latin typeface="Cambria Math" panose="02040503050406030204" pitchFamily="18" charset="0"/>
                            </a:rPr>
                          </m:ctrlPr>
                        </m:accPr>
                        <m:e>
                          <m:r>
                            <a:rPr lang="en-CH" sz="2400" b="1" i="1">
                              <a:latin typeface="Cambria Math" panose="02040503050406030204" pitchFamily="18" charset="0"/>
                              <a:ea typeface="Cambria Math" panose="02040503050406030204" pitchFamily="18" charset="0"/>
                            </a:rPr>
                            <m:t>𝜽</m:t>
                          </m:r>
                        </m:e>
                      </m:acc>
                    </m:oMath>
                  </m:oMathPara>
                </a14:m>
                <a:endParaRPr lang="en-CH" sz="2400" b="1">
                  <a:latin typeface="+mn-lt"/>
                </a:endParaRPr>
              </a:p>
            </p:txBody>
          </p:sp>
        </mc:Choice>
        <mc:Fallback xmlns="">
          <p:sp>
            <p:nvSpPr>
              <p:cNvPr id="108" name="Title 1">
                <a:extLst>
                  <a:ext uri="{FF2B5EF4-FFF2-40B4-BE49-F238E27FC236}">
                    <a16:creationId xmlns:a16="http://schemas.microsoft.com/office/drawing/2014/main" id="{73AADD5B-EC97-43FA-9C9C-29743FC2DE59}"/>
                  </a:ext>
                </a:extLst>
              </p:cNvPr>
              <p:cNvSpPr txBox="1">
                <a:spLocks noRot="1" noChangeAspect="1" noMove="1" noResize="1" noEditPoints="1" noAdjustHandles="1" noChangeArrowheads="1" noChangeShapeType="1" noTextEdit="1"/>
              </p:cNvSpPr>
              <p:nvPr/>
            </p:nvSpPr>
            <p:spPr>
              <a:xfrm>
                <a:off x="4961839" y="3348625"/>
                <a:ext cx="681312" cy="400690"/>
              </a:xfrm>
              <a:prstGeom prst="rect">
                <a:avLst/>
              </a:prstGeom>
              <a:blipFill>
                <a:blip r:embed="rId8"/>
                <a:stretch>
                  <a:fillRect t="-27273"/>
                </a:stretch>
              </a:blipFill>
            </p:spPr>
            <p:txBody>
              <a:bodyPr/>
              <a:lstStyle/>
              <a:p>
                <a:r>
                  <a:rPr lang="en-CH">
                    <a:noFill/>
                  </a:rPr>
                  <a:t> </a:t>
                </a:r>
              </a:p>
            </p:txBody>
          </p:sp>
        </mc:Fallback>
      </mc:AlternateContent>
      <p:sp>
        <p:nvSpPr>
          <p:cNvPr id="109" name="Rectangle 108">
            <a:extLst>
              <a:ext uri="{FF2B5EF4-FFF2-40B4-BE49-F238E27FC236}">
                <a16:creationId xmlns:a16="http://schemas.microsoft.com/office/drawing/2014/main" id="{03A3B626-70FB-E764-7A0F-0496473CFFE2}"/>
              </a:ext>
            </a:extLst>
          </p:cNvPr>
          <p:cNvSpPr/>
          <p:nvPr/>
        </p:nvSpPr>
        <p:spPr>
          <a:xfrm>
            <a:off x="5000949" y="3245787"/>
            <a:ext cx="603093" cy="454918"/>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mc:AlternateContent xmlns:mc="http://schemas.openxmlformats.org/markup-compatibility/2006" xmlns:a14="http://schemas.microsoft.com/office/drawing/2010/main">
        <mc:Choice Requires="a14">
          <p:sp>
            <p:nvSpPr>
              <p:cNvPr id="118" name="Title 1">
                <a:extLst>
                  <a:ext uri="{FF2B5EF4-FFF2-40B4-BE49-F238E27FC236}">
                    <a16:creationId xmlns:a16="http://schemas.microsoft.com/office/drawing/2014/main" id="{24FA6E12-820B-95F7-D4AD-BFDCC3D344AA}"/>
                  </a:ext>
                </a:extLst>
              </p:cNvPr>
              <p:cNvSpPr txBox="1">
                <a:spLocks/>
              </p:cNvSpPr>
              <p:nvPr/>
            </p:nvSpPr>
            <p:spPr>
              <a:xfrm>
                <a:off x="4959624" y="3360844"/>
                <a:ext cx="681312" cy="400690"/>
              </a:xfrm>
              <a:prstGeom prst="rect">
                <a:avLst/>
              </a:prstGeom>
            </p:spPr>
            <p:txBody>
              <a:bodyPr vert="horz" lIns="0" tIns="0" rIns="0" bIns="0" rtlCol="0" anchor="t" anchorCtr="0">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r>
                        <a:rPr lang="en-CH" sz="2400" b="1" i="1">
                          <a:latin typeface="Cambria Math" panose="02040503050406030204" pitchFamily="18" charset="0"/>
                          <a:ea typeface="Cambria Math" panose="02040503050406030204" pitchFamily="18" charset="0"/>
                        </a:rPr>
                        <m:t>𝜽</m:t>
                      </m:r>
                    </m:oMath>
                  </m:oMathPara>
                </a14:m>
                <a:endParaRPr lang="en-CH" sz="2400" b="1">
                  <a:latin typeface="+mn-lt"/>
                </a:endParaRPr>
              </a:p>
            </p:txBody>
          </p:sp>
        </mc:Choice>
        <mc:Fallback xmlns="">
          <p:sp>
            <p:nvSpPr>
              <p:cNvPr id="118" name="Title 1">
                <a:extLst>
                  <a:ext uri="{FF2B5EF4-FFF2-40B4-BE49-F238E27FC236}">
                    <a16:creationId xmlns:a16="http://schemas.microsoft.com/office/drawing/2014/main" id="{24FA6E12-820B-95F7-D4AD-BFDCC3D344AA}"/>
                  </a:ext>
                </a:extLst>
              </p:cNvPr>
              <p:cNvSpPr txBox="1">
                <a:spLocks noRot="1" noChangeAspect="1" noMove="1" noResize="1" noEditPoints="1" noAdjustHandles="1" noChangeArrowheads="1" noChangeShapeType="1" noTextEdit="1"/>
              </p:cNvSpPr>
              <p:nvPr/>
            </p:nvSpPr>
            <p:spPr>
              <a:xfrm>
                <a:off x="4959624" y="3360844"/>
                <a:ext cx="681312" cy="400690"/>
              </a:xfrm>
              <a:prstGeom prst="rect">
                <a:avLst/>
              </a:prstGeom>
              <a:blipFill>
                <a:blip r:embed="rId9"/>
                <a:stretch>
                  <a:fillRect/>
                </a:stretch>
              </a:blipFill>
            </p:spPr>
            <p:txBody>
              <a:bodyPr/>
              <a:lstStyle/>
              <a:p>
                <a:r>
                  <a:rPr lang="en-CH">
                    <a:noFill/>
                  </a:rPr>
                  <a:t> </a:t>
                </a:r>
              </a:p>
            </p:txBody>
          </p:sp>
        </mc:Fallback>
      </mc:AlternateContent>
      <p:pic>
        <p:nvPicPr>
          <p:cNvPr id="119" name="Picture 118">
            <a:extLst>
              <a:ext uri="{FF2B5EF4-FFF2-40B4-BE49-F238E27FC236}">
                <a16:creationId xmlns:a16="http://schemas.microsoft.com/office/drawing/2014/main" id="{61975CBC-A2CB-E644-2E6D-3DFBCBA856B5}"/>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rot="20935068" flipH="1">
            <a:off x="5095735" y="3274379"/>
            <a:ext cx="383454" cy="179302"/>
          </a:xfrm>
          <a:prstGeom prst="rect">
            <a:avLst/>
          </a:prstGeom>
        </p:spPr>
      </p:pic>
      <p:sp>
        <p:nvSpPr>
          <p:cNvPr id="121" name="Content Placeholder 2">
            <a:extLst>
              <a:ext uri="{FF2B5EF4-FFF2-40B4-BE49-F238E27FC236}">
                <a16:creationId xmlns:a16="http://schemas.microsoft.com/office/drawing/2014/main" id="{8EFF06A7-7571-5E7A-EDEF-B2BDBFD6FEDD}"/>
              </a:ext>
            </a:extLst>
          </p:cNvPr>
          <p:cNvSpPr txBox="1">
            <a:spLocks/>
          </p:cNvSpPr>
          <p:nvPr/>
        </p:nvSpPr>
        <p:spPr>
          <a:xfrm>
            <a:off x="5994370" y="4350991"/>
            <a:ext cx="409718" cy="357521"/>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2000" b="1">
                <a:ea typeface="Cambria Math" panose="02040503050406030204" pitchFamily="18" charset="0"/>
              </a:rPr>
              <a:t>D*</a:t>
            </a:r>
          </a:p>
        </p:txBody>
      </p:sp>
      <p:sp>
        <p:nvSpPr>
          <p:cNvPr id="122" name="Content Placeholder 2">
            <a:extLst>
              <a:ext uri="{FF2B5EF4-FFF2-40B4-BE49-F238E27FC236}">
                <a16:creationId xmlns:a16="http://schemas.microsoft.com/office/drawing/2014/main" id="{C37B2A44-CBC7-C74F-A81E-131B8DB0CA45}"/>
              </a:ext>
            </a:extLst>
          </p:cNvPr>
          <p:cNvSpPr txBox="1">
            <a:spLocks/>
          </p:cNvSpPr>
          <p:nvPr/>
        </p:nvSpPr>
        <p:spPr>
          <a:xfrm>
            <a:off x="3866125" y="1998428"/>
            <a:ext cx="547222" cy="178760"/>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000">
                <a:ea typeface="Cambria Math" panose="02040503050406030204" pitchFamily="18" charset="0"/>
              </a:rPr>
              <a:t>x        y	</a:t>
            </a:r>
          </a:p>
        </p:txBody>
      </p:sp>
      <p:sp>
        <p:nvSpPr>
          <p:cNvPr id="123" name="Content Placeholder 2">
            <a:extLst>
              <a:ext uri="{FF2B5EF4-FFF2-40B4-BE49-F238E27FC236}">
                <a16:creationId xmlns:a16="http://schemas.microsoft.com/office/drawing/2014/main" id="{D9964E28-45A0-5B24-532B-E966AC90D30C}"/>
              </a:ext>
            </a:extLst>
          </p:cNvPr>
          <p:cNvSpPr txBox="1">
            <a:spLocks/>
          </p:cNvSpPr>
          <p:nvPr/>
        </p:nvSpPr>
        <p:spPr>
          <a:xfrm>
            <a:off x="3875230" y="3232351"/>
            <a:ext cx="547222" cy="178760"/>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000">
                <a:ea typeface="Cambria Math" panose="02040503050406030204" pitchFamily="18" charset="0"/>
              </a:rPr>
              <a:t>x        y	</a:t>
            </a:r>
          </a:p>
        </p:txBody>
      </p:sp>
      <p:sp>
        <p:nvSpPr>
          <p:cNvPr id="124" name="Content Placeholder 2">
            <a:extLst>
              <a:ext uri="{FF2B5EF4-FFF2-40B4-BE49-F238E27FC236}">
                <a16:creationId xmlns:a16="http://schemas.microsoft.com/office/drawing/2014/main" id="{0B555DA6-00C8-DEBD-7D0B-0832E1448DF4}"/>
              </a:ext>
            </a:extLst>
          </p:cNvPr>
          <p:cNvSpPr txBox="1">
            <a:spLocks/>
          </p:cNvSpPr>
          <p:nvPr/>
        </p:nvSpPr>
        <p:spPr>
          <a:xfrm>
            <a:off x="3866125" y="4818984"/>
            <a:ext cx="547222" cy="178760"/>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000">
                <a:ea typeface="Cambria Math" panose="02040503050406030204" pitchFamily="18" charset="0"/>
              </a:rPr>
              <a:t>x        y	</a:t>
            </a:r>
          </a:p>
        </p:txBody>
      </p:sp>
      <p:sp>
        <p:nvSpPr>
          <p:cNvPr id="125" name="Content Placeholder 2">
            <a:extLst>
              <a:ext uri="{FF2B5EF4-FFF2-40B4-BE49-F238E27FC236}">
                <a16:creationId xmlns:a16="http://schemas.microsoft.com/office/drawing/2014/main" id="{F56BAD6E-0E8A-C3B1-E3C3-6129C1AD3381}"/>
              </a:ext>
            </a:extLst>
          </p:cNvPr>
          <p:cNvSpPr txBox="1">
            <a:spLocks/>
          </p:cNvSpPr>
          <p:nvPr/>
        </p:nvSpPr>
        <p:spPr>
          <a:xfrm>
            <a:off x="6709911" y="4363743"/>
            <a:ext cx="843905" cy="178760"/>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400">
                <a:ea typeface="Cambria Math" panose="02040503050406030204" pitchFamily="18" charset="0"/>
              </a:rPr>
              <a:t>X          Y	</a:t>
            </a:r>
          </a:p>
        </p:txBody>
      </p:sp>
      <p:sp>
        <p:nvSpPr>
          <p:cNvPr id="126" name="Content Placeholder 2">
            <a:extLst>
              <a:ext uri="{FF2B5EF4-FFF2-40B4-BE49-F238E27FC236}">
                <a16:creationId xmlns:a16="http://schemas.microsoft.com/office/drawing/2014/main" id="{091D7A99-E07E-43ED-2102-B693FAB0E0B6}"/>
              </a:ext>
            </a:extLst>
          </p:cNvPr>
          <p:cNvSpPr txBox="1">
            <a:spLocks/>
          </p:cNvSpPr>
          <p:nvPr/>
        </p:nvSpPr>
        <p:spPr>
          <a:xfrm>
            <a:off x="2294556" y="2025322"/>
            <a:ext cx="146855" cy="231778"/>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000">
                <a:ea typeface="Cambria Math" panose="02040503050406030204" pitchFamily="18" charset="0"/>
              </a:rPr>
              <a:t>y	</a:t>
            </a:r>
          </a:p>
        </p:txBody>
      </p:sp>
      <p:sp>
        <p:nvSpPr>
          <p:cNvPr id="127" name="Content Placeholder 2">
            <a:extLst>
              <a:ext uri="{FF2B5EF4-FFF2-40B4-BE49-F238E27FC236}">
                <a16:creationId xmlns:a16="http://schemas.microsoft.com/office/drawing/2014/main" id="{B67F0D57-08ED-8B11-FF0B-DA3C34A1C44D}"/>
              </a:ext>
            </a:extLst>
          </p:cNvPr>
          <p:cNvSpPr txBox="1">
            <a:spLocks/>
          </p:cNvSpPr>
          <p:nvPr/>
        </p:nvSpPr>
        <p:spPr>
          <a:xfrm>
            <a:off x="3435602" y="2806860"/>
            <a:ext cx="206367" cy="231589"/>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000">
                <a:ea typeface="Cambria Math" panose="02040503050406030204" pitchFamily="18" charset="0"/>
              </a:rPr>
              <a:t>x	</a:t>
            </a:r>
          </a:p>
        </p:txBody>
      </p:sp>
      <p:sp>
        <p:nvSpPr>
          <p:cNvPr id="128" name="Content Placeholder 2">
            <a:extLst>
              <a:ext uri="{FF2B5EF4-FFF2-40B4-BE49-F238E27FC236}">
                <a16:creationId xmlns:a16="http://schemas.microsoft.com/office/drawing/2014/main" id="{9666A550-39CC-E429-2B25-6C80129B7FAA}"/>
              </a:ext>
            </a:extLst>
          </p:cNvPr>
          <p:cNvSpPr txBox="1">
            <a:spLocks/>
          </p:cNvSpPr>
          <p:nvPr/>
        </p:nvSpPr>
        <p:spPr>
          <a:xfrm>
            <a:off x="2289946" y="3249351"/>
            <a:ext cx="146855" cy="231778"/>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000">
                <a:ea typeface="Cambria Math" panose="02040503050406030204" pitchFamily="18" charset="0"/>
              </a:rPr>
              <a:t>y	</a:t>
            </a:r>
          </a:p>
        </p:txBody>
      </p:sp>
      <p:sp>
        <p:nvSpPr>
          <p:cNvPr id="129" name="Content Placeholder 2">
            <a:extLst>
              <a:ext uri="{FF2B5EF4-FFF2-40B4-BE49-F238E27FC236}">
                <a16:creationId xmlns:a16="http://schemas.microsoft.com/office/drawing/2014/main" id="{C057458D-795A-3CC8-07F6-BC8E10B9391F}"/>
              </a:ext>
            </a:extLst>
          </p:cNvPr>
          <p:cNvSpPr txBox="1">
            <a:spLocks/>
          </p:cNvSpPr>
          <p:nvPr/>
        </p:nvSpPr>
        <p:spPr>
          <a:xfrm>
            <a:off x="3430992" y="4003995"/>
            <a:ext cx="206367" cy="231589"/>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000">
                <a:ea typeface="Cambria Math" panose="02040503050406030204" pitchFamily="18" charset="0"/>
              </a:rPr>
              <a:t>x	</a:t>
            </a:r>
          </a:p>
        </p:txBody>
      </p:sp>
      <p:sp>
        <p:nvSpPr>
          <p:cNvPr id="130" name="Content Placeholder 2">
            <a:extLst>
              <a:ext uri="{FF2B5EF4-FFF2-40B4-BE49-F238E27FC236}">
                <a16:creationId xmlns:a16="http://schemas.microsoft.com/office/drawing/2014/main" id="{D6405013-4A76-41DD-87F5-EF0043C7F0DE}"/>
              </a:ext>
            </a:extLst>
          </p:cNvPr>
          <p:cNvSpPr txBox="1">
            <a:spLocks/>
          </p:cNvSpPr>
          <p:nvPr/>
        </p:nvSpPr>
        <p:spPr>
          <a:xfrm>
            <a:off x="2288353" y="4850130"/>
            <a:ext cx="146855" cy="231778"/>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000">
                <a:ea typeface="Cambria Math" panose="02040503050406030204" pitchFamily="18" charset="0"/>
              </a:rPr>
              <a:t>y	</a:t>
            </a:r>
          </a:p>
        </p:txBody>
      </p:sp>
      <p:sp>
        <p:nvSpPr>
          <p:cNvPr id="131" name="Content Placeholder 2">
            <a:extLst>
              <a:ext uri="{FF2B5EF4-FFF2-40B4-BE49-F238E27FC236}">
                <a16:creationId xmlns:a16="http://schemas.microsoft.com/office/drawing/2014/main" id="{C5FFAAA6-4775-5C70-1D6D-E5812A502BB4}"/>
              </a:ext>
            </a:extLst>
          </p:cNvPr>
          <p:cNvSpPr txBox="1">
            <a:spLocks/>
          </p:cNvSpPr>
          <p:nvPr/>
        </p:nvSpPr>
        <p:spPr>
          <a:xfrm>
            <a:off x="3458154" y="5604774"/>
            <a:ext cx="206367" cy="231589"/>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000">
                <a:ea typeface="Cambria Math" panose="02040503050406030204" pitchFamily="18" charset="0"/>
              </a:rPr>
              <a:t>x	</a:t>
            </a:r>
          </a:p>
        </p:txBody>
      </p:sp>
      <p:sp>
        <p:nvSpPr>
          <p:cNvPr id="133" name="Content Placeholder 2">
            <a:extLst>
              <a:ext uri="{FF2B5EF4-FFF2-40B4-BE49-F238E27FC236}">
                <a16:creationId xmlns:a16="http://schemas.microsoft.com/office/drawing/2014/main" id="{67053CF9-A4A9-CDA7-1B91-29F75556638A}"/>
              </a:ext>
            </a:extLst>
          </p:cNvPr>
          <p:cNvSpPr txBox="1">
            <a:spLocks/>
          </p:cNvSpPr>
          <p:nvPr/>
        </p:nvSpPr>
        <p:spPr>
          <a:xfrm>
            <a:off x="10552379" y="5806387"/>
            <a:ext cx="632563" cy="231589"/>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400">
                <a:solidFill>
                  <a:srgbClr val="FC6B65"/>
                </a:solidFill>
                <a:ea typeface="Cambria Math" panose="02040503050406030204" pitchFamily="18" charset="0"/>
              </a:rPr>
              <a:t>x </a:t>
            </a:r>
            <a:r>
              <a:rPr lang="en-GB" sz="1400" baseline="-25000">
                <a:solidFill>
                  <a:srgbClr val="FC6B65"/>
                </a:solidFill>
                <a:ea typeface="Cambria Math" panose="02040503050406030204" pitchFamily="18" charset="0"/>
              </a:rPr>
              <a:t>query</a:t>
            </a:r>
            <a:r>
              <a:rPr lang="en-GB" sz="1400">
                <a:ea typeface="Cambria Math" panose="02040503050406030204" pitchFamily="18" charset="0"/>
              </a:rPr>
              <a:t>	</a:t>
            </a:r>
          </a:p>
        </p:txBody>
      </p:sp>
      <p:sp>
        <p:nvSpPr>
          <p:cNvPr id="136" name="Content Placeholder 2">
            <a:extLst>
              <a:ext uri="{FF2B5EF4-FFF2-40B4-BE49-F238E27FC236}">
                <a16:creationId xmlns:a16="http://schemas.microsoft.com/office/drawing/2014/main" id="{8D101C8D-8462-7764-0CDC-F777918520CE}"/>
              </a:ext>
            </a:extLst>
          </p:cNvPr>
          <p:cNvSpPr txBox="1">
            <a:spLocks/>
          </p:cNvSpPr>
          <p:nvPr/>
        </p:nvSpPr>
        <p:spPr>
          <a:xfrm>
            <a:off x="5884091" y="1738214"/>
            <a:ext cx="146855" cy="231778"/>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000">
                <a:ea typeface="Cambria Math" panose="02040503050406030204" pitchFamily="18" charset="0"/>
              </a:rPr>
              <a:t>y	</a:t>
            </a:r>
          </a:p>
        </p:txBody>
      </p:sp>
      <p:sp>
        <p:nvSpPr>
          <p:cNvPr id="137" name="Content Placeholder 2">
            <a:extLst>
              <a:ext uri="{FF2B5EF4-FFF2-40B4-BE49-F238E27FC236}">
                <a16:creationId xmlns:a16="http://schemas.microsoft.com/office/drawing/2014/main" id="{1C1810C5-072A-CE07-8C81-E00A505BD4D5}"/>
              </a:ext>
            </a:extLst>
          </p:cNvPr>
          <p:cNvSpPr txBox="1">
            <a:spLocks/>
          </p:cNvSpPr>
          <p:nvPr/>
        </p:nvSpPr>
        <p:spPr>
          <a:xfrm>
            <a:off x="7664123" y="2998195"/>
            <a:ext cx="299937" cy="231778"/>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000">
                <a:ea typeface="Cambria Math" panose="02040503050406030204" pitchFamily="18" charset="0"/>
              </a:rPr>
              <a:t>x	</a:t>
            </a:r>
          </a:p>
        </p:txBody>
      </p:sp>
      <p:sp>
        <p:nvSpPr>
          <p:cNvPr id="138" name="Content Placeholder 2">
            <a:extLst>
              <a:ext uri="{FF2B5EF4-FFF2-40B4-BE49-F238E27FC236}">
                <a16:creationId xmlns:a16="http://schemas.microsoft.com/office/drawing/2014/main" id="{CD5E3154-96A0-07B9-5FDA-219813BAA346}"/>
              </a:ext>
            </a:extLst>
          </p:cNvPr>
          <p:cNvSpPr txBox="1">
            <a:spLocks/>
          </p:cNvSpPr>
          <p:nvPr/>
        </p:nvSpPr>
        <p:spPr>
          <a:xfrm>
            <a:off x="9884337" y="1755144"/>
            <a:ext cx="146855" cy="231778"/>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000">
                <a:ea typeface="Cambria Math" panose="02040503050406030204" pitchFamily="18" charset="0"/>
              </a:rPr>
              <a:t>y	</a:t>
            </a:r>
          </a:p>
        </p:txBody>
      </p:sp>
      <p:sp>
        <p:nvSpPr>
          <p:cNvPr id="139" name="Content Placeholder 2">
            <a:extLst>
              <a:ext uri="{FF2B5EF4-FFF2-40B4-BE49-F238E27FC236}">
                <a16:creationId xmlns:a16="http://schemas.microsoft.com/office/drawing/2014/main" id="{9446F140-15FF-5FAC-E288-2B64F194C258}"/>
              </a:ext>
            </a:extLst>
          </p:cNvPr>
          <p:cNvSpPr txBox="1">
            <a:spLocks/>
          </p:cNvSpPr>
          <p:nvPr/>
        </p:nvSpPr>
        <p:spPr>
          <a:xfrm>
            <a:off x="11713133" y="3018323"/>
            <a:ext cx="299937" cy="231778"/>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000">
                <a:ea typeface="Cambria Math" panose="02040503050406030204" pitchFamily="18" charset="0"/>
              </a:rPr>
              <a:t>x	</a:t>
            </a:r>
          </a:p>
        </p:txBody>
      </p:sp>
      <p:sp>
        <p:nvSpPr>
          <p:cNvPr id="140" name="Content Placeholder 2">
            <a:extLst>
              <a:ext uri="{FF2B5EF4-FFF2-40B4-BE49-F238E27FC236}">
                <a16:creationId xmlns:a16="http://schemas.microsoft.com/office/drawing/2014/main" id="{27E9BCD5-D070-09FB-1915-4EB44842BD37}"/>
              </a:ext>
            </a:extLst>
          </p:cNvPr>
          <p:cNvSpPr txBox="1">
            <a:spLocks/>
          </p:cNvSpPr>
          <p:nvPr/>
        </p:nvSpPr>
        <p:spPr>
          <a:xfrm>
            <a:off x="9590162" y="2867811"/>
            <a:ext cx="588349" cy="308805"/>
          </a:xfrm>
          <a:prstGeom prst="rect">
            <a:avLst/>
          </a:prstGeom>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a:t>…</a:t>
            </a:r>
          </a:p>
          <a:p>
            <a:pPr marL="0" indent="0">
              <a:buNone/>
            </a:pPr>
            <a:endParaRPr lang="en-CH"/>
          </a:p>
        </p:txBody>
      </p:sp>
      <p:pic>
        <p:nvPicPr>
          <p:cNvPr id="2" name="Picture 1">
            <a:extLst>
              <a:ext uri="{FF2B5EF4-FFF2-40B4-BE49-F238E27FC236}">
                <a16:creationId xmlns:a16="http://schemas.microsoft.com/office/drawing/2014/main" id="{EC58DD5D-7012-DF59-5850-B763C51316A4}"/>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6915452" y="1268790"/>
            <a:ext cx="4021648" cy="377235"/>
          </a:xfrm>
          <a:prstGeom prst="rect">
            <a:avLst/>
          </a:prstGeom>
        </p:spPr>
      </p:pic>
      <p:sp>
        <p:nvSpPr>
          <p:cNvPr id="134" name="Content Placeholder 2">
            <a:extLst>
              <a:ext uri="{FF2B5EF4-FFF2-40B4-BE49-F238E27FC236}">
                <a16:creationId xmlns:a16="http://schemas.microsoft.com/office/drawing/2014/main" id="{142B75C0-4D4A-AED1-AE0A-510491A6A2E7}"/>
              </a:ext>
            </a:extLst>
          </p:cNvPr>
          <p:cNvSpPr txBox="1">
            <a:spLocks/>
          </p:cNvSpPr>
          <p:nvPr/>
        </p:nvSpPr>
        <p:spPr>
          <a:xfrm>
            <a:off x="10537832" y="4366260"/>
            <a:ext cx="320883" cy="231589"/>
          </a:xfrm>
          <a:prstGeom prst="rect">
            <a:avLst/>
          </a:prstGeom>
          <a:noFill/>
        </p:spPr>
        <p:txBody>
          <a:bodyPr vert="horz" lIns="0" tIns="0" rIns="0" bIns="0" rtlCol="0">
            <a:noAutofit/>
          </a:bodyPr>
          <a:lstStyle>
            <a:lvl1pPr marL="539750" indent="-53975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1pPr>
            <a:lvl2pPr marL="10795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2pPr>
            <a:lvl3pPr marL="1612900" indent="-53340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3pPr>
            <a:lvl4pPr marL="215265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4pPr>
            <a:lvl5pPr marL="2692400" indent="-539750" algn="l" defTabSz="914400" rtl="0" eaLnBrk="1" latinLnBrk="0" hangingPunct="1">
              <a:lnSpc>
                <a:spcPct val="100000"/>
              </a:lnSpc>
              <a:spcBef>
                <a:spcPts val="500"/>
              </a:spcBef>
              <a:buFont typeface="+mj-lt"/>
              <a:buAutoNum type="arabi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GB" sz="1400">
                <a:solidFill>
                  <a:srgbClr val="FC6B65"/>
                </a:solidFill>
                <a:ea typeface="Cambria Math" panose="02040503050406030204" pitchFamily="18" charset="0"/>
              </a:rPr>
              <a:t>y</a:t>
            </a:r>
            <a:r>
              <a:rPr lang="en-GB" sz="1400">
                <a:ea typeface="Cambria Math" panose="02040503050406030204" pitchFamily="18" charset="0"/>
              </a:rPr>
              <a:t>	</a:t>
            </a:r>
          </a:p>
        </p:txBody>
      </p:sp>
      <p:cxnSp>
        <p:nvCxnSpPr>
          <p:cNvPr id="21" name="Straight Connector 20">
            <a:extLst>
              <a:ext uri="{FF2B5EF4-FFF2-40B4-BE49-F238E27FC236}">
                <a16:creationId xmlns:a16="http://schemas.microsoft.com/office/drawing/2014/main" id="{BD653F40-7E2F-13CB-C1E2-0B8975BA8C7C}"/>
              </a:ext>
            </a:extLst>
          </p:cNvPr>
          <p:cNvCxnSpPr/>
          <p:nvPr/>
        </p:nvCxnSpPr>
        <p:spPr>
          <a:xfrm>
            <a:off x="10343693" y="5793701"/>
            <a:ext cx="1369440" cy="0"/>
          </a:xfrm>
          <a:prstGeom prst="line">
            <a:avLst/>
          </a:prstGeom>
        </p:spPr>
        <p:style>
          <a:lnRef idx="1">
            <a:schemeClr val="dk1"/>
          </a:lnRef>
          <a:fillRef idx="0">
            <a:schemeClr val="dk1"/>
          </a:fillRef>
          <a:effectRef idx="0">
            <a:schemeClr val="dk1"/>
          </a:effectRef>
          <a:fontRef idx="minor">
            <a:schemeClr val="tx1"/>
          </a:fontRef>
        </p:style>
      </p:cxnSp>
      <p:pic>
        <p:nvPicPr>
          <p:cNvPr id="19" name="Picture 18">
            <a:extLst>
              <a:ext uri="{FF2B5EF4-FFF2-40B4-BE49-F238E27FC236}">
                <a16:creationId xmlns:a16="http://schemas.microsoft.com/office/drawing/2014/main" id="{1DEC291A-93F3-3B23-3885-AAAE0E13C2A6}"/>
              </a:ext>
            </a:extLst>
          </p:cNvPr>
          <p:cNvPicPr>
            <a:picLocks/>
          </p:cNvPicPr>
          <p:nvPr/>
        </p:nvPicPr>
        <p:blipFill>
          <a:blip r:embed="rId12" cstate="screen">
            <a:extLst>
              <a:ext uri="{28A0092B-C50C-407E-A947-70E740481C1C}">
                <a14:useLocalDpi xmlns:a14="http://schemas.microsoft.com/office/drawing/2010/main"/>
              </a:ext>
            </a:extLst>
          </a:blip>
          <a:srcRect/>
          <a:stretch/>
        </p:blipFill>
        <p:spPr>
          <a:xfrm rot="5400000">
            <a:off x="10660783" y="4626630"/>
            <a:ext cx="965159" cy="903214"/>
          </a:xfrm>
          <a:prstGeom prst="rect">
            <a:avLst/>
          </a:prstGeom>
        </p:spPr>
      </p:pic>
      <p:pic>
        <p:nvPicPr>
          <p:cNvPr id="73" name="Picture 72">
            <a:extLst>
              <a:ext uri="{FF2B5EF4-FFF2-40B4-BE49-F238E27FC236}">
                <a16:creationId xmlns:a16="http://schemas.microsoft.com/office/drawing/2014/main" id="{AA5A6256-085D-34B6-196A-A7099CDFE87B}"/>
              </a:ext>
            </a:extLst>
          </p:cNvPr>
          <p:cNvPicPr>
            <a:picLocks noChangeAspect="1"/>
          </p:cNvPicPr>
          <p:nvPr/>
        </p:nvPicPr>
        <p:blipFill>
          <a:blip r:embed="rId13"/>
          <a:stretch>
            <a:fillRect/>
          </a:stretch>
        </p:blipFill>
        <p:spPr>
          <a:xfrm>
            <a:off x="10662050" y="5734430"/>
            <a:ext cx="118542" cy="118542"/>
          </a:xfrm>
          <a:prstGeom prst="rect">
            <a:avLst/>
          </a:prstGeom>
        </p:spPr>
      </p:pic>
      <p:cxnSp>
        <p:nvCxnSpPr>
          <p:cNvPr id="22" name="Straight Connector 21">
            <a:extLst>
              <a:ext uri="{FF2B5EF4-FFF2-40B4-BE49-F238E27FC236}">
                <a16:creationId xmlns:a16="http://schemas.microsoft.com/office/drawing/2014/main" id="{6D21754B-F6AF-2697-67D1-A8BC4F6E3092}"/>
              </a:ext>
            </a:extLst>
          </p:cNvPr>
          <p:cNvCxnSpPr>
            <a:cxnSpLocks/>
          </p:cNvCxnSpPr>
          <p:nvPr/>
        </p:nvCxnSpPr>
        <p:spPr>
          <a:xfrm>
            <a:off x="10714006" y="4413934"/>
            <a:ext cx="0" cy="1313181"/>
          </a:xfrm>
          <a:prstGeom prst="line">
            <a:avLst/>
          </a:prstGeom>
        </p:spPr>
        <p:style>
          <a:lnRef idx="1">
            <a:schemeClr val="dk1"/>
          </a:lnRef>
          <a:fillRef idx="0">
            <a:schemeClr val="dk1"/>
          </a:fillRef>
          <a:effectRef idx="0">
            <a:schemeClr val="dk1"/>
          </a:effectRef>
          <a:fontRef idx="minor">
            <a:schemeClr val="tx1"/>
          </a:fontRef>
        </p:style>
      </p:cxnSp>
      <p:grpSp>
        <p:nvGrpSpPr>
          <p:cNvPr id="32" name="Group 31">
            <a:extLst>
              <a:ext uri="{FF2B5EF4-FFF2-40B4-BE49-F238E27FC236}">
                <a16:creationId xmlns:a16="http://schemas.microsoft.com/office/drawing/2014/main" id="{92C6E749-13B9-B1B8-5602-6619AD861994}"/>
              </a:ext>
            </a:extLst>
          </p:cNvPr>
          <p:cNvGrpSpPr/>
          <p:nvPr/>
        </p:nvGrpSpPr>
        <p:grpSpPr>
          <a:xfrm>
            <a:off x="8671547" y="4720668"/>
            <a:ext cx="929413" cy="935322"/>
            <a:chOff x="9706793" y="2391964"/>
            <a:chExt cx="929413" cy="935322"/>
          </a:xfrm>
        </p:grpSpPr>
        <p:sp>
          <p:nvSpPr>
            <p:cNvPr id="33" name="Rounded Rectangle 32">
              <a:extLst>
                <a:ext uri="{FF2B5EF4-FFF2-40B4-BE49-F238E27FC236}">
                  <a16:creationId xmlns:a16="http://schemas.microsoft.com/office/drawing/2014/main" id="{9B316117-4D64-7F4E-8E95-6B4DAFCC7567}"/>
                </a:ext>
              </a:extLst>
            </p:cNvPr>
            <p:cNvSpPr/>
            <p:nvPr/>
          </p:nvSpPr>
          <p:spPr>
            <a:xfrm>
              <a:off x="9706793" y="2391964"/>
              <a:ext cx="903215" cy="717957"/>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grpSp>
          <p:nvGrpSpPr>
            <p:cNvPr id="34" name="Group 33">
              <a:extLst>
                <a:ext uri="{FF2B5EF4-FFF2-40B4-BE49-F238E27FC236}">
                  <a16:creationId xmlns:a16="http://schemas.microsoft.com/office/drawing/2014/main" id="{61A7BC5E-2661-BDF3-19AE-9E10596E20EB}"/>
                </a:ext>
              </a:extLst>
            </p:cNvPr>
            <p:cNvGrpSpPr/>
            <p:nvPr/>
          </p:nvGrpSpPr>
          <p:grpSpPr>
            <a:xfrm>
              <a:off x="9962302" y="2697537"/>
              <a:ext cx="673904" cy="629749"/>
              <a:chOff x="10601140" y="3503536"/>
              <a:chExt cx="697443" cy="651746"/>
            </a:xfrm>
          </p:grpSpPr>
          <mc:AlternateContent xmlns:mc="http://schemas.openxmlformats.org/markup-compatibility/2006" xmlns:a14="http://schemas.microsoft.com/office/drawing/2010/main">
            <mc:Choice Requires="a14">
              <p:sp>
                <p:nvSpPr>
                  <p:cNvPr id="39" name="Title 1">
                    <a:extLst>
                      <a:ext uri="{FF2B5EF4-FFF2-40B4-BE49-F238E27FC236}">
                        <a16:creationId xmlns:a16="http://schemas.microsoft.com/office/drawing/2014/main" id="{9F83B329-37BB-2A14-1052-2CABFB6397BA}"/>
                      </a:ext>
                    </a:extLst>
                  </p:cNvPr>
                  <p:cNvSpPr txBox="1">
                    <a:spLocks/>
                  </p:cNvSpPr>
                  <p:nvPr/>
                </p:nvSpPr>
                <p:spPr>
                  <a:xfrm>
                    <a:off x="10601140" y="3578739"/>
                    <a:ext cx="697443" cy="576543"/>
                  </a:xfrm>
                  <a:prstGeom prst="rect">
                    <a:avLst/>
                  </a:prstGeom>
                </p:spPr>
                <p:txBody>
                  <a:bodyPr vert="horz" lIns="0" tIns="0" rIns="0" bIns="0" rtlCol="0" anchor="t" anchorCtr="0">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r>
                            <a:rPr lang="en-CH" sz="2400" b="1" i="1">
                              <a:latin typeface="Cambria Math" panose="02040503050406030204" pitchFamily="18" charset="0"/>
                              <a:ea typeface="Cambria Math" panose="02040503050406030204" pitchFamily="18" charset="0"/>
                            </a:rPr>
                            <m:t>𝜽</m:t>
                          </m:r>
                        </m:oMath>
                      </m:oMathPara>
                    </a14:m>
                    <a:endParaRPr lang="en-CH" sz="2400" b="1">
                      <a:latin typeface="+mn-lt"/>
                    </a:endParaRPr>
                  </a:p>
                </p:txBody>
              </p:sp>
            </mc:Choice>
            <mc:Fallback xmlns="">
              <p:sp>
                <p:nvSpPr>
                  <p:cNvPr id="39" name="Title 1">
                    <a:extLst>
                      <a:ext uri="{FF2B5EF4-FFF2-40B4-BE49-F238E27FC236}">
                        <a16:creationId xmlns:a16="http://schemas.microsoft.com/office/drawing/2014/main" id="{9F83B329-37BB-2A14-1052-2CABFB6397BA}"/>
                      </a:ext>
                    </a:extLst>
                  </p:cNvPr>
                  <p:cNvSpPr txBox="1">
                    <a:spLocks noRot="1" noChangeAspect="1" noMove="1" noResize="1" noEditPoints="1" noAdjustHandles="1" noChangeArrowheads="1" noChangeShapeType="1" noTextEdit="1"/>
                  </p:cNvSpPr>
                  <p:nvPr/>
                </p:nvSpPr>
                <p:spPr>
                  <a:xfrm>
                    <a:off x="10601140" y="3578739"/>
                    <a:ext cx="697443" cy="576543"/>
                  </a:xfrm>
                  <a:prstGeom prst="rect">
                    <a:avLst/>
                  </a:prstGeom>
                  <a:blipFill>
                    <a:blip r:embed="rId14"/>
                    <a:stretch>
                      <a:fillRect/>
                    </a:stretch>
                  </a:blipFill>
                </p:spPr>
                <p:txBody>
                  <a:bodyPr/>
                  <a:lstStyle/>
                  <a:p>
                    <a:r>
                      <a:rPr lang="en-CH">
                        <a:noFill/>
                      </a:rPr>
                      <a:t> </a:t>
                    </a:r>
                  </a:p>
                </p:txBody>
              </p:sp>
            </mc:Fallback>
          </mc:AlternateContent>
          <p:pic>
            <p:nvPicPr>
              <p:cNvPr id="42" name="Picture 41">
                <a:extLst>
                  <a:ext uri="{FF2B5EF4-FFF2-40B4-BE49-F238E27FC236}">
                    <a16:creationId xmlns:a16="http://schemas.microsoft.com/office/drawing/2014/main" id="{999DB670-ED86-BE5B-E715-9CF55E85E30D}"/>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rot="20935068" flipH="1">
                <a:off x="10720431" y="3503536"/>
                <a:ext cx="386188" cy="180581"/>
              </a:xfrm>
              <a:prstGeom prst="rect">
                <a:avLst/>
              </a:prstGeom>
            </p:spPr>
          </p:pic>
        </p:grpSp>
        <p:sp>
          <p:nvSpPr>
            <p:cNvPr id="38" name="Title 1">
              <a:extLst>
                <a:ext uri="{FF2B5EF4-FFF2-40B4-BE49-F238E27FC236}">
                  <a16:creationId xmlns:a16="http://schemas.microsoft.com/office/drawing/2014/main" id="{F4ADBBBA-668F-A14F-294B-4548A4F52F09}"/>
                </a:ext>
              </a:extLst>
            </p:cNvPr>
            <p:cNvSpPr txBox="1">
              <a:spLocks/>
            </p:cNvSpPr>
            <p:nvPr/>
          </p:nvSpPr>
          <p:spPr>
            <a:xfrm>
              <a:off x="9912565" y="2491231"/>
              <a:ext cx="697443" cy="57654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GB" sz="3600" b="1">
                  <a:latin typeface="+mn-lt"/>
                </a:rPr>
                <a:t>T</a:t>
              </a:r>
              <a:endParaRPr lang="en-CH" sz="3600" b="1" i="1" baseline="-25000">
                <a:latin typeface="+mn-lt"/>
              </a:endParaRPr>
            </a:p>
          </p:txBody>
        </p:sp>
      </p:grpSp>
      <p:cxnSp>
        <p:nvCxnSpPr>
          <p:cNvPr id="45" name="Straight Arrow Connector 44">
            <a:extLst>
              <a:ext uri="{FF2B5EF4-FFF2-40B4-BE49-F238E27FC236}">
                <a16:creationId xmlns:a16="http://schemas.microsoft.com/office/drawing/2014/main" id="{58B64EDA-846D-F64A-0C6B-6DDAF6D5CD26}"/>
              </a:ext>
            </a:extLst>
          </p:cNvPr>
          <p:cNvCxnSpPr>
            <a:cxnSpLocks/>
          </p:cNvCxnSpPr>
          <p:nvPr/>
        </p:nvCxnSpPr>
        <p:spPr>
          <a:xfrm>
            <a:off x="9895569" y="5086874"/>
            <a:ext cx="448124" cy="0"/>
          </a:xfrm>
          <a:prstGeom prst="straightConnector1">
            <a:avLst/>
          </a:prstGeom>
          <a:ln w="2540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F43D814-F264-7AC0-7C93-1E0C0EC31F97}"/>
              </a:ext>
            </a:extLst>
          </p:cNvPr>
          <p:cNvCxnSpPr>
            <a:cxnSpLocks/>
          </p:cNvCxnSpPr>
          <p:nvPr/>
        </p:nvCxnSpPr>
        <p:spPr>
          <a:xfrm>
            <a:off x="7984575" y="5086874"/>
            <a:ext cx="448124" cy="0"/>
          </a:xfrm>
          <a:prstGeom prst="straightConnector1">
            <a:avLst/>
          </a:prstGeom>
          <a:ln w="25400">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59C81FB-D56C-72C1-9C70-471413369795}"/>
                  </a:ext>
                </a:extLst>
              </p:cNvPr>
              <p:cNvSpPr txBox="1"/>
              <p:nvPr/>
            </p:nvSpPr>
            <p:spPr>
              <a:xfrm>
                <a:off x="8238818" y="5510276"/>
                <a:ext cx="176816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de-CH" sz="1800" i="0">
                          <a:ea typeface="Cambria Math" panose="02040503050406030204" pitchFamily="18" charset="0"/>
                        </a:rPr>
                        <m:t>1 </m:t>
                      </m:r>
                      <m:r>
                        <m:rPr>
                          <m:nor/>
                        </m:rPr>
                        <a:rPr lang="de-CH" sz="1800" i="0">
                          <a:ea typeface="Cambria Math" panose="02040503050406030204" pitchFamily="18" charset="0"/>
                        </a:rPr>
                        <m:t>forward</m:t>
                      </m:r>
                      <m:r>
                        <m:rPr>
                          <m:nor/>
                        </m:rPr>
                        <a:rPr lang="de-CH" sz="1800" i="0">
                          <a:ea typeface="Cambria Math" panose="02040503050406030204" pitchFamily="18" charset="0"/>
                        </a:rPr>
                        <m:t> </m:t>
                      </m:r>
                      <m:r>
                        <m:rPr>
                          <m:nor/>
                        </m:rPr>
                        <a:rPr lang="de-CH" sz="1800" i="0">
                          <a:ea typeface="Cambria Math" panose="02040503050406030204" pitchFamily="18" charset="0"/>
                        </a:rPr>
                        <m:t>pass</m:t>
                      </m:r>
                    </m:oMath>
                  </m:oMathPara>
                </a14:m>
                <a:endParaRPr lang="en-CH"/>
              </a:p>
            </p:txBody>
          </p:sp>
        </mc:Choice>
        <mc:Fallback xmlns="">
          <p:sp>
            <p:nvSpPr>
              <p:cNvPr id="50" name="TextBox 49">
                <a:extLst>
                  <a:ext uri="{FF2B5EF4-FFF2-40B4-BE49-F238E27FC236}">
                    <a16:creationId xmlns:a16="http://schemas.microsoft.com/office/drawing/2014/main" id="{E59C81FB-D56C-72C1-9C70-471413369795}"/>
                  </a:ext>
                </a:extLst>
              </p:cNvPr>
              <p:cNvSpPr txBox="1">
                <a:spLocks noRot="1" noChangeAspect="1" noMove="1" noResize="1" noEditPoints="1" noAdjustHandles="1" noChangeArrowheads="1" noChangeShapeType="1" noTextEdit="1"/>
              </p:cNvSpPr>
              <p:nvPr/>
            </p:nvSpPr>
            <p:spPr>
              <a:xfrm>
                <a:off x="8238818" y="5510276"/>
                <a:ext cx="1768163" cy="369332"/>
              </a:xfrm>
              <a:prstGeom prst="rect">
                <a:avLst/>
              </a:prstGeom>
              <a:blipFill>
                <a:blip r:embed="rId16"/>
                <a:stretch>
                  <a:fillRect b="-16129"/>
                </a:stretch>
              </a:blipFill>
            </p:spPr>
            <p:txBody>
              <a:bodyPr/>
              <a:lstStyle/>
              <a:p>
                <a:r>
                  <a:rPr lang="en-CH">
                    <a:noFill/>
                  </a:rPr>
                  <a:t> </a:t>
                </a:r>
              </a:p>
            </p:txBody>
          </p:sp>
        </mc:Fallback>
      </mc:AlternateContent>
      <p:cxnSp>
        <p:nvCxnSpPr>
          <p:cNvPr id="52" name="Straight Connector 51">
            <a:extLst>
              <a:ext uri="{FF2B5EF4-FFF2-40B4-BE49-F238E27FC236}">
                <a16:creationId xmlns:a16="http://schemas.microsoft.com/office/drawing/2014/main" id="{E1E34257-1523-080E-8387-391ED7EDF586}"/>
              </a:ext>
            </a:extLst>
          </p:cNvPr>
          <p:cNvCxnSpPr/>
          <p:nvPr/>
        </p:nvCxnSpPr>
        <p:spPr>
          <a:xfrm>
            <a:off x="6434368" y="2275268"/>
            <a:ext cx="305823"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A4F87B3-F0E0-07F9-0B8D-F8BAEC50327E}"/>
              </a:ext>
            </a:extLst>
          </p:cNvPr>
          <p:cNvCxnSpPr>
            <a:cxnSpLocks/>
          </p:cNvCxnSpPr>
          <p:nvPr/>
        </p:nvCxnSpPr>
        <p:spPr>
          <a:xfrm>
            <a:off x="8790008" y="2680995"/>
            <a:ext cx="87311"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859BE0C-D92D-C3C3-EC3D-4E910501AAE2}"/>
              </a:ext>
            </a:extLst>
          </p:cNvPr>
          <p:cNvCxnSpPr>
            <a:cxnSpLocks/>
          </p:cNvCxnSpPr>
          <p:nvPr/>
        </p:nvCxnSpPr>
        <p:spPr>
          <a:xfrm>
            <a:off x="11594970" y="2523429"/>
            <a:ext cx="75254"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5323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F2502-F1FE-902E-D422-80B9DF848A8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292C48-2A3D-9A69-7089-D9CA0BAAFC30}"/>
              </a:ext>
            </a:extLst>
          </p:cNvPr>
          <p:cNvSpPr>
            <a:spLocks noGrp="1"/>
          </p:cNvSpPr>
          <p:nvPr>
            <p:ph idx="1"/>
          </p:nvPr>
        </p:nvSpPr>
        <p:spPr>
          <a:xfrm>
            <a:off x="731837" y="1454950"/>
            <a:ext cx="10728325" cy="4637924"/>
          </a:xfrm>
        </p:spPr>
        <p:txBody>
          <a:bodyPr/>
          <a:lstStyle/>
          <a:p>
            <a:pPr marL="0" indent="0">
              <a:buNone/>
            </a:pPr>
            <a:br>
              <a:rPr lang="de-CH"/>
            </a:br>
            <a:r>
              <a:rPr lang="de-CH"/>
              <a:t>Gaussian processes are probability distributions over functions, </a:t>
            </a:r>
          </a:p>
          <a:p>
            <a:pPr marL="0" indent="0">
              <a:buNone/>
            </a:pPr>
            <a:r>
              <a:rPr lang="de-CH"/>
              <a:t>such that any </a:t>
            </a:r>
            <a:r>
              <a:rPr lang="en-GB"/>
              <a:t>finite subset of function values is jointly Gaussian.</a:t>
            </a:r>
            <a:endParaRPr lang="de-CH" i="1">
              <a:latin typeface="Cambria Math" panose="02040503050406030204" pitchFamily="18" charset="0"/>
            </a:endParaRPr>
          </a:p>
          <a:p>
            <a:pPr marL="0" indent="0">
              <a:buNone/>
            </a:pPr>
            <a:br>
              <a:rPr lang="de-CH"/>
            </a:br>
            <a:r>
              <a:rPr lang="de-CH"/>
              <a:t>Prior p(t): </a:t>
            </a:r>
            <a:r>
              <a:rPr lang="en-GB"/>
              <a:t>	</a:t>
            </a:r>
          </a:p>
          <a:p>
            <a:pPr marL="0" indent="0">
              <a:buNone/>
            </a:pPr>
            <a:endParaRPr lang="en-GB"/>
          </a:p>
          <a:p>
            <a:pPr marL="0" indent="0">
              <a:buNone/>
            </a:pPr>
            <a:endParaRPr lang="en-GB"/>
          </a:p>
          <a:p>
            <a:pPr marL="0" indent="0">
              <a:buNone/>
            </a:pPr>
            <a:br>
              <a:rPr lang="en-GB"/>
            </a:br>
            <a:endParaRPr lang="en-GB"/>
          </a:p>
          <a:p>
            <a:pPr marL="285750" indent="-285750">
              <a:buFont typeface="Arial" panose="020B0604020202020204" pitchFamily="34" charset="0"/>
              <a:buChar char="•"/>
            </a:pPr>
            <a:r>
              <a:rPr lang="en-GB"/>
              <a:t>The </a:t>
            </a:r>
            <a:r>
              <a:rPr lang="en-GB" b="1">
                <a:solidFill>
                  <a:srgbClr val="FB9D00"/>
                </a:solidFill>
              </a:rPr>
              <a:t>PPD</a:t>
            </a:r>
            <a:r>
              <a:rPr lang="en-GB"/>
              <a:t> is Gaussian and tractable!</a:t>
            </a:r>
          </a:p>
          <a:p>
            <a:pPr marL="285750" indent="-285750">
              <a:buFont typeface="Arial" panose="020B0604020202020204" pitchFamily="34" charset="0"/>
              <a:buChar char="•"/>
            </a:pPr>
            <a:r>
              <a:rPr lang="en-GB"/>
              <a:t>But computationally expensive</a:t>
            </a:r>
          </a:p>
          <a:p>
            <a:pPr marL="0" indent="0">
              <a:buNone/>
            </a:pPr>
            <a:r>
              <a:rPr lang="en-GB" b="0"/>
              <a:t> 	</a:t>
            </a:r>
          </a:p>
          <a:p>
            <a:pPr marL="0" indent="0">
              <a:buNone/>
            </a:pPr>
            <a:r>
              <a:rPr lang="en-GB" b="0"/>
              <a:t>	</a:t>
            </a:r>
            <a:endParaRPr lang="en-GB"/>
          </a:p>
        </p:txBody>
      </p:sp>
      <p:sp>
        <p:nvSpPr>
          <p:cNvPr id="6" name="Slide Number Placeholder 5">
            <a:extLst>
              <a:ext uri="{FF2B5EF4-FFF2-40B4-BE49-F238E27FC236}">
                <a16:creationId xmlns:a16="http://schemas.microsoft.com/office/drawing/2014/main" id="{EF330203-A41E-95D5-FCFB-D0BBE82DF8B6}"/>
              </a:ext>
            </a:extLst>
          </p:cNvPr>
          <p:cNvSpPr>
            <a:spLocks noGrp="1"/>
          </p:cNvSpPr>
          <p:nvPr>
            <p:ph type="sldNum" sz="quarter" idx="12"/>
          </p:nvPr>
        </p:nvSpPr>
        <p:spPr/>
        <p:txBody>
          <a:bodyPr/>
          <a:lstStyle/>
          <a:p>
            <a:fld id="{5ACA52AF-F19D-405C-AD5F-7D94B96A5CC3}" type="slidenum">
              <a:rPr lang="de-CH" noProof="0" smtClean="0"/>
              <a:t>38</a:t>
            </a:fld>
            <a:endParaRPr lang="de-CH" noProof="0"/>
          </a:p>
        </p:txBody>
      </p:sp>
      <p:sp>
        <p:nvSpPr>
          <p:cNvPr id="5" name="Footer Placeholder 4">
            <a:extLst>
              <a:ext uri="{FF2B5EF4-FFF2-40B4-BE49-F238E27FC236}">
                <a16:creationId xmlns:a16="http://schemas.microsoft.com/office/drawing/2014/main" id="{2367E1E5-C4AA-40B5-0EF1-3B0AC88A04BA}"/>
              </a:ext>
            </a:extLst>
          </p:cNvPr>
          <p:cNvSpPr>
            <a:spLocks noGrp="1"/>
          </p:cNvSpPr>
          <p:nvPr>
            <p:ph type="ftr" sz="quarter" idx="11"/>
          </p:nvPr>
        </p:nvSpPr>
        <p:spPr>
          <a:xfrm>
            <a:off x="5723751" y="6522444"/>
            <a:ext cx="744495" cy="216000"/>
          </a:xfrm>
        </p:spPr>
        <p:txBody>
          <a:bodyPr/>
          <a:lstStyle/>
          <a:p>
            <a:pPr algn="ctr"/>
            <a:r>
              <a:rPr lang="de-DE" noProof="0"/>
              <a:t>Method</a:t>
            </a:r>
            <a:endParaRPr lang="de-CH" noProof="0"/>
          </a:p>
        </p:txBody>
      </p:sp>
      <p:sp>
        <p:nvSpPr>
          <p:cNvPr id="25" name="Google Shape;187;p21">
            <a:extLst>
              <a:ext uri="{FF2B5EF4-FFF2-40B4-BE49-F238E27FC236}">
                <a16:creationId xmlns:a16="http://schemas.microsoft.com/office/drawing/2014/main" id="{3F368C73-F17E-4EB5-D1E7-9E502792BB62}"/>
              </a:ext>
            </a:extLst>
          </p:cNvPr>
          <p:cNvSpPr txBox="1"/>
          <p:nvPr/>
        </p:nvSpPr>
        <p:spPr>
          <a:xfrm>
            <a:off x="627922" y="576000"/>
            <a:ext cx="10832239" cy="513000"/>
          </a:xfrm>
          <a:prstGeom prst="rect">
            <a:avLst/>
          </a:prstGeom>
          <a:noFill/>
          <a:ln>
            <a:noFill/>
          </a:ln>
        </p:spPr>
        <p:txBody>
          <a:bodyPr spcFirstLastPara="1" wrap="square" lIns="118900" tIns="118900" rIns="118900" bIns="118900" anchor="b" anchorCtr="0">
            <a:noAutofit/>
          </a:bodyPr>
          <a:lstStyle/>
          <a:p>
            <a:r>
              <a:rPr lang="en-GB" sz="3200"/>
              <a:t>Gaussian Process (GP) Regression</a:t>
            </a:r>
            <a:endParaRPr lang="en-CH" sz="3200"/>
          </a:p>
        </p:txBody>
      </p:sp>
      <p:pic>
        <p:nvPicPr>
          <p:cNvPr id="27" name="Picture 26">
            <a:extLst>
              <a:ext uri="{FF2B5EF4-FFF2-40B4-BE49-F238E27FC236}">
                <a16:creationId xmlns:a16="http://schemas.microsoft.com/office/drawing/2014/main" id="{5AD03BA8-4329-C6BA-C71B-953F58447930}"/>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7758609" y="1199304"/>
            <a:ext cx="3826285" cy="2232000"/>
          </a:xfrm>
          <a:prstGeom prst="rect">
            <a:avLst/>
          </a:prstGeom>
        </p:spPr>
      </p:pic>
      <p:pic>
        <p:nvPicPr>
          <p:cNvPr id="29" name="Picture 28">
            <a:extLst>
              <a:ext uri="{FF2B5EF4-FFF2-40B4-BE49-F238E27FC236}">
                <a16:creationId xmlns:a16="http://schemas.microsoft.com/office/drawing/2014/main" id="{96D903D1-D41C-8581-7904-A045E8F1397F}"/>
              </a:ext>
            </a:extLst>
          </p:cNvPr>
          <p:cNvPicPr>
            <a:picLocks noChangeAspect="1"/>
          </p:cNvPicPr>
          <p:nvPr/>
        </p:nvPicPr>
        <p:blipFill>
          <a:blip r:embed="rId4">
            <a:extLst>
              <a:ext uri="{28A0092B-C50C-407E-A947-70E740481C1C}">
                <a14:useLocalDpi xmlns:a14="http://schemas.microsoft.com/office/drawing/2010/main"/>
              </a:ext>
            </a:extLst>
          </a:blip>
          <a:srcRect/>
          <a:stretch/>
        </p:blipFill>
        <p:spPr>
          <a:xfrm>
            <a:off x="7758609" y="3860874"/>
            <a:ext cx="3826286" cy="2232000"/>
          </a:xfrm>
          <a:prstGeom prst="rect">
            <a:avLst/>
          </a:prstGeom>
        </p:spPr>
      </p:pic>
      <p:pic>
        <p:nvPicPr>
          <p:cNvPr id="2" name="Picture 1">
            <a:extLst>
              <a:ext uri="{FF2B5EF4-FFF2-40B4-BE49-F238E27FC236}">
                <a16:creationId xmlns:a16="http://schemas.microsoft.com/office/drawing/2014/main" id="{7AEA6C69-770F-E9D5-A243-3DB065C3D80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203311" y="2723298"/>
            <a:ext cx="3520440" cy="390782"/>
          </a:xfrm>
          <a:prstGeom prst="rect">
            <a:avLst/>
          </a:prstGeom>
        </p:spPr>
      </p:pic>
    </p:spTree>
    <p:extLst>
      <p:ext uri="{BB962C8B-B14F-4D97-AF65-F5344CB8AC3E}">
        <p14:creationId xmlns:p14="http://schemas.microsoft.com/office/powerpoint/2010/main" val="34116259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E2E26-F9F0-4B02-F3E1-979643BDA074}"/>
              </a:ext>
            </a:extLst>
          </p:cNvPr>
          <p:cNvSpPr>
            <a:spLocks noGrp="1"/>
          </p:cNvSpPr>
          <p:nvPr>
            <p:ph type="title"/>
          </p:nvPr>
        </p:nvSpPr>
        <p:spPr>
          <a:xfrm>
            <a:off x="731837" y="584200"/>
            <a:ext cx="10728325" cy="900000"/>
          </a:xfrm>
        </p:spPr>
        <p:txBody>
          <a:bodyPr/>
          <a:lstStyle/>
          <a:p>
            <a:r>
              <a:rPr lang="en-CH"/>
              <a:t>Riemann Distribution </a:t>
            </a:r>
            <a:r>
              <a:rPr lang="en-GB"/>
              <a:t>has high impact on performance</a:t>
            </a:r>
            <a:r>
              <a:rPr lang="en-CH"/>
              <a:t>, </a:t>
            </a:r>
            <a:br>
              <a:rPr lang="en-CH"/>
            </a:br>
            <a:r>
              <a:rPr lang="en-CH"/>
              <a:t>while the removal of positional encodings is not as impactful  </a:t>
            </a:r>
          </a:p>
        </p:txBody>
      </p:sp>
      <p:sp>
        <p:nvSpPr>
          <p:cNvPr id="6" name="Slide Number Placeholder 5">
            <a:extLst>
              <a:ext uri="{FF2B5EF4-FFF2-40B4-BE49-F238E27FC236}">
                <a16:creationId xmlns:a16="http://schemas.microsoft.com/office/drawing/2014/main" id="{7A2279A6-0DD8-7EFE-C57E-EBD12375D6B3}"/>
              </a:ext>
            </a:extLst>
          </p:cNvPr>
          <p:cNvSpPr>
            <a:spLocks noGrp="1"/>
          </p:cNvSpPr>
          <p:nvPr>
            <p:ph type="sldNum" sz="quarter" idx="12"/>
          </p:nvPr>
        </p:nvSpPr>
        <p:spPr/>
        <p:txBody>
          <a:bodyPr/>
          <a:lstStyle/>
          <a:p>
            <a:fld id="{5ACA52AF-F19D-405C-AD5F-7D94B96A5CC3}" type="slidenum">
              <a:rPr lang="de-CH" noProof="0" smtClean="0"/>
              <a:t>39</a:t>
            </a:fld>
            <a:endParaRPr lang="de-CH" noProof="0"/>
          </a:p>
        </p:txBody>
      </p:sp>
      <p:pic>
        <p:nvPicPr>
          <p:cNvPr id="7" name="Picture 6">
            <a:extLst>
              <a:ext uri="{FF2B5EF4-FFF2-40B4-BE49-F238E27FC236}">
                <a16:creationId xmlns:a16="http://schemas.microsoft.com/office/drawing/2014/main" id="{A70F734B-68F1-B833-FAB8-008709E8A79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042160" y="1776090"/>
            <a:ext cx="7772400" cy="4130615"/>
          </a:xfrm>
          <a:prstGeom prst="rect">
            <a:avLst/>
          </a:prstGeom>
        </p:spPr>
      </p:pic>
      <p:sp>
        <p:nvSpPr>
          <p:cNvPr id="3" name="Footer Placeholder 4">
            <a:extLst>
              <a:ext uri="{FF2B5EF4-FFF2-40B4-BE49-F238E27FC236}">
                <a16:creationId xmlns:a16="http://schemas.microsoft.com/office/drawing/2014/main" id="{4E40F34B-C239-F686-85B9-6FFA8DF305B3}"/>
              </a:ext>
            </a:extLst>
          </p:cNvPr>
          <p:cNvSpPr txBox="1">
            <a:spLocks/>
          </p:cNvSpPr>
          <p:nvPr/>
        </p:nvSpPr>
        <p:spPr>
          <a:xfrm>
            <a:off x="6997700" y="6054422"/>
            <a:ext cx="2816860" cy="219378"/>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Müller et al. (2022): Transformers can do Bayesian Inference</a:t>
            </a:r>
          </a:p>
        </p:txBody>
      </p:sp>
    </p:spTree>
    <p:extLst>
      <p:ext uri="{BB962C8B-B14F-4D97-AF65-F5344CB8AC3E}">
        <p14:creationId xmlns:p14="http://schemas.microsoft.com/office/powerpoint/2010/main" val="18905009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115D4DA-191B-66BE-AC33-E39B3E44D8C3}"/>
                  </a:ext>
                </a:extLst>
              </p:cNvPr>
              <p:cNvSpPr>
                <a:spLocks noGrp="1"/>
              </p:cNvSpPr>
              <p:nvPr>
                <p:ph type="title"/>
              </p:nvPr>
            </p:nvSpPr>
            <p:spPr>
              <a:xfrm>
                <a:off x="731837" y="739978"/>
                <a:ext cx="10728325" cy="900000"/>
              </a:xfrm>
            </p:spPr>
            <p:txBody>
              <a:bodyPr/>
              <a:lstStyle/>
              <a:p>
                <a:r>
                  <a:rPr lang="en-CH"/>
                  <a:t>Proof that </a:t>
                </a:r>
                <a:br>
                  <a:rPr lang="en-CH"/>
                </a:br>
                <a:r>
                  <a:rPr lang="en-CH"/>
                  <a:t>minimizing Prior-Data NLL  </a:t>
                </a:r>
                <a14:m>
                  <m:oMath xmlns:m="http://schemas.openxmlformats.org/officeDocument/2006/math">
                    <m:acc>
                      <m:accPr>
                        <m:chr m:val="̂"/>
                        <m:ctrlPr>
                          <a:rPr lang="en-CH" i="1">
                            <a:latin typeface="Cambria Math" panose="02040503050406030204" pitchFamily="18" charset="0"/>
                          </a:rPr>
                        </m:ctrlPr>
                      </m:accPr>
                      <m:e>
                        <m:r>
                          <a:rPr lang="de-CH" i="1">
                            <a:latin typeface="Cambria Math" panose="02040503050406030204" pitchFamily="18" charset="0"/>
                          </a:rPr>
                          <m:t>=</m:t>
                        </m:r>
                      </m:e>
                    </m:acc>
                  </m:oMath>
                </a14:m>
                <a:r>
                  <a:rPr lang="en-CH"/>
                  <a:t>  minimizing cross-entropy (p,q) </a:t>
                </a:r>
                <a:br>
                  <a:rPr lang="en-CH"/>
                </a:br>
                <a:endParaRPr lang="en-CH"/>
              </a:p>
            </p:txBody>
          </p:sp>
        </mc:Choice>
        <mc:Fallback xmlns="">
          <p:sp>
            <p:nvSpPr>
              <p:cNvPr id="2" name="Title 1">
                <a:extLst>
                  <a:ext uri="{FF2B5EF4-FFF2-40B4-BE49-F238E27FC236}">
                    <a16:creationId xmlns:a16="http://schemas.microsoft.com/office/drawing/2014/main" id="{1115D4DA-191B-66BE-AC33-E39B3E44D8C3}"/>
                  </a:ext>
                </a:extLst>
              </p:cNvPr>
              <p:cNvSpPr>
                <a:spLocks noGrp="1" noRot="1" noChangeAspect="1" noMove="1" noResize="1" noEditPoints="1" noAdjustHandles="1" noChangeArrowheads="1" noChangeShapeType="1" noTextEdit="1"/>
              </p:cNvSpPr>
              <p:nvPr>
                <p:ph type="title"/>
              </p:nvPr>
            </p:nvSpPr>
            <p:spPr>
              <a:xfrm>
                <a:off x="731837" y="739978"/>
                <a:ext cx="10728325" cy="900000"/>
              </a:xfrm>
              <a:blipFill>
                <a:blip r:embed="rId3"/>
                <a:stretch>
                  <a:fillRect l="-1891" t="-15278" b="-1389"/>
                </a:stretch>
              </a:blipFill>
            </p:spPr>
            <p:txBody>
              <a:bodyPr/>
              <a:lstStyle/>
              <a:p>
                <a:r>
                  <a:rPr lang="en-CH">
                    <a:noFill/>
                  </a:rPr>
                  <a:t> </a:t>
                </a:r>
              </a:p>
            </p:txBody>
          </p:sp>
        </mc:Fallback>
      </mc:AlternateContent>
      <p:sp>
        <p:nvSpPr>
          <p:cNvPr id="6" name="Slide Number Placeholder 5">
            <a:extLst>
              <a:ext uri="{FF2B5EF4-FFF2-40B4-BE49-F238E27FC236}">
                <a16:creationId xmlns:a16="http://schemas.microsoft.com/office/drawing/2014/main" id="{0F3EAFB0-F9FB-46CA-26A2-C873AB472316}"/>
              </a:ext>
            </a:extLst>
          </p:cNvPr>
          <p:cNvSpPr>
            <a:spLocks noGrp="1"/>
          </p:cNvSpPr>
          <p:nvPr>
            <p:ph type="sldNum" sz="quarter" idx="12"/>
          </p:nvPr>
        </p:nvSpPr>
        <p:spPr/>
        <p:txBody>
          <a:bodyPr/>
          <a:lstStyle/>
          <a:p>
            <a:fld id="{5ACA52AF-F19D-405C-AD5F-7D94B96A5CC3}" type="slidenum">
              <a:rPr lang="de-CH" noProof="0" smtClean="0"/>
              <a:t>40</a:t>
            </a:fld>
            <a:endParaRPr lang="de-CH" noProof="0"/>
          </a:p>
        </p:txBody>
      </p:sp>
      <p:pic>
        <p:nvPicPr>
          <p:cNvPr id="8" name="Picture 7">
            <a:extLst>
              <a:ext uri="{FF2B5EF4-FFF2-40B4-BE49-F238E27FC236}">
                <a16:creationId xmlns:a16="http://schemas.microsoft.com/office/drawing/2014/main" id="{74DA35CC-4D31-C61D-CED1-1CF38B01DDA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38360" y="2118298"/>
            <a:ext cx="10199225" cy="2135650"/>
          </a:xfrm>
          <a:prstGeom prst="rect">
            <a:avLst/>
          </a:prstGeom>
        </p:spPr>
      </p:pic>
      <p:sp>
        <p:nvSpPr>
          <p:cNvPr id="9" name="Footer Placeholder 4">
            <a:extLst>
              <a:ext uri="{FF2B5EF4-FFF2-40B4-BE49-F238E27FC236}">
                <a16:creationId xmlns:a16="http://schemas.microsoft.com/office/drawing/2014/main" id="{B2BEF38D-5433-1272-B14B-73A9A564E0F8}"/>
              </a:ext>
            </a:extLst>
          </p:cNvPr>
          <p:cNvSpPr txBox="1">
            <a:spLocks/>
          </p:cNvSpPr>
          <p:nvPr/>
        </p:nvSpPr>
        <p:spPr>
          <a:xfrm>
            <a:off x="8293099" y="5902022"/>
            <a:ext cx="2844485" cy="216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Müller et al. (2022): Transformers can do Bayesian Inference</a:t>
            </a:r>
          </a:p>
        </p:txBody>
      </p:sp>
    </p:spTree>
    <p:extLst>
      <p:ext uri="{BB962C8B-B14F-4D97-AF65-F5344CB8AC3E}">
        <p14:creationId xmlns:p14="http://schemas.microsoft.com/office/powerpoint/2010/main" val="33444220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59E46-4834-9B58-9DD4-2B2C9B9BBD4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B4DB1B1-DC9A-BCFF-F1B5-9DE68A225F7F}"/>
                  </a:ext>
                </a:extLst>
              </p:cNvPr>
              <p:cNvSpPr>
                <a:spLocks noGrp="1"/>
              </p:cNvSpPr>
              <p:nvPr>
                <p:ph type="title"/>
              </p:nvPr>
            </p:nvSpPr>
            <p:spPr>
              <a:xfrm>
                <a:off x="731837" y="710351"/>
                <a:ext cx="10728325" cy="900000"/>
              </a:xfrm>
            </p:spPr>
            <p:txBody>
              <a:bodyPr/>
              <a:lstStyle/>
              <a:p>
                <a:r>
                  <a:rPr lang="en-CH"/>
                  <a:t>Proof that </a:t>
                </a:r>
                <a:br>
                  <a:rPr lang="en-CH"/>
                </a:br>
                <a:r>
                  <a:rPr lang="en-CH"/>
                  <a:t>minimizing Prior-Data NLL  </a:t>
                </a:r>
                <a14:m>
                  <m:oMath xmlns:m="http://schemas.openxmlformats.org/officeDocument/2006/math">
                    <m:acc>
                      <m:accPr>
                        <m:chr m:val="̂"/>
                        <m:ctrlPr>
                          <a:rPr lang="en-CH" i="1">
                            <a:latin typeface="Cambria Math" panose="02040503050406030204" pitchFamily="18" charset="0"/>
                          </a:rPr>
                        </m:ctrlPr>
                      </m:accPr>
                      <m:e>
                        <m:r>
                          <a:rPr lang="de-CH" b="0" i="1">
                            <a:latin typeface="Cambria Math" panose="02040503050406030204" pitchFamily="18" charset="0"/>
                          </a:rPr>
                          <m:t>=</m:t>
                        </m:r>
                      </m:e>
                    </m:acc>
                  </m:oMath>
                </a14:m>
                <a:r>
                  <a:rPr lang="en-CH"/>
                  <a:t>  minimizing D</a:t>
                </a:r>
                <a:r>
                  <a:rPr lang="en-CH" baseline="-25000"/>
                  <a:t>KL</a:t>
                </a:r>
                <a:r>
                  <a:rPr lang="en-CH"/>
                  <a:t> (p || q) </a:t>
                </a:r>
                <a:br>
                  <a:rPr lang="en-CH"/>
                </a:br>
                <a:endParaRPr lang="en-CH"/>
              </a:p>
            </p:txBody>
          </p:sp>
        </mc:Choice>
        <mc:Fallback xmlns="">
          <p:sp>
            <p:nvSpPr>
              <p:cNvPr id="2" name="Title 1">
                <a:extLst>
                  <a:ext uri="{FF2B5EF4-FFF2-40B4-BE49-F238E27FC236}">
                    <a16:creationId xmlns:a16="http://schemas.microsoft.com/office/drawing/2014/main" id="{7B4DB1B1-DC9A-BCFF-F1B5-9DE68A225F7F}"/>
                  </a:ext>
                </a:extLst>
              </p:cNvPr>
              <p:cNvSpPr>
                <a:spLocks noGrp="1" noRot="1" noChangeAspect="1" noMove="1" noResize="1" noEditPoints="1" noAdjustHandles="1" noChangeArrowheads="1" noChangeShapeType="1" noTextEdit="1"/>
              </p:cNvSpPr>
              <p:nvPr>
                <p:ph type="title"/>
              </p:nvPr>
            </p:nvSpPr>
            <p:spPr>
              <a:xfrm>
                <a:off x="731837" y="710351"/>
                <a:ext cx="10728325" cy="900000"/>
              </a:xfrm>
              <a:blipFill>
                <a:blip r:embed="rId2"/>
                <a:stretch>
                  <a:fillRect l="-1891" t="-15493" b="-1408"/>
                </a:stretch>
              </a:blipFill>
            </p:spPr>
            <p:txBody>
              <a:bodyPr/>
              <a:lstStyle/>
              <a:p>
                <a:r>
                  <a:rPr lang="en-CH">
                    <a:noFill/>
                  </a:rPr>
                  <a:t> </a:t>
                </a:r>
              </a:p>
            </p:txBody>
          </p:sp>
        </mc:Fallback>
      </mc:AlternateContent>
      <p:sp>
        <p:nvSpPr>
          <p:cNvPr id="6" name="Slide Number Placeholder 5">
            <a:extLst>
              <a:ext uri="{FF2B5EF4-FFF2-40B4-BE49-F238E27FC236}">
                <a16:creationId xmlns:a16="http://schemas.microsoft.com/office/drawing/2014/main" id="{42559338-0496-4D37-D7FE-88FDB60FCA99}"/>
              </a:ext>
            </a:extLst>
          </p:cNvPr>
          <p:cNvSpPr>
            <a:spLocks noGrp="1"/>
          </p:cNvSpPr>
          <p:nvPr>
            <p:ph type="sldNum" sz="quarter" idx="12"/>
          </p:nvPr>
        </p:nvSpPr>
        <p:spPr/>
        <p:txBody>
          <a:bodyPr/>
          <a:lstStyle/>
          <a:p>
            <a:fld id="{5ACA52AF-F19D-405C-AD5F-7D94B96A5CC3}" type="slidenum">
              <a:rPr lang="de-CH" noProof="0" smtClean="0"/>
              <a:t>41</a:t>
            </a:fld>
            <a:endParaRPr lang="de-CH" noProof="0"/>
          </a:p>
        </p:txBody>
      </p:sp>
      <p:pic>
        <p:nvPicPr>
          <p:cNvPr id="3" name="Picture 2">
            <a:extLst>
              <a:ext uri="{FF2B5EF4-FFF2-40B4-BE49-F238E27FC236}">
                <a16:creationId xmlns:a16="http://schemas.microsoft.com/office/drawing/2014/main" id="{6ABB3DB1-3B1A-DA6C-9BF7-3CA1FED6DC2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1862" y="2160686"/>
            <a:ext cx="10868276" cy="3361423"/>
          </a:xfrm>
          <a:prstGeom prst="rect">
            <a:avLst/>
          </a:prstGeom>
        </p:spPr>
      </p:pic>
      <p:sp>
        <p:nvSpPr>
          <p:cNvPr id="8" name="Footer Placeholder 4">
            <a:extLst>
              <a:ext uri="{FF2B5EF4-FFF2-40B4-BE49-F238E27FC236}">
                <a16:creationId xmlns:a16="http://schemas.microsoft.com/office/drawing/2014/main" id="{4CEA227D-3374-E125-067B-547F0B526A4F}"/>
              </a:ext>
            </a:extLst>
          </p:cNvPr>
          <p:cNvSpPr txBox="1">
            <a:spLocks/>
          </p:cNvSpPr>
          <p:nvPr/>
        </p:nvSpPr>
        <p:spPr>
          <a:xfrm>
            <a:off x="8293099" y="5902022"/>
            <a:ext cx="2844485" cy="216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Müller et al. (2022): Transformers can do Bayesian Inference</a:t>
            </a:r>
          </a:p>
        </p:txBody>
      </p:sp>
    </p:spTree>
    <p:extLst>
      <p:ext uri="{BB962C8B-B14F-4D97-AF65-F5344CB8AC3E}">
        <p14:creationId xmlns:p14="http://schemas.microsoft.com/office/powerpoint/2010/main" val="3866329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4261725"/>
      </p:ext>
    </p:extLst>
  </p:cSld>
  <p:clrMapOvr>
    <a:masterClrMapping/>
  </p:clrMapOvr>
</p:sld>
</file>

<file path=ppt/theme/theme1.xml><?xml version="1.0" encoding="utf-8"?>
<a:theme xmlns:a="http://schemas.openxmlformats.org/drawingml/2006/main" name="ETH Zürich">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Präsentation3" id="{9C84984C-18ED-5E49-A574-15FF8A3954B8}" vid="{0B390235-9264-874C-ABEB-5D2188FC234E}"/>
    </a:ext>
  </a:extLst>
</a:theme>
</file>

<file path=ppt/theme/theme2.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ETH Zürich</Template>
  <TotalTime>40543</TotalTime>
  <Words>3751</Words>
  <Application>Microsoft Macintosh PowerPoint</Application>
  <PresentationFormat>Widescreen</PresentationFormat>
  <Paragraphs>596</Paragraphs>
  <Slides>42</Slides>
  <Notes>33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Bodoni 72 Book</vt:lpstr>
      <vt:lpstr>Cambria Math</vt:lpstr>
      <vt:lpstr>Ezra SIL SR</vt:lpstr>
      <vt:lpstr>Symbol</vt:lpstr>
      <vt:lpstr>Wingdings</vt:lpstr>
      <vt:lpstr>ETH Zürich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Riemann Distribution has high impact on performance,  while the removal of positional encodings is not as impactful  </vt:lpstr>
      <vt:lpstr>Proof that  minimizing Prior-Data NLL  = ̂  minimizing cross-entropy (p,q)  </vt:lpstr>
      <vt:lpstr>Proof that  minimizing Prior-Data NLL  = ̂  minimizing DKL (p || q)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Haldemann  Sophie</dc:creator>
  <cp:lastModifiedBy>Haldemann  Sophie</cp:lastModifiedBy>
  <cp:revision>594</cp:revision>
  <cp:lastPrinted>2025-11-26T11:18:26Z</cp:lastPrinted>
  <dcterms:created xsi:type="dcterms:W3CDTF">2025-11-12T19:31:11Z</dcterms:created>
  <dcterms:modified xsi:type="dcterms:W3CDTF">2026-04-25T09:12:20Z</dcterms:modified>
</cp:coreProperties>
</file>